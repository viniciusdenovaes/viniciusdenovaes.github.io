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126505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4981" y="3177196"/>
            <a:ext cx="9144000" cy="1496400"/>
          </a:xfrm>
        </p:spPr>
        <p:txBody>
          <a:bodyPr>
            <a:noAutofit/>
          </a:bodyPr>
          <a:lstStyle/>
          <a:p>
            <a:r>
              <a:rPr lang="pt-BR" sz="4800" dirty="0"/>
              <a:t>Linguagem de Programação de Banco de Dados</a:t>
            </a:r>
            <a:br>
              <a:rPr lang="pt-BR" sz="4800" dirty="0"/>
            </a:br>
            <a:r>
              <a:rPr lang="pt-BR" sz="24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74981" y="4923127"/>
            <a:ext cx="9144000" cy="1655762"/>
          </a:xfrm>
        </p:spPr>
        <p:txBody>
          <a:bodyPr/>
          <a:lstStyle/>
          <a:p>
            <a:r>
              <a:rPr lang="pt-BR" dirty="0"/>
              <a:t>Aula 4 – </a:t>
            </a:r>
            <a:r>
              <a:rPr lang="pt-BR" dirty="0" err="1"/>
              <a:t>Stored</a:t>
            </a:r>
            <a:r>
              <a:rPr lang="pt-BR" dirty="0"/>
              <a:t> Procedures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25" y="0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2409825"/>
            <a:ext cx="6180181" cy="1022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Stored Procedures com T-SQL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986907" y="3702248"/>
            <a:ext cx="6789766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Programando e reutilizando lógica dentro do banco de dados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313656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 onde viemos?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2184797"/>
            <a:ext cx="1075206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Na aula anterior, começamos a programar usando T-SQL: variáveis, condicionais e estruturas de repetição. Agora vamos dar o próximo passo — transformar essa lógica em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programas armazenados dentro do banco de dados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2927152"/>
            <a:ext cx="3583989" cy="7198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9693" y="3826867"/>
            <a:ext cx="322423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SQL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99693" y="4190405"/>
            <a:ext cx="3224231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Consultas e comandos isolados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803" y="2927152"/>
            <a:ext cx="3583989" cy="7198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3682" y="3826867"/>
            <a:ext cx="322423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T-SQL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483682" y="4190405"/>
            <a:ext cx="3224231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Variáveis, IF, WHILE, CASE...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7793" y="2927152"/>
            <a:ext cx="3584088" cy="7198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7672" y="3826867"/>
            <a:ext cx="3224330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Stored Procedures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67672" y="4190405"/>
            <a:ext cx="3224330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Rotinas reutilizáveis dentro do banco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19814" y="4842669"/>
            <a:ext cx="10752067" cy="701675"/>
          </a:xfrm>
          <a:prstGeom prst="roundRect">
            <a:avLst>
              <a:gd name="adj" fmla="val 3847"/>
            </a:avLst>
          </a:prstGeom>
          <a:solidFill>
            <a:srgbClr val="E4E4E7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93" y="5087838"/>
            <a:ext cx="224923" cy="1798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04495" y="5067498"/>
            <a:ext cx="10597091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Vamos deixar de executar apenas scripts e começar a criar rotinas reutilizáveis.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058366"/>
            <a:ext cx="6180181" cy="1022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é uma Stored Procedure?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91700" y="2350790"/>
            <a:ext cx="618018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Stored Procedure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é um conjunto de comandos T-SQL armazenado dentro do banco de dados, que pode ser executado sempre que necessário. Funciona como um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programa armazenado no banco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91700" y="3363119"/>
            <a:ext cx="1940075" cy="1263253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5471579" y="3543002"/>
            <a:ext cx="1580317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Armazenada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71579" y="3906540"/>
            <a:ext cx="158031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Fica salva no banco de dados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11654" y="3363119"/>
            <a:ext cx="1940174" cy="1263253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7591533" y="3543002"/>
            <a:ext cx="1580416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Reutilizável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91533" y="3906540"/>
            <a:ext cx="158041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Executada quantas vezes for necessário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531707" y="3363119"/>
            <a:ext cx="1940174" cy="1263253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9711586" y="3543002"/>
            <a:ext cx="1580416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Parametrizável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711586" y="3906540"/>
            <a:ext cx="158041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Recebe informações externas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91700" y="4806255"/>
            <a:ext cx="6180181" cy="993279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5471579" y="4986139"/>
            <a:ext cx="5820423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Programável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71579" y="5349677"/>
            <a:ext cx="5820423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Contém lógica, variáveis e condicionais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44339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Por que usar Stored Procedures?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0017" y="1705372"/>
            <a:ext cx="505606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❌</a:t>
            </a:r>
            <a:r>
              <a:rPr lang="en-US" sz="160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Sem Procedure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0017" y="2140843"/>
            <a:ext cx="5056061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Escrever o mesmo SELECT toda vez que precisar dos dados. Código espalhado, difícil de manter.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5912" y="3063081"/>
            <a:ext cx="4624272" cy="1151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Repetido em todo sistema: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nome, cidade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Clientes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cidade = 'Campinas';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1763" y="1705372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✅</a:t>
            </a:r>
            <a:r>
              <a:rPr lang="en-US" sz="160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Com Procedure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1763" y="2140843"/>
            <a:ext cx="515646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Cria-se uma vez. Reutiliza em qualquer momento, de qualquer aplicação.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1763" y="2883198"/>
            <a:ext cx="5156468" cy="1223566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658" y="3063081"/>
            <a:ext cx="4724679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Criado uma vez, chamado sempre: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buscar_clientes_cidade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@cidade = 'Campinas';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9814" y="4799509"/>
            <a:ext cx="2553033" cy="1314053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5092" y="5004792"/>
            <a:ext cx="2142476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Reutilização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5092" y="5368330"/>
            <a:ext cx="214247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Evita repetir o mesmo código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52726" y="4799509"/>
            <a:ext cx="2553132" cy="1314053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8005" y="5004792"/>
            <a:ext cx="2142575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Centralização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8005" y="5368330"/>
            <a:ext cx="2142575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Lógica em um único lugar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5737" y="4799509"/>
            <a:ext cx="2553132" cy="1314053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016" y="5004792"/>
            <a:ext cx="2142575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Parametrização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91016" y="5368330"/>
            <a:ext cx="2142575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Adapta-se aos dados recebidos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18749" y="4799509"/>
            <a:ext cx="2553132" cy="1314053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4027" y="5004792"/>
            <a:ext cx="2142575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Automação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24027" y="5368330"/>
            <a:ext cx="2142575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Tarefas executadas sob demanda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099245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Estrutura Básica de uma Stored Procedure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970385"/>
            <a:ext cx="1136165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sintaxe mínima para criar uma procedure no SQL Server é: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814" y="2442766"/>
            <a:ext cx="10752067" cy="1799431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35709" y="2622649"/>
            <a:ext cx="10320278" cy="143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nome_procedure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 comandos T-SQL aqui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4444603"/>
            <a:ext cx="3464037" cy="13140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6690" y="4649887"/>
            <a:ext cx="2951882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DCFF5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CREATE PROCEDURE</a:t>
            </a: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nome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6690" y="5013424"/>
            <a:ext cx="295188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Define o nome da procedure que será armazenada no banco.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730" y="4444603"/>
            <a:ext cx="3464136" cy="13140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70606" y="4649887"/>
            <a:ext cx="2951982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DCFF5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70606" y="5013424"/>
            <a:ext cx="295198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Separa o cabeçalho (nome e parâmetros) do corpo da procedure.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7745" y="4444603"/>
            <a:ext cx="3464136" cy="13140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14621" y="4649887"/>
            <a:ext cx="2951982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DCFF5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BEGIN ... END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314621" y="5013424"/>
            <a:ext cx="295198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Delimita o bloco de comandos T-SQL que formam a procedure.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980678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Nossa Primeira Procedure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851819"/>
            <a:ext cx="1136165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Vamos criar uma procedure simples que lista todos os clientes cadastrados no sistema de vendas.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814" y="2324199"/>
            <a:ext cx="10752067" cy="2087364"/>
          </a:xfrm>
          <a:prstGeom prst="roundRect">
            <a:avLst>
              <a:gd name="adj" fmla="val 129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35709" y="2504083"/>
            <a:ext cx="10320278" cy="172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listar_clientes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id, nome, cidade, limite_credito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Clientes;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9814" y="4613970"/>
            <a:ext cx="5286044" cy="1263253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899693" y="4793853"/>
            <a:ext cx="4926286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📌</a:t>
            </a: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Importante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9693" y="5157391"/>
            <a:ext cx="492628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Ao executar esse bloco, a procedure é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armazenada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no banco de dados — mas ainda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não é executada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5737" y="4613970"/>
            <a:ext cx="5286144" cy="1263253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365617" y="4793853"/>
            <a:ext cx="4926385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🔍</a:t>
            </a:r>
            <a:r>
              <a:rPr lang="en-US" sz="160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Onde fica?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65617" y="5157391"/>
            <a:ext cx="4926385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No SSMS: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Databases → SuaBase → Programmability → Stored Procedures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495498"/>
            <a:ext cx="10752067" cy="431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Executando uma Stored Procedure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9814" y="1183084"/>
            <a:ext cx="11361652" cy="210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Para executar uma procedure, usamos o comando </a:t>
            </a:r>
            <a:r>
              <a:rPr lang="en-US" sz="11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EXEC</a:t>
            </a: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(ou </a:t>
            </a:r>
            <a:r>
              <a:rPr lang="en-US" sz="11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EXECUTE</a:t>
            </a: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) seguido do nome da procedure.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9814" y="1537196"/>
            <a:ext cx="10752067" cy="546596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01975" y="1689001"/>
            <a:ext cx="10997330" cy="2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listar_clientes;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175" y="2227858"/>
            <a:ext cx="8691345" cy="31463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88229" y="4618564"/>
            <a:ext cx="1979173" cy="247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88229" y="3670231"/>
            <a:ext cx="1979173" cy="247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ARMAZENAR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388229" y="2712220"/>
            <a:ext cx="2173311" cy="247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CREATE PROCEDURE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19814" y="5518249"/>
            <a:ext cx="5311940" cy="844153"/>
          </a:xfrm>
          <a:prstGeom prst="roundRect">
            <a:avLst>
              <a:gd name="adj" fmla="val 269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0664" y="5689104"/>
            <a:ext cx="4970239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90664" y="5981502"/>
            <a:ext cx="4970239" cy="210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Forma abreviada. Mais usada no dia a dia.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59842" y="5518249"/>
            <a:ext cx="5312039" cy="844153"/>
          </a:xfrm>
          <a:prstGeom prst="roundRect">
            <a:avLst>
              <a:gd name="adj" fmla="val 269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30692" y="5689104"/>
            <a:ext cx="4970338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EXECUTE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30692" y="5981502"/>
            <a:ext cx="4970338" cy="210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Forma completa. Igual ao EXEC, apenas mais explícita.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28836"/>
            <a:ext cx="10752067" cy="455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Alterando uma Stored Procedure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19814" y="1269702"/>
            <a:ext cx="11361652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Para modificar uma procedure já existente, utilizamos </a:t>
            </a:r>
            <a:r>
              <a:rPr lang="en-US" sz="12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ALTER PROCEDURE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sem precisar excluí-la e recriá-la.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9814" y="1800225"/>
            <a:ext cx="5180478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Versão original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9814" y="2188468"/>
            <a:ext cx="5180478" cy="2115840"/>
          </a:xfrm>
          <a:prstGeom prst="roundRect">
            <a:avLst>
              <a:gd name="adj" fmla="val 113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12095" y="2348706"/>
            <a:ext cx="4795916" cy="17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listar_clientes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id, nome, cidade,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limite_credito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Clientes;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42499" y="1800225"/>
            <a:ext cx="5090985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Versão alterada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4780" y="2348706"/>
            <a:ext cx="4706423" cy="1538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PROCEDURE listar_clientes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id, nome, cidade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Clientes;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9814" y="4625380"/>
            <a:ext cx="11361652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Após o ALTER, basta executar normalmente: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9814" y="5013226"/>
            <a:ext cx="10752067" cy="576957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912095" y="5173464"/>
            <a:ext cx="10977089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listar_clientes;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9814" y="5750719"/>
            <a:ext cx="10752067" cy="578346"/>
          </a:xfrm>
          <a:prstGeom prst="roundRect">
            <a:avLst>
              <a:gd name="adj" fmla="val 4157"/>
            </a:avLst>
          </a:prstGeom>
          <a:solidFill>
            <a:srgbClr val="E4E4E7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48" y="5945485"/>
            <a:ext cx="200318" cy="16023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40600" y="5933380"/>
            <a:ext cx="10680631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CREATE</a:t>
            </a:r>
            <a:r>
              <a:rPr lang="en-US" sz="12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cria uma nova procedure. </a:t>
            </a:r>
            <a:r>
              <a:rPr lang="en-US" sz="125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ALTER</a:t>
            </a:r>
            <a:r>
              <a:rPr lang="en-US" sz="12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modifica uma procedure já existente. Use ALTER para ajustes e correções.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32309"/>
            <a:ext cx="10752067" cy="427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Excluindo uma Stored Procedure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19814" y="1212056"/>
            <a:ext cx="11361652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Quando uma procedure não é mais necessária, ela pode ser removida do banco com o comando </a:t>
            </a:r>
            <a:r>
              <a:rPr lang="en-US" sz="11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DROP PROCEDURE</a:t>
            </a: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9814" y="1561207"/>
            <a:ext cx="10752067" cy="541933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00487" y="1711722"/>
            <a:ext cx="11000306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PROCEDURE listar_clientes;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19814" y="2244824"/>
            <a:ext cx="1343984" cy="797917"/>
          </a:xfrm>
          <a:prstGeom prst="roundRect">
            <a:avLst>
              <a:gd name="adj" fmla="val 2831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1285942" y="2511425"/>
            <a:ext cx="211728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214309" y="2395339"/>
            <a:ext cx="9107061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DROP PROCEDURE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14309" y="2684760"/>
            <a:ext cx="9107061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Remove a procedure do banco permanentemente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39004" y="3034804"/>
            <a:ext cx="9257672" cy="952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719814" y="3117949"/>
            <a:ext cx="2687967" cy="797917"/>
          </a:xfrm>
          <a:prstGeom prst="roundRect">
            <a:avLst>
              <a:gd name="adj" fmla="val 2831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1957934" y="3384550"/>
            <a:ext cx="211728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558292" y="3268464"/>
            <a:ext cx="7763078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58292" y="3557885"/>
            <a:ext cx="7763078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Executa a procedure quando necessário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82987" y="3907929"/>
            <a:ext cx="7913688" cy="952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719814" y="3991074"/>
            <a:ext cx="4031951" cy="797917"/>
          </a:xfrm>
          <a:prstGeom prst="roundRect">
            <a:avLst>
              <a:gd name="adj" fmla="val 2831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2629926" y="4257675"/>
            <a:ext cx="211728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902276" y="4141589"/>
            <a:ext cx="6419094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ALTER PROCEDURE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02276" y="4431010"/>
            <a:ext cx="6419094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Modifica a procedure existente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26971" y="4781054"/>
            <a:ext cx="6569704" cy="952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19814" y="4864199"/>
            <a:ext cx="5376033" cy="797917"/>
          </a:xfrm>
          <a:prstGeom prst="roundRect">
            <a:avLst>
              <a:gd name="adj" fmla="val 2831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3301917" y="5130800"/>
            <a:ext cx="211728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246359" y="5014714"/>
            <a:ext cx="5075011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CREATE PROCEDURE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46359" y="5304135"/>
            <a:ext cx="5075011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Cria e armazena a procedure no banco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9814" y="5803801"/>
            <a:ext cx="10752067" cy="521891"/>
          </a:xfrm>
          <a:prstGeom prst="roundRect">
            <a:avLst>
              <a:gd name="adj" fmla="val 4328"/>
            </a:avLst>
          </a:prstGeom>
          <a:solidFill>
            <a:srgbClr val="FCF2B5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25" y="5975251"/>
            <a:ext cx="188213" cy="15051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09049" y="5967313"/>
            <a:ext cx="10721905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DROP é irreversível. Use com cuidado — a procedure será removida permanentemente.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67345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Procedures com Parâmetros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538486"/>
            <a:ext cx="1136165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procedure pode receber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parâmetros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informações fornecidas no momento da execução para personalizar o comportamento da rotina.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814" y="2010866"/>
            <a:ext cx="10752067" cy="2663230"/>
          </a:xfrm>
          <a:prstGeom prst="roundRect">
            <a:avLst>
              <a:gd name="adj" fmla="val 101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35709" y="2190750"/>
            <a:ext cx="10320278" cy="230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buscar_cliente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@idCliente INT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id, nome, cidade, limite_credito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Clientes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id = @idCliente;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4876502"/>
            <a:ext cx="5286044" cy="13140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6690" y="5081786"/>
            <a:ext cx="4773890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DCFF5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@idCliente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6690" y="5445323"/>
            <a:ext cx="477389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Nome do parâmetro. Em T-SQL, parâmetros sempre começam com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@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5737" y="4876502"/>
            <a:ext cx="5286144" cy="13140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613" y="5081786"/>
            <a:ext cx="4773989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DCFF5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92613" y="5445323"/>
            <a:ext cx="4773989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Tipo de dado do parâmetro. Deve corresponder ao tipo da coluna usada na query.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201241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Executando uma Procedure com Parâmetro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2072382"/>
            <a:ext cx="1136165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mesma procedure pode retornar resultados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completamente diferentes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dependendo do valor passado como parâmetro.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9814" y="2724646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Buscando o cliente 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9814" y="3182640"/>
            <a:ext cx="5156468" cy="9356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35709" y="3362523"/>
            <a:ext cx="4724679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buscar_cliente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@idCliente = 3;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9814" y="4320679"/>
            <a:ext cx="5766053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Retorna os dados do cliente com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id =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1763" y="2724646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Buscando o cliente 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1763" y="3182640"/>
            <a:ext cx="5156468" cy="9356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537658" y="3362523"/>
            <a:ext cx="4724679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buscar_cliente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@idCliente = 5;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1763" y="4320679"/>
            <a:ext cx="5766053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Retorna os dados do cliente com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id = 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9814" y="4954984"/>
            <a:ext cx="10752067" cy="701675"/>
          </a:xfrm>
          <a:prstGeom prst="roundRect">
            <a:avLst>
              <a:gd name="adj" fmla="val 3847"/>
            </a:avLst>
          </a:prstGeom>
          <a:solidFill>
            <a:srgbClr val="E4E4E7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93" y="5200154"/>
            <a:ext cx="224923" cy="1798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04495" y="5179814"/>
            <a:ext cx="10597091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única procedure criada → infinitas execuções com resultados diferentes. É a essência da reutilização de lógica.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066304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Parâmetros Posicionais e Nomeados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937445"/>
            <a:ext cx="1136165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Existem duas formas de passar parâmetros ao executar uma procedure. Ambas funcionam, mas a forma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nomeada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é mais legível e segura.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9814" y="2589709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Forma Posicional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9814" y="3047702"/>
            <a:ext cx="5156468" cy="647700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35709" y="3227586"/>
            <a:ext cx="5334263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buscar_cliente 3;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9814" y="3897809"/>
            <a:ext cx="515646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valor é associado pelo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ordem de declaração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do parâmetro. Funciona, mas pode causar confusão com múltiplos parâmetros.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71966" y="2589709"/>
            <a:ext cx="505606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✅</a:t>
            </a:r>
            <a:r>
              <a:rPr lang="en-US" sz="160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Forma Nomeada (recomendada)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7861" y="3227586"/>
            <a:ext cx="4624272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buscar_cliente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@idCliente = 3;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71966" y="4185741"/>
            <a:ext cx="5056061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valor é associado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explicitamente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ao nome do parâmetro. Mais clara e segura.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9814" y="5090021"/>
            <a:ext cx="10752067" cy="701675"/>
          </a:xfrm>
          <a:prstGeom prst="roundRect">
            <a:avLst>
              <a:gd name="adj" fmla="val 3847"/>
            </a:avLst>
          </a:prstGeom>
          <a:solidFill>
            <a:srgbClr val="E4E4E7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93" y="5335191"/>
            <a:ext cx="224923" cy="1798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04495" y="5314851"/>
            <a:ext cx="10597091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Em procedures com múltiplos parâmetros, a forma nomeada evita erros e facilita a leitura do código.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56220"/>
            <a:ext cx="10752067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Procedures com Múltiplos Parâmetros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19814" y="1370409"/>
            <a:ext cx="11361652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procedure pode receber </a:t>
            </a:r>
            <a:r>
              <a:rPr lang="en-US" sz="13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quantos parâmetros forem necessários</a:t>
            </a: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separados por vírgula. Cada parâmetro tem seu próprio nome e tipo de dado.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9814" y="1805484"/>
            <a:ext cx="10752067" cy="3087291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25589" y="1976934"/>
            <a:ext cx="10340518" cy="2744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buscar_clientes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@cidade       VARCHAR(50),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@limiteMinimo DECIMAL(10,2)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id, nome, cidade, limite_credito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Clientes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cidade = @cidade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limite_credito &gt;= @limiteMinimo;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9814" y="5076627"/>
            <a:ext cx="5294279" cy="1225153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0309" y="5267127"/>
            <a:ext cx="4913289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@cidade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0309" y="5608836"/>
            <a:ext cx="4913289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Filtra os clientes pela cidade informada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7502" y="5076627"/>
            <a:ext cx="5294378" cy="1225153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7998" y="5267127"/>
            <a:ext cx="4913388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@limiteMinimo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67998" y="5608836"/>
            <a:ext cx="4913388" cy="502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Filtra clientes com limite de crédito maior ou igual ao valor informado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922338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Executando com Vários Parâmetros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793478"/>
            <a:ext cx="1075206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Ao chamar uma procedure com múltiplos parâmetros, informamos todos os valores na execução. A mesma procedure atende diferentes cenários.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9814" y="2715716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Execução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9814" y="3173710"/>
            <a:ext cx="5156468" cy="1223566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35709" y="3353594"/>
            <a:ext cx="4724679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buscar_clientes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@cidade = 'Campinas',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@limiteMinimo = 3000;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9814" y="4599682"/>
            <a:ext cx="5766053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Lista clientes de Campinas com limite ≥ R$ 3.000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1763" y="2715716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Execução 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1763" y="3173710"/>
            <a:ext cx="5156468" cy="1223566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537658" y="3353594"/>
            <a:ext cx="4724679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buscar_clientes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@cidade = 'Valinhos',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@limiteMinimo = 5000;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1763" y="4599682"/>
            <a:ext cx="5766053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Lista clientes de Valinhos com limite ≥ R$ 5.000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9814" y="5233988"/>
            <a:ext cx="10752067" cy="701675"/>
          </a:xfrm>
          <a:prstGeom prst="roundRect">
            <a:avLst>
              <a:gd name="adj" fmla="val 3847"/>
            </a:avLst>
          </a:prstGeom>
          <a:solidFill>
            <a:srgbClr val="E4E4E7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93" y="5479157"/>
            <a:ext cx="224923" cy="1798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04495" y="5458817"/>
            <a:ext cx="10597091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Uma única procedure pode atender diferentes situações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basta variar os parâmetros informados na execução.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44016"/>
            <a:ext cx="10752067" cy="47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kern="0" spc="-30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Parâmetros com Valor Padrão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9814" y="1339652"/>
            <a:ext cx="1075206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 parâmetro pode ter um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valor padrão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(default). Quando não informado na execução, o parâmetro assume automaticamente esse valor — tornando-o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opcional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9814" y="2007890"/>
            <a:ext cx="10752067" cy="2497138"/>
          </a:xfrm>
          <a:prstGeom prst="roundRect">
            <a:avLst>
              <a:gd name="adj" fmla="val 101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22215" y="2176562"/>
            <a:ext cx="10347265" cy="2159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listar_clientes_cidade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@cidade VARCHAR(50) = NULL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id, nome, cidade, limite_credito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Clientes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@cidade IS NULL OR cidade = @cidade;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9814" y="4841081"/>
            <a:ext cx="5170259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Sem parâmetro → lista todos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9814" y="5258693"/>
            <a:ext cx="5170259" cy="607318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922215" y="5427365"/>
            <a:ext cx="5375041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listar_clientes_cidade;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6531" y="4682927"/>
            <a:ext cx="5413140" cy="1630958"/>
          </a:xfrm>
          <a:prstGeom prst="roundRect">
            <a:avLst>
              <a:gd name="adj" fmla="val 1552"/>
            </a:avLst>
          </a:prstGeom>
          <a:solidFill>
            <a:srgbClr val="DCFF50"/>
          </a:solidFill>
          <a:ln/>
        </p:spPr>
      </p:sp>
      <p:sp>
        <p:nvSpPr>
          <p:cNvPr id="10" name="Text 8"/>
          <p:cNvSpPr/>
          <p:nvPr/>
        </p:nvSpPr>
        <p:spPr>
          <a:xfrm>
            <a:off x="6355199" y="4841081"/>
            <a:ext cx="5075805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Com parâmetro → filtra por cidade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55199" y="5258693"/>
            <a:ext cx="5075805" cy="877292"/>
          </a:xfrm>
          <a:prstGeom prst="roundRect">
            <a:avLst>
              <a:gd name="adj" fmla="val 2885"/>
            </a:avLst>
          </a:prstGeom>
          <a:solidFill>
            <a:srgbClr val="CFF243"/>
          </a:solidFill>
          <a:ln/>
        </p:spPr>
      </p:sp>
      <p:sp>
        <p:nvSpPr>
          <p:cNvPr id="12" name="Text 10"/>
          <p:cNvSpPr/>
          <p:nvPr/>
        </p:nvSpPr>
        <p:spPr>
          <a:xfrm>
            <a:off x="6557600" y="5427365"/>
            <a:ext cx="4671003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listar_clientes_cidade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@cidade = 'Valinhos';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495002"/>
            <a:ext cx="10752067" cy="414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2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Procedure com Lógica de Programação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19814" y="1145480"/>
            <a:ext cx="11361652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Stored Procedures podem incorporar toda a lógica T-SQL que aprendemos na aula anterior — variáveis, IF, ELSE e muito mais.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9814" y="1476276"/>
            <a:ext cx="10752067" cy="4258667"/>
          </a:xfrm>
          <a:prstGeom prst="roundRect">
            <a:avLst>
              <a:gd name="adj" fmla="val 51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94732" y="1622028"/>
            <a:ext cx="10402230" cy="3967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classificar_cliente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@idCliente INT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DECLARE @limite DECIMAL(10,2);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@limite = limite_credito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Clientes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id = @idCliente;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@limite &gt;= 7000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 'Cliente de alto limite';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@limite &gt;= 4000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 'Cliente de limite médio';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 'Cliente de baixo limite';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9814" y="5867797"/>
            <a:ext cx="10752067" cy="495102"/>
          </a:xfrm>
          <a:prstGeom prst="roundRect">
            <a:avLst>
              <a:gd name="adj" fmla="val 4418"/>
            </a:avLst>
          </a:prstGeom>
          <a:solidFill>
            <a:srgbClr val="E4E4E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63" y="6028035"/>
            <a:ext cx="182260" cy="145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3572" y="6022280"/>
            <a:ext cx="10742145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Variáveis com </a:t>
            </a:r>
            <a:r>
              <a:rPr lang="en-US" sz="11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atribuição com </a:t>
            </a:r>
            <a:r>
              <a:rPr lang="en-US" sz="11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SELECT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condicionais com </a:t>
            </a:r>
            <a:r>
              <a:rPr lang="en-US" sz="11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IF...ELSE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tudo dentro de uma única procedure reutilizável.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21692"/>
            <a:ext cx="10752067" cy="462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Procedure que Realiza uma Alteração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19814" y="1279723"/>
            <a:ext cx="11361652" cy="232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Procedures não servem apenas para consultas. Elas também podem executar </a:t>
            </a:r>
            <a:r>
              <a:rPr lang="en-US" sz="12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INSERT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2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UPDATE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2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DELETE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ações que modificam dados no banco.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9814" y="1678682"/>
            <a:ext cx="10752067" cy="2672556"/>
          </a:xfrm>
          <a:prstGeom prst="roundRect">
            <a:avLst>
              <a:gd name="adj" fmla="val 91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5369" y="1841599"/>
            <a:ext cx="10360956" cy="234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atualizar_limite_cliente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@idCliente  INT,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@novoLimite DECIMAL(10,2)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 Clientes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limite_credito = @novoLimite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id = @idCliente;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2540" y="4517231"/>
            <a:ext cx="5411851" cy="1818977"/>
          </a:xfrm>
          <a:prstGeom prst="roundRect">
            <a:avLst>
              <a:gd name="adj" fmla="val 1344"/>
            </a:avLst>
          </a:prstGeom>
          <a:solidFill>
            <a:srgbClr val="DCFF50"/>
          </a:solidFill>
          <a:ln/>
        </p:spPr>
      </p:sp>
      <p:sp>
        <p:nvSpPr>
          <p:cNvPr id="7" name="Text 5"/>
          <p:cNvSpPr/>
          <p:nvPr/>
        </p:nvSpPr>
        <p:spPr>
          <a:xfrm>
            <a:off x="765454" y="4664770"/>
            <a:ext cx="5086024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15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Execução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65454" y="5062141"/>
            <a:ext cx="5086024" cy="1108075"/>
          </a:xfrm>
          <a:prstGeom prst="roundRect">
            <a:avLst>
              <a:gd name="adj" fmla="val 2206"/>
            </a:avLst>
          </a:prstGeom>
          <a:solidFill>
            <a:srgbClr val="CFF243"/>
          </a:solidFill>
          <a:ln/>
        </p:spPr>
      </p:sp>
      <p:sp>
        <p:nvSpPr>
          <p:cNvPr id="9" name="Text 7"/>
          <p:cNvSpPr/>
          <p:nvPr/>
        </p:nvSpPr>
        <p:spPr>
          <a:xfrm>
            <a:off x="961009" y="5225058"/>
            <a:ext cx="469491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atualizar_limite_cliente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@idCliente = 2,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@novoLimite = 4500;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0928" y="4664770"/>
            <a:ext cx="5177303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15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Verificação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0928" y="5062141"/>
            <a:ext cx="5177303" cy="847328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6483" y="5225058"/>
            <a:ext cx="4786193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Clientes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2;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08595"/>
            <a:ext cx="10752067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kern="0" spc="-25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Procedure com Validação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719814" y="1120973"/>
            <a:ext cx="11361652" cy="18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Boas procedures </a:t>
            </a:r>
            <a:r>
              <a:rPr lang="en-US" sz="10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validam os dados recebidos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antes de executar operações. O comando </a:t>
            </a:r>
            <a:r>
              <a:rPr lang="en-US" sz="10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RETURN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interrompe a execução imediatamente quando um problema é detectado.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9814" y="1428155"/>
            <a:ext cx="10752067" cy="4072235"/>
          </a:xfrm>
          <a:prstGeom prst="roundRect">
            <a:avLst>
              <a:gd name="adj" fmla="val 51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87192" y="1567557"/>
            <a:ext cx="10417311" cy="3793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alterar_limite_cliente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@idCliente  INT,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@novoLimite DECIMAL(10,2)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@novoLimite &lt; 0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BEGIN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 'Valor de limite inválido.';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 Clientes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limite_credito = @novoLimite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id = @idCliente;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'Limite atualizado com sucesso.';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9814" y="5621933"/>
            <a:ext cx="2606907" cy="727373"/>
          </a:xfrm>
          <a:prstGeom prst="roundRect">
            <a:avLst>
              <a:gd name="adj" fmla="val 2876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859213" y="5761335"/>
            <a:ext cx="2328110" cy="19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Parâmetros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213" y="6024265"/>
            <a:ext cx="2328110" cy="18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Recebem os 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34768" y="5621933"/>
            <a:ext cx="2607007" cy="727373"/>
          </a:xfrm>
          <a:prstGeom prst="roundRect">
            <a:avLst>
              <a:gd name="adj" fmla="val 287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3574167" y="5761335"/>
            <a:ext cx="2328209" cy="19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Condicionais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74167" y="6024265"/>
            <a:ext cx="2328209" cy="18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Validam os dados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9821" y="5621933"/>
            <a:ext cx="2607007" cy="727373"/>
          </a:xfrm>
          <a:prstGeom prst="roundRect">
            <a:avLst>
              <a:gd name="adj" fmla="val 2876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289220" y="5761335"/>
            <a:ext cx="2328209" cy="19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RETURN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89220" y="6024265"/>
            <a:ext cx="2328209" cy="18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Interrompe se inválido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4874" y="5621933"/>
            <a:ext cx="2607007" cy="727373"/>
          </a:xfrm>
          <a:prstGeom prst="roundRect">
            <a:avLst>
              <a:gd name="adj" fmla="val 2876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9004273" y="5761335"/>
            <a:ext cx="2328209" cy="19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UPDATE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04273" y="6024265"/>
            <a:ext cx="2328209" cy="18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Executa se válido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507901"/>
            <a:ext cx="6180181" cy="5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Agora é com você! </a:t>
            </a:r>
            <a:r>
              <a:rPr lang="en-US" sz="3100" b="1" kern="0" spc="-3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💻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719814" y="1262856"/>
            <a:ext cx="1739757" cy="264914"/>
          </a:xfrm>
          <a:prstGeom prst="roundRect">
            <a:avLst>
              <a:gd name="adj" fmla="val 7898"/>
            </a:avLst>
          </a:prstGeom>
          <a:solidFill>
            <a:srgbClr val="E4E4E7"/>
          </a:solidFill>
          <a:ln/>
        </p:spPr>
      </p:sp>
      <p:sp>
        <p:nvSpPr>
          <p:cNvPr id="5" name="Text 2"/>
          <p:cNvSpPr/>
          <p:nvPr/>
        </p:nvSpPr>
        <p:spPr>
          <a:xfrm>
            <a:off x="824388" y="1315145"/>
            <a:ext cx="2140194" cy="160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DESAFIO PRÁTICO — SSMS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19814" y="1886645"/>
            <a:ext cx="287747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Desafio 1 — consultar_funcionarios_cargo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19814" y="2819598"/>
            <a:ext cx="392202" cy="39221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797004" y="2867075"/>
            <a:ext cx="2377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kern="0" spc="-19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280882" y="2884884"/>
            <a:ext cx="2316402" cy="514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Receba um </a:t>
            </a:r>
            <a:r>
              <a:rPr lang="en-US" sz="13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cargo</a:t>
            </a: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como parâmetro.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9814" y="3737372"/>
            <a:ext cx="392202" cy="39221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797004" y="3784848"/>
            <a:ext cx="2377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kern="0" spc="-19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280882" y="3802658"/>
            <a:ext cx="2316402" cy="514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Liste os funcionários com esse cargo.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19814" y="4655145"/>
            <a:ext cx="392202" cy="39221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797004" y="4702621"/>
            <a:ext cx="2377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kern="0" spc="-19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280882" y="4720431"/>
            <a:ext cx="2316402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Mostre </a:t>
            </a:r>
            <a:r>
              <a:rPr lang="en-US" sz="13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nome</a:t>
            </a: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3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cargo</a:t>
            </a: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3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salário</a:t>
            </a: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28875" y="1886645"/>
            <a:ext cx="287747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Desafio 2 — classificar_funcionario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4028875" y="2571948"/>
            <a:ext cx="392202" cy="39221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4106065" y="2619425"/>
            <a:ext cx="2377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kern="0" spc="-19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4589943" y="2637234"/>
            <a:ext cx="2316402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Receba o </a:t>
            </a:r>
            <a:r>
              <a:rPr lang="en-US" sz="13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ID</a:t>
            </a: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do funcionário.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028875" y="3301901"/>
            <a:ext cx="392202" cy="39221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1" name="Text 18"/>
          <p:cNvSpPr/>
          <p:nvPr/>
        </p:nvSpPr>
        <p:spPr>
          <a:xfrm>
            <a:off x="4106065" y="3349377"/>
            <a:ext cx="2377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kern="0" spc="-19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4589943" y="3367187"/>
            <a:ext cx="2316402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Consulte o salário dele.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028875" y="4031853"/>
            <a:ext cx="392202" cy="39221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4" name="Text 21"/>
          <p:cNvSpPr/>
          <p:nvPr/>
        </p:nvSpPr>
        <p:spPr>
          <a:xfrm>
            <a:off x="4106065" y="4079329"/>
            <a:ext cx="2377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kern="0" spc="-19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4589943" y="4097139"/>
            <a:ext cx="2316402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</a:t>
            </a:r>
            <a:r>
              <a:rPr lang="en-US" sz="13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IF...ELSE</a:t>
            </a: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: ≥ 5000 → "Alto" · ≥ 3000 → "Médio" · abaixo → "Baixo"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19814" y="5427365"/>
            <a:ext cx="6180181" cy="922734"/>
          </a:xfrm>
          <a:prstGeom prst="roundRect">
            <a:avLst>
              <a:gd name="adj" fmla="val 2834"/>
            </a:avLst>
          </a:prstGeom>
          <a:solidFill>
            <a:srgbClr val="E4E4E7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137" y="5664994"/>
            <a:ext cx="217879" cy="174327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286339" y="5639792"/>
            <a:ext cx="5439333" cy="514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Trabalhe individualmente no SSMS. O gabarito será discutido em seguida com toda a turma.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494903"/>
            <a:ext cx="10752067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aprendemos hoje?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19814" y="1327944"/>
            <a:ext cx="34864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14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01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9814" y="1605161"/>
            <a:ext cx="5291600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719814" y="1730375"/>
            <a:ext cx="5291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Conceito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19814" y="2079327"/>
            <a:ext cx="5291600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que é uma Stored Procedure e por que usá-la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80281" y="1327944"/>
            <a:ext cx="34864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14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80281" y="1605161"/>
            <a:ext cx="5291600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6180281" y="1730375"/>
            <a:ext cx="5291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CREATE PROCEDURE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180281" y="2079327"/>
            <a:ext cx="5291600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Como criar e armazenar uma procedure no banco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9814" y="2636242"/>
            <a:ext cx="34864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14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9814" y="2913459"/>
            <a:ext cx="5291600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3" name="Text 11"/>
          <p:cNvSpPr/>
          <p:nvPr/>
        </p:nvSpPr>
        <p:spPr>
          <a:xfrm>
            <a:off x="719814" y="3038673"/>
            <a:ext cx="5291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19814" y="3387626"/>
            <a:ext cx="5291600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Como executar uma procedure pelo nome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80281" y="2636242"/>
            <a:ext cx="34864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14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04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80281" y="2913459"/>
            <a:ext cx="5291600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7" name="Text 15"/>
          <p:cNvSpPr/>
          <p:nvPr/>
        </p:nvSpPr>
        <p:spPr>
          <a:xfrm>
            <a:off x="6180281" y="3038673"/>
            <a:ext cx="5291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ALTER / DROP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180281" y="3387626"/>
            <a:ext cx="5291600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Como modificar e excluir procedures existentes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9814" y="3944541"/>
            <a:ext cx="34864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14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05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9814" y="4221758"/>
            <a:ext cx="5291600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1" name="Text 19"/>
          <p:cNvSpPr/>
          <p:nvPr/>
        </p:nvSpPr>
        <p:spPr>
          <a:xfrm>
            <a:off x="719814" y="4346972"/>
            <a:ext cx="5291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Parâmetros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19814" y="4695924"/>
            <a:ext cx="5291600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Simples, múltiplos e com valor padrão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80281" y="3944541"/>
            <a:ext cx="34864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14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06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80281" y="4221758"/>
            <a:ext cx="5291600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5" name="Text 23"/>
          <p:cNvSpPr/>
          <p:nvPr/>
        </p:nvSpPr>
        <p:spPr>
          <a:xfrm>
            <a:off x="6180281" y="4346972"/>
            <a:ext cx="5291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Lógica + SQL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180281" y="4695924"/>
            <a:ext cx="5291600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Combinando variáveis, condicionais e comandos DML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1249" y="5463977"/>
            <a:ext cx="11100217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"Uma Stored Procedure transforma comandos T-SQL em uma rotina reutilizável dentro do banco de dados."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19814" y="5273973"/>
            <a:ext cx="19050" cy="637381"/>
          </a:xfrm>
          <a:prstGeom prst="roundRect">
            <a:avLst>
              <a:gd name="adj" fmla="val 49999"/>
            </a:avLst>
          </a:prstGeom>
          <a:solidFill>
            <a:srgbClr val="2D2E34"/>
          </a:solidFill>
          <a:ln/>
        </p:spPr>
      </p:sp>
      <p:sp>
        <p:nvSpPr>
          <p:cNvPr id="29" name="Text 27"/>
          <p:cNvSpPr/>
          <p:nvPr/>
        </p:nvSpPr>
        <p:spPr>
          <a:xfrm>
            <a:off x="415022" y="6101358"/>
            <a:ext cx="1136165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Na próxima aula, vamos ampliar esse conceito com outras formas de programar e reutilizar lógica no banco de dados. </a:t>
            </a:r>
            <a:r>
              <a:rPr lang="en-US" sz="13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🚀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1808</Words>
  <Application>Microsoft Office PowerPoint</Application>
  <PresentationFormat>Widescreen</PresentationFormat>
  <Paragraphs>316</Paragraphs>
  <Slides>21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Consolas</vt:lpstr>
      <vt:lpstr>Tema do Office</vt:lpstr>
      <vt:lpstr>Linguagem de Programação de Banco de Dados Prof. José Carlos Perini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51</cp:revision>
  <dcterms:created xsi:type="dcterms:W3CDTF">2024-02-07T18:08:06Z</dcterms:created>
  <dcterms:modified xsi:type="dcterms:W3CDTF">2026-09-05T15:25:26Z</dcterms:modified>
</cp:coreProperties>
</file>