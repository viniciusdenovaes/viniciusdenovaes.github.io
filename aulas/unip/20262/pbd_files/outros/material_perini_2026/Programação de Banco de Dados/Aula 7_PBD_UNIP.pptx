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38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387" r:id="rId21"/>
    <p:sldId id="275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437FFB-D889-4E35-80D7-62282096ABD0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43DA8-3DF3-41E3-8439-B64B0FF63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87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97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0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9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4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2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01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4259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0A59-C752-4765-B0CC-DA76ECD04D88}" type="datetimeFigureOut">
              <a:rPr lang="pt-BR" smtClean="0"/>
              <a:t>16/10/2026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2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4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74981" y="3177196"/>
            <a:ext cx="9144000" cy="1496400"/>
          </a:xfrm>
        </p:spPr>
        <p:txBody>
          <a:bodyPr>
            <a:noAutofit/>
          </a:bodyPr>
          <a:lstStyle/>
          <a:p>
            <a:r>
              <a:rPr lang="pt-BR" sz="4800" dirty="0"/>
              <a:t>Linguagem de Programação de Banco de Dados</a:t>
            </a:r>
            <a:br>
              <a:rPr lang="pt-BR" sz="4800" dirty="0"/>
            </a:br>
            <a:r>
              <a:rPr lang="pt-BR" sz="2400" dirty="0"/>
              <a:t>Prof. José Carlos Perini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74981" y="4923127"/>
            <a:ext cx="9144000" cy="1655762"/>
          </a:xfrm>
        </p:spPr>
        <p:txBody>
          <a:bodyPr/>
          <a:lstStyle/>
          <a:p>
            <a:r>
              <a:rPr lang="pt-BR" dirty="0"/>
              <a:t>Aula 7 – Triggers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725" y="0"/>
            <a:ext cx="7340168" cy="24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2622913"/>
            <a:ext cx="6180181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10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Triggers no SQL Server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291700" y="3197010"/>
            <a:ext cx="6180181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Gatilhos automáticos, auditoria e regras de negócio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291700" y="3713361"/>
            <a:ext cx="6180181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Disciplina: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Programação de Banco de Dados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— Análise e Desenvolvimento de Sistemas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1116474"/>
            <a:ext cx="6180181" cy="1022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10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Uma Situação do Cotidiano Empresarial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90138" y="2390676"/>
            <a:ext cx="3129876" cy="3368973"/>
          </a:xfrm>
          <a:prstGeom prst="roundRect">
            <a:avLst>
              <a:gd name="adj" fmla="val 863"/>
            </a:avLst>
          </a:prstGeom>
          <a:solidFill>
            <a:srgbClr val="2D2E34"/>
          </a:solidFill>
          <a:ln/>
        </p:spPr>
      </p:sp>
      <p:sp>
        <p:nvSpPr>
          <p:cNvPr id="5" name="Text 2"/>
          <p:cNvSpPr/>
          <p:nvPr/>
        </p:nvSpPr>
        <p:spPr>
          <a:xfrm>
            <a:off x="770017" y="2579671"/>
            <a:ext cx="2770118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 Cenário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0017" y="3006030"/>
            <a:ext cx="2770118" cy="134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Uma empresa precisa manter um </a:t>
            </a: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histórico das alterações nos limites de crédito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dos clientes. Sempre que um limite for modificado, o sistema deve registrar automaticamente: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0017" y="4517827"/>
            <a:ext cx="2770118" cy="935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valor anterior ao da alteração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novo valor atribuído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data e hora da operação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35820" y="2579671"/>
            <a:ext cx="2870525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035820" y="3006030"/>
            <a:ext cx="2870525" cy="2591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Como garantir que esse registro seja feito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sem depender de cada programador lembrar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de executar um comando adicional após cada UPDATE?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resposta está em uma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ação automática disparada por um evento no banco de dados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— o que chamamos de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Trigger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69290"/>
            <a:ext cx="10752067" cy="44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kern="100" spc="-28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 que é um Trigger?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9814" y="1272977"/>
            <a:ext cx="11361652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 </a:t>
            </a:r>
            <a:r>
              <a:rPr lang="en-US" sz="12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trigger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(ou gatilho) é um objeto do banco de dados </a:t>
            </a:r>
            <a:r>
              <a:rPr lang="en-US" sz="12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associado a uma tabela e a um evento específico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executado automaticamente quando esse evento ocorre.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269" y="1647130"/>
            <a:ext cx="7525157" cy="34440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95303" y="4162067"/>
            <a:ext cx="1412783" cy="494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kern="10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Ação do Trigger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314810" y="4162067"/>
            <a:ext cx="1412783" cy="494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kern="10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Trigger Executa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543993" y="4162067"/>
            <a:ext cx="1412783" cy="494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kern="10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Evento Detectado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734469" y="4162067"/>
            <a:ext cx="1412783" cy="494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kern="10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Operação SQL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19814" y="5245100"/>
            <a:ext cx="3492809" cy="1059160"/>
          </a:xfrm>
          <a:prstGeom prst="roundRect">
            <a:avLst>
              <a:gd name="adj" fmla="val 2222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876675" y="5401965"/>
            <a:ext cx="317908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Automático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76675" y="5706864"/>
            <a:ext cx="3179088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Não precisa ser chamado diretamente — age sozinho quando o evento ocorre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49344" y="5245100"/>
            <a:ext cx="3492909" cy="1059160"/>
          </a:xfrm>
          <a:prstGeom prst="roundRect">
            <a:avLst>
              <a:gd name="adj" fmla="val 2222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4506204" y="5401965"/>
            <a:ext cx="3179187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Reativo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06204" y="5706864"/>
            <a:ext cx="3179187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Responde a INSERT, UPDATE ou DELETE na tabela associada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78972" y="5245100"/>
            <a:ext cx="3492909" cy="1059160"/>
          </a:xfrm>
          <a:prstGeom prst="roundRect">
            <a:avLst>
              <a:gd name="adj" fmla="val 2222"/>
            </a:avLst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8135833" y="5401965"/>
            <a:ext cx="3179187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Transacional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135833" y="5706864"/>
            <a:ext cx="3179187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Executa dentro da mesma transação da operação que o disparou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48460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10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Trigger × Stored Procedure × Function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9814" y="1501378"/>
            <a:ext cx="1075206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Esses três objetos fazem parte do T-SQL, mas têm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finalidades e formas de execução distintas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Entender a diferença é fundamental para escolher a ferramenta certa.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9814" y="2243733"/>
            <a:ext cx="3464037" cy="2809974"/>
          </a:xfrm>
          <a:prstGeom prst="roundRect">
            <a:avLst>
              <a:gd name="adj" fmla="val 961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5092" y="2449016"/>
            <a:ext cx="3053480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🔫</a:t>
            </a:r>
            <a:r>
              <a:rPr lang="en-US" sz="1600" b="1" kern="10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 Trigger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25092" y="2812554"/>
            <a:ext cx="3053480" cy="1740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Executado automaticamente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quando o evento para o qual foi definido ocorre na tabela.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Exemplo: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registrar o histórico de alterações de limite sempre que um UPDATE for feito em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63730" y="2243733"/>
            <a:ext cx="3464136" cy="2809974"/>
          </a:xfrm>
          <a:prstGeom prst="roundRect">
            <a:avLst>
              <a:gd name="adj" fmla="val 961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9008" y="2449016"/>
            <a:ext cx="3053579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📦</a:t>
            </a:r>
            <a:r>
              <a:rPr lang="en-US" sz="1600" b="1" kern="10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 Stored Procedure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69008" y="2812554"/>
            <a:ext cx="3053579" cy="2035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Executada explicitamente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por uma chamada como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Agrupa lógica reutilizável de negócio ou acesso a dados.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Exemplo: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 dbo.sp_CadastrarCliente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chamado pela aplicação.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07745" y="2243733"/>
            <a:ext cx="3464136" cy="2809974"/>
          </a:xfrm>
          <a:prstGeom prst="roundRect">
            <a:avLst>
              <a:gd name="adj" fmla="val 961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3023" y="2449016"/>
            <a:ext cx="3053579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🔢</a:t>
            </a:r>
            <a:r>
              <a:rPr lang="en-US" sz="1600" b="1" kern="10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 Function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13023" y="2812554"/>
            <a:ext cx="3053579" cy="175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Retorna um valor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ou conjunto de resultados. Pode ser chamada dentro de SELECT, WHERE ou atribuída a variáveis.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Exemplo: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dbo.fn_IdadeCliente(id)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calcula a idade a partir da data de cadastro.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9814" y="5256113"/>
            <a:ext cx="10752067" cy="971649"/>
          </a:xfrm>
          <a:prstGeom prst="roundRect">
            <a:avLst>
              <a:gd name="adj" fmla="val 2778"/>
            </a:avLst>
          </a:prstGeom>
          <a:solidFill>
            <a:srgbClr val="E4E4E7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93" y="5501283"/>
            <a:ext cx="224923" cy="1798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04495" y="5480943"/>
            <a:ext cx="998750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Esses objetos têm finalidades diferentes, mas podem compor a mesma solução — um trigger pode chamar uma stored procedure, por exemplo.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890355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10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Tipos de Triggers no SQL Server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0138" y="1653282"/>
            <a:ext cx="5415819" cy="4332486"/>
          </a:xfrm>
          <a:prstGeom prst="roundRect">
            <a:avLst>
              <a:gd name="adj" fmla="val 623"/>
            </a:avLst>
          </a:prstGeom>
          <a:solidFill>
            <a:srgbClr val="2D2E34"/>
          </a:solidFill>
          <a:ln/>
        </p:spPr>
      </p:sp>
      <p:sp>
        <p:nvSpPr>
          <p:cNvPr id="4" name="Text 2"/>
          <p:cNvSpPr/>
          <p:nvPr/>
        </p:nvSpPr>
        <p:spPr>
          <a:xfrm>
            <a:off x="770017" y="1842277"/>
            <a:ext cx="5056061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Triggers DML — Foco desta aula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0017" y="2268637"/>
            <a:ext cx="5056061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Associados a operações de manipulação de dados em tabelas e views.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017" y="3010991"/>
            <a:ext cx="2438041" cy="21959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6893" y="3216275"/>
            <a:ext cx="1925887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AFTER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6893" y="3651746"/>
            <a:ext cx="1925887" cy="134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Executado </a:t>
            </a: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após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a operação DML e suas verificações de integridade. É o tipo mais utilizado para auditoria.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7938" y="3010991"/>
            <a:ext cx="2438141" cy="21959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94814" y="3216275"/>
            <a:ext cx="1925986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INSTEAD OF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694814" y="3651746"/>
            <a:ext cx="1925986" cy="134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Substitui a operação original pela lógica definida no trigger. Muito usado em views complexas.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321763" y="1842277"/>
            <a:ext cx="5156468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Outros tipos (fora do escopo)</a:t>
            </a:r>
            <a:endParaRPr lang="en-US" sz="16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6364" y="2265759"/>
            <a:ext cx="5181867" cy="10516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52441" y="2291159"/>
            <a:ext cx="4925790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DDL Triggers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552441" y="2726630"/>
            <a:ext cx="4925790" cy="565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Reagem a eventos como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ou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Úteis para governança de banco de dados.</a:t>
            </a:r>
            <a:endParaRPr lang="en-US" sz="14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6364" y="3626445"/>
            <a:ext cx="5181867" cy="10262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52441" y="3651845"/>
            <a:ext cx="4925790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Logon Triggers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552441" y="4087316"/>
            <a:ext cx="4925790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Disparados quando uma sessão de usuário é estabelecida no SQL Server. Úteis para controle de acesso.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321763" y="4829671"/>
            <a:ext cx="5156468" cy="953691"/>
          </a:xfrm>
          <a:prstGeom prst="roundRect">
            <a:avLst>
              <a:gd name="adj" fmla="val 2831"/>
            </a:avLst>
          </a:prstGeom>
          <a:solidFill>
            <a:srgbClr val="B6D6FC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1642" y="5087541"/>
            <a:ext cx="224923" cy="1798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06444" y="5036542"/>
            <a:ext cx="439190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Esta aula foca exclusivamente em </a:t>
            </a:r>
            <a:r>
              <a:rPr lang="en-US" sz="14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triggers DML do tipo AFTER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949473"/>
            <a:ext cx="10752067" cy="460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kern="100" spc="-29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Sintaxe Básica: CREATE TRIGGER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19814" y="1685925"/>
            <a:ext cx="11361652" cy="230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estrutura de criação de um trigger DML no SQL Server segue o padrão abaixo. Cada parte do comando tem um papel específico: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9814" y="2080716"/>
            <a:ext cx="10752067" cy="2656284"/>
          </a:xfrm>
          <a:prstGeom prst="roundRect">
            <a:avLst>
              <a:gd name="adj" fmla="val 915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14179" y="2242641"/>
            <a:ext cx="10363338" cy="2332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TRIGGER dbo.nome_do_trigger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dbo.Clientes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INSERT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NOCOUNT ON;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 Instruções executadas pelo trigger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4900910"/>
            <a:ext cx="404902" cy="404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6877" y="4900910"/>
            <a:ext cx="2875486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ON dbo.Clientes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06877" y="5218311"/>
            <a:ext cx="2875486" cy="461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Define a </a:t>
            </a:r>
            <a:r>
              <a:rPr lang="en-US" sz="12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tabela associada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ao trigger. O gatilho monitorará eventos nessa tabela.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4524" y="4900910"/>
            <a:ext cx="404902" cy="404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51586" y="4900910"/>
            <a:ext cx="2875486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AFTER INSERT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51586" y="5218311"/>
            <a:ext cx="2875486" cy="705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Especifica o </a:t>
            </a:r>
            <a:r>
              <a:rPr lang="en-US" sz="12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evento disparador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Pode ser INSERT, UPDATE, DELETE ou combinações como </a:t>
            </a: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AFTER INSERT, UPDATE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09233" y="4900910"/>
            <a:ext cx="404902" cy="404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96296" y="4900910"/>
            <a:ext cx="2875585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SET NOCOUNT ON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596296" y="5218311"/>
            <a:ext cx="2875585" cy="69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Evita que o SQL Server retorne mensagens de contagem de linhas, reduzindo ruído desnecessário na execução.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29973"/>
            <a:ext cx="10752067" cy="400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kern="100" spc="-25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Como Funciona a Execução Automática?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19814" y="1137444"/>
            <a:ext cx="10752067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Quando um comando DML é executado, o SQL Server segue uma sequência de etapas. O trigger </a:t>
            </a:r>
            <a:r>
              <a:rPr lang="en-US" sz="11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não é um processo separado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— ele faz parte da mesma transação da operação original.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9814" y="1638796"/>
            <a:ext cx="10752067" cy="733028"/>
          </a:xfrm>
          <a:prstGeom prst="roundRect">
            <a:avLst>
              <a:gd name="adj" fmla="val 288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88978" y="1779786"/>
            <a:ext cx="10413739" cy="451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dbo.Clientes (nome, cidade, limite_credito, data_cadastro)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('Mariana Lopes', 'Campinas', 3500, '2026-10-14');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218" y="2496145"/>
            <a:ext cx="7107159" cy="32527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84198" y="4871396"/>
            <a:ext cx="1334314" cy="46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Confirma/Desfaz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02598" y="4871396"/>
            <a:ext cx="1334313" cy="46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Trigger AFTER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630137" y="4871396"/>
            <a:ext cx="1334313" cy="46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SQL Server verifica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2921120" y="4871396"/>
            <a:ext cx="1334313" cy="46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Executa INSERT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19814" y="5873254"/>
            <a:ext cx="10752067" cy="468809"/>
          </a:xfrm>
          <a:prstGeom prst="roundRect">
            <a:avLst>
              <a:gd name="adj" fmla="val 4512"/>
            </a:avLst>
          </a:prstGeom>
          <a:solidFill>
            <a:srgbClr val="E4E4E7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800" y="6028829"/>
            <a:ext cx="176208" cy="1409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77995" y="6018907"/>
            <a:ext cx="10762485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trigger </a:t>
            </a:r>
            <a:r>
              <a:rPr lang="en-US" sz="11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não precisa de EXEC</a:t>
            </a: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Ele é disparado automaticamente pelo SQL Server sempre que o evento definido ocorrer na tabela associada.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57699"/>
            <a:ext cx="10752067" cy="52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10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As Tabelas Lógicas: </a:t>
            </a:r>
            <a:r>
              <a:rPr lang="en-US" sz="3200" b="1" kern="100" spc="-32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inserted</a:t>
            </a:r>
            <a:r>
              <a:rPr lang="en-US" sz="3200" b="1" kern="10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 e </a:t>
            </a:r>
            <a:r>
              <a:rPr lang="en-US" sz="3200" b="1" kern="100" spc="-32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9814" y="1623318"/>
            <a:ext cx="1075206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Durante a execução de um trigger DML, o SQL Server disponibiliza automaticamente duas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tabelas lógicas temporárias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com a mesma estrutura da tabela associada. Elas não são criadas pelo programador.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719814" y="2365673"/>
          <a:ext cx="10752068" cy="2823199"/>
        </p:xfrm>
        <a:graphic>
          <a:graphicData uri="http://schemas.openxmlformats.org/drawingml/2006/table">
            <a:tbl>
              <a:tblPr/>
              <a:tblGrid>
                <a:gridCol w="2688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8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8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80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17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Operação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inserted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deleted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Uso típico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8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INSERT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Novos registros inseridos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Vazia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Capturar dados recém-incluídos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8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UPDATE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Valores novos (após)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Valores anteriores (antes)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Comparar valor anterior com novo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DELETE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Vazia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Registros excluídos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Preservar dados removidos em auditoria</a:t>
                      </a:r>
                      <a:endParaRPr lang="en-US" sz="140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79977" marR="17997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62639" y="5502275"/>
            <a:ext cx="11472186" cy="539948"/>
          </a:xfrm>
          <a:prstGeom prst="roundRect">
            <a:avLst>
              <a:gd name="adj" fmla="val 3779"/>
            </a:avLst>
          </a:prstGeom>
          <a:solidFill>
            <a:srgbClr val="E4E4E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93" y="5649218"/>
            <a:ext cx="224923" cy="179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7441" y="5619898"/>
            <a:ext cx="10597091" cy="282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inserted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deleted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são tabelas lógicas gerenciadas pelo SQL Server — </a:t>
            </a:r>
            <a:r>
              <a:rPr lang="en-US" sz="14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não são tabelas permanentes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criadas pelo desenvolvedor.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67121"/>
            <a:ext cx="10752067" cy="38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100" spc="-24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Primeiro Exemplo: Trigger AFTER INSERT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9814" y="1237754"/>
            <a:ext cx="1136165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Este exemplo didático demonstra como acessar os registros recém-inseridos por meio da tabela lógica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inserted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9814" y="1541363"/>
            <a:ext cx="10752067" cy="2428875"/>
          </a:xfrm>
          <a:prstGeom prst="roundRect">
            <a:avLst>
              <a:gd name="adj" fmla="val 834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81735" y="1676301"/>
            <a:ext cx="10428225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TRIGGER dbo.trg_Clientes_Inclusao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dbo.Clientes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INSERT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NOCOUNT ON;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id, nome, cidade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inserted;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2681" y="4084042"/>
            <a:ext cx="5405699" cy="2122091"/>
          </a:xfrm>
          <a:prstGeom prst="roundRect">
            <a:avLst>
              <a:gd name="adj" fmla="val 954"/>
            </a:avLst>
          </a:prstGeom>
          <a:solidFill>
            <a:srgbClr val="2D2E34"/>
          </a:solidFill>
          <a:ln/>
        </p:spPr>
      </p:sp>
      <p:sp>
        <p:nvSpPr>
          <p:cNvPr id="7" name="Text 5"/>
          <p:cNvSpPr/>
          <p:nvPr/>
        </p:nvSpPr>
        <p:spPr>
          <a:xfrm>
            <a:off x="757615" y="4191285"/>
            <a:ext cx="5135831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Como testar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7615" y="4478139"/>
            <a:ext cx="5135831" cy="366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Execute um INSERT na tabela </a:t>
            </a:r>
            <a:r>
              <a:rPr lang="en-US" sz="1050" dirty="0">
                <a:solidFill>
                  <a:srgbClr val="FFFFFF"/>
                </a:solidFill>
                <a:highlight>
                  <a:srgbClr val="3A3B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normalmente. O trigger será disparado automaticamente — sem EXEC.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7615" y="4958854"/>
            <a:ext cx="5135831" cy="1133475"/>
          </a:xfrm>
          <a:prstGeom prst="roundRect">
            <a:avLst>
              <a:gd name="adj" fmla="val 1786"/>
            </a:avLst>
          </a:prstGeom>
          <a:solidFill>
            <a:srgbClr val="3A3B41"/>
          </a:solidFill>
          <a:ln/>
        </p:spPr>
      </p:sp>
      <p:sp>
        <p:nvSpPr>
          <p:cNvPr id="10" name="Text 8"/>
          <p:cNvSpPr/>
          <p:nvPr/>
        </p:nvSpPr>
        <p:spPr>
          <a:xfrm>
            <a:off x="919536" y="5093791"/>
            <a:ext cx="4811989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dbo.Clientes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(nome, cidade, limite_credito, data_cadastro)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('João Silva', 'São Paulo', 5000, GETDATE());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66797" y="4191285"/>
            <a:ext cx="5211434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Atenção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6797" y="4478139"/>
            <a:ext cx="5211434" cy="83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dentro do trigger é apenas </a:t>
            </a:r>
            <a:r>
              <a:rPr lang="en-US" sz="12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didático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para visualizar os dados disponíveis em sala. Em produção, triggers de auditoria devem </a:t>
            </a:r>
            <a:r>
              <a:rPr lang="en-US" sz="12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gravar em tabelas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não exibir resultados.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00889"/>
            <a:ext cx="10752067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100" spc="-31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Trigger AFTER UPDATE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719814" y="1493242"/>
            <a:ext cx="10752067" cy="512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No cenário de alteração do limite de crédito, o trigger AFTER UPDATE permite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capturar o valor anterior e o novo valor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comparando as tabelas lógicas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deleted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inserted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19814" y="2188468"/>
            <a:ext cx="10752067" cy="1435695"/>
          </a:xfrm>
          <a:prstGeom prst="roundRect">
            <a:avLst>
              <a:gd name="adj" fmla="val 178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24894" y="2359422"/>
            <a:ext cx="10341907" cy="1093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Instrução que dispara o trigger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dbo.Clientes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limite_credito = 6500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2;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9814" y="3806825"/>
            <a:ext cx="10752067" cy="1529358"/>
          </a:xfrm>
          <a:prstGeom prst="roundRect">
            <a:avLst>
              <a:gd name="adj" fmla="val 1677"/>
            </a:avLst>
          </a:prstGeom>
          <a:solidFill>
            <a:srgbClr val="F2EEEE"/>
          </a:solidFill>
          <a:ln/>
        </p:spPr>
      </p:sp>
      <p:sp>
        <p:nvSpPr>
          <p:cNvPr id="7" name="Shape 5"/>
          <p:cNvSpPr/>
          <p:nvPr/>
        </p:nvSpPr>
        <p:spPr>
          <a:xfrm>
            <a:off x="719814" y="3806825"/>
            <a:ext cx="5376033" cy="1529358"/>
          </a:xfrm>
          <a:custGeom>
            <a:avLst/>
            <a:gdLst/>
            <a:ahLst/>
            <a:cxnLst/>
            <a:rect l="l" t="t" r="r" b="b"/>
            <a:pathLst>
              <a:path w="5376033" h="1529358">
                <a:moveTo>
                  <a:pt x="21372" y="0"/>
                </a:moveTo>
                <a:lnTo>
                  <a:pt x="5376033" y="0"/>
                </a:lnTo>
                <a:lnTo>
                  <a:pt x="5376033" y="1529358"/>
                </a:lnTo>
                <a:lnTo>
                  <a:pt x="21372" y="1529358"/>
                </a:lnTo>
                <a:arcTo wR="21372" hR="21373" stAng="5400000" swAng="5400000"/>
                <a:lnTo>
                  <a:pt x="0" y="21373"/>
                </a:lnTo>
                <a:arcTo wR="21372" hR="21373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890764" y="3977779"/>
            <a:ext cx="5034134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deleted.limite_credito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0764" y="4318000"/>
            <a:ext cx="5034134" cy="847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Contém o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valor anterior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ao UPDATE — ou seja, o limite que o cliente tinha antes da alteração.</a:t>
            </a:r>
            <a:endParaRPr lang="en-US" sz="13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Use para registrar </a:t>
            </a:r>
            <a:r>
              <a:rPr lang="en-US" sz="1300" i="1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que era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antes da mudança.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95848" y="3806825"/>
            <a:ext cx="5376033" cy="1529358"/>
          </a:xfrm>
          <a:custGeom>
            <a:avLst/>
            <a:gdLst/>
            <a:ahLst/>
            <a:cxnLst/>
            <a:rect l="l" t="t" r="r" b="b"/>
            <a:pathLst>
              <a:path w="5376033" h="1529358">
                <a:moveTo>
                  <a:pt x="0" y="0"/>
                </a:moveTo>
                <a:lnTo>
                  <a:pt x="5354661" y="0"/>
                </a:lnTo>
                <a:arcTo wR="21372" hR="21373" stAng="16200000" swAng="5400000"/>
                <a:lnTo>
                  <a:pt x="5376033" y="1507985"/>
                </a:lnTo>
                <a:arcTo wR="21372" hR="21373" stAng="0" swAng="5400000"/>
                <a:lnTo>
                  <a:pt x="0" y="1529358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1" name="Shape 9"/>
          <p:cNvSpPr/>
          <p:nvPr/>
        </p:nvSpPr>
        <p:spPr>
          <a:xfrm>
            <a:off x="6095848" y="3806825"/>
            <a:ext cx="19050" cy="1529358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6797" y="3977779"/>
            <a:ext cx="5034134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inserted.limite_credito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66797" y="4318000"/>
            <a:ext cx="5034134" cy="847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Contém o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novo valor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definido pelo UPDATE — o limite atualizado do cliente.</a:t>
            </a:r>
            <a:endParaRPr lang="en-US" sz="13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Use para registrar </a:t>
            </a:r>
            <a:r>
              <a:rPr lang="en-US" sz="1300" i="1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que passou a ser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após a mudança.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9814" y="5518845"/>
            <a:ext cx="10752067" cy="656530"/>
          </a:xfrm>
          <a:prstGeom prst="roundRect">
            <a:avLst>
              <a:gd name="adj" fmla="val 3906"/>
            </a:avLst>
          </a:prstGeom>
          <a:solidFill>
            <a:srgbClr val="E4E4E7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764" y="5745758"/>
            <a:ext cx="213712" cy="17095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75425" y="5723930"/>
            <a:ext cx="10635091" cy="262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Em um UPDATE, as duas tabelas lógicas são relacionadas pela </a:t>
            </a:r>
            <a:r>
              <a:rPr lang="en-US" sz="13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chave primária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do registro: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 i.id = d.id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869205"/>
            <a:ext cx="10752067" cy="460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kern="100" spc="-29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Trigger AFTER DELETE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19814" y="1687636"/>
            <a:ext cx="5178494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 operação de exclusão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9814" y="2072382"/>
            <a:ext cx="5178494" cy="842169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14179" y="2234307"/>
            <a:ext cx="4789765" cy="518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dbo.Clientes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2;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19814" y="3078460"/>
            <a:ext cx="5178494" cy="718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Quando esse comando é executado e existe um trigger AFTER DELETE associado à tabela </a:t>
            </a: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os registros excluídos ficam disponíveis em </a:t>
            </a: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deleted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9814" y="3951411"/>
            <a:ext cx="5178494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 que fazer com deleted?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9814" y="4318000"/>
            <a:ext cx="5178494" cy="794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254000" indent="-254000" algn="l">
              <a:lnSpc>
                <a:spcPct val="11900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Registrar em uma tabela de auditoria quais clientes foram excluídos</a:t>
            </a:r>
            <a:endParaRPr lang="en-US" sz="1250" dirty="0"/>
          </a:p>
          <a:p>
            <a:pPr marL="254000" indent="-254000" algn="l">
              <a:lnSpc>
                <a:spcPct val="11900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Preservar informações relevantes como nome, cidade e limite anterior</a:t>
            </a:r>
            <a:endParaRPr lang="en-US" sz="1250" dirty="0"/>
          </a:p>
          <a:p>
            <a:pPr marL="254000" indent="-254000" algn="l">
              <a:lnSpc>
                <a:spcPct val="119000"/>
              </a:lnSpc>
              <a:buSzPct val="100000"/>
              <a:buChar char="•"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Registrar data, hora e — se necessário — qual usuário realizou a exclusão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83158" y="1532731"/>
            <a:ext cx="5411652" cy="4471095"/>
          </a:xfrm>
          <a:prstGeom prst="roundRect">
            <a:avLst>
              <a:gd name="adj" fmla="val 543"/>
            </a:avLst>
          </a:prstGeom>
          <a:solidFill>
            <a:srgbClr val="2D2E34"/>
          </a:solidFill>
          <a:ln/>
        </p:spPr>
      </p:sp>
      <p:sp>
        <p:nvSpPr>
          <p:cNvPr id="10" name="Text 8"/>
          <p:cNvSpPr/>
          <p:nvPr/>
        </p:nvSpPr>
        <p:spPr>
          <a:xfrm>
            <a:off x="6345079" y="1687636"/>
            <a:ext cx="5087810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Estrutura de um trigger AFTER DELETE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45079" y="2072382"/>
            <a:ext cx="5087810" cy="3174603"/>
          </a:xfrm>
          <a:prstGeom prst="roundRect">
            <a:avLst>
              <a:gd name="adj" fmla="val 765"/>
            </a:avLst>
          </a:prstGeom>
          <a:solidFill>
            <a:srgbClr val="3A3B4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9443" y="2234307"/>
            <a:ext cx="4699081" cy="285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TRIGGER dbo.trg_Clientes_Exclusao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dbo.Clientes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DELETE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NOCOUNT ON;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 deleted contém os registros removidos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id, nome, cidade, limite_credito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deleted;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45079" y="5410895"/>
            <a:ext cx="5087810" cy="461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trigger </a:t>
            </a:r>
            <a:r>
              <a:rPr lang="en-US" sz="1250" b="1" dirty="0">
                <a:solidFill>
                  <a:srgbClr val="FFFFFF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não precisa impedir a exclusão</a:t>
            </a:r>
            <a:r>
              <a:rPr lang="en-US" sz="125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— ele pode simplesmente </a:t>
            </a:r>
            <a:r>
              <a:rPr lang="en-US" sz="1250" b="1" dirty="0">
                <a:solidFill>
                  <a:srgbClr val="FFFFFF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registrar a operação</a:t>
            </a:r>
            <a:r>
              <a:rPr lang="en-US" sz="125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para fins de auditoria.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98053"/>
            <a:ext cx="10752067" cy="460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kern="100" spc="-29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Criando a Tabela de Auditoria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19814" y="1434505"/>
            <a:ext cx="10752067" cy="47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Antes de criar o trigger de auditoria, é necessário criar a tabela que armazenará o histórico de alterações. Ela é </a:t>
            </a:r>
            <a:r>
              <a:rPr lang="en-US" sz="12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separada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da tabela </a:t>
            </a: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para não interferir nos dados operacionais: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9814" y="2072878"/>
            <a:ext cx="10752067" cy="2915444"/>
          </a:xfrm>
          <a:prstGeom prst="roundRect">
            <a:avLst>
              <a:gd name="adj" fmla="val 833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14179" y="2234803"/>
            <a:ext cx="10363338" cy="2591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dbo.AuditoriaLimiteCredito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id_auditoria   INT           IDENTITY(1,1) PRIMARY KEY,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id_cliente     INT           NOT NULL,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nome_cliente   VARCHAR(100)  NOT NULL,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limite_anterior DECIMAL(10,2) NOT NULL,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limite_novo    DECIMAL(10,2) NOT NULL,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data_alteracao DATETIME2     NOT NULL DEFAULT SYSDATETIME()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5152231"/>
            <a:ext cx="404902" cy="404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6877" y="5152231"/>
            <a:ext cx="2875486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id_auditoria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06877" y="5469632"/>
            <a:ext cx="2875486" cy="69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Chave primária auto-incremental que identifica unicamente cada registro de auditoria.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4524" y="5152231"/>
            <a:ext cx="404902" cy="404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51586" y="5152231"/>
            <a:ext cx="2875486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limite_anterior / limite_novo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51586" y="5469632"/>
            <a:ext cx="2875486" cy="69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Armazenam os valores antes e depois da alteração, permitindo rastrear a mudança exata.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09233" y="5152231"/>
            <a:ext cx="404902" cy="404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96296" y="5152231"/>
            <a:ext cx="2875585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data_alteracao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596296" y="5469632"/>
            <a:ext cx="2875585" cy="705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SYSDATETIME()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registra automaticamente o momento exato da alteração com alta precisão.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78064"/>
            <a:ext cx="10752067" cy="35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kern="100" spc="-23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Trigger de Auditoria Completo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719814" y="1096963"/>
            <a:ext cx="11361652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Com a tabela criada, implementamos o trigger que registra automaticamente alterações no limite de crédito: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19814" y="1356717"/>
            <a:ext cx="10752067" cy="4082455"/>
          </a:xfrm>
          <a:prstGeom prst="roundRect">
            <a:avLst>
              <a:gd name="adj" fmla="val 463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70920" y="1482626"/>
            <a:ext cx="10449854" cy="3830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TRIGGER dbo.trg_AuditarLimiteCredito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dbo.Clientes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UPDATE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NOCOUNT ON;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 INTO dbo.AuditoriaLimiteCredito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(id_cliente, nome_cliente, limite_anterior, limite_novo, data_alteracao)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i.id,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i.nome,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d.limite_credito,   -- valor ANTES (tabela deleted)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i.limite_credito,   -- valor DEPOIS (tabela inserted)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SYSDATETIME()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inserted AS i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INNER JOIN deleted AS d ON i.id = d.id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i.limite_credito &lt;&gt; d.limite_credito; -- só registra se mudou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19814" y="5538291"/>
            <a:ext cx="283461" cy="28346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775623" y="5572621"/>
            <a:ext cx="171743" cy="214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1379" y="5581551"/>
            <a:ext cx="3138905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100" spc="-11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JOIN entre inserted e deleted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1379" y="5813326"/>
            <a:ext cx="3138905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Relaciona valores novos e antigos pela chave primária </a:t>
            </a:r>
            <a:r>
              <a:rPr lang="en-US" sz="9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9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garantindo que os pares sejam corretos.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40513" y="5538291"/>
            <a:ext cx="283461" cy="28346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396322" y="5572621"/>
            <a:ext cx="171743" cy="214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12078" y="5581551"/>
            <a:ext cx="3139004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100" spc="-11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Filtro WHERE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12078" y="5813326"/>
            <a:ext cx="3139004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Registra somente quando o limite efetivamente mudou — evitando registros desnecessários em updates que não alteram o limite.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61312" y="5538291"/>
            <a:ext cx="283461" cy="28346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8017121" y="5572621"/>
            <a:ext cx="171743" cy="214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32877" y="5581551"/>
            <a:ext cx="3139004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100" spc="-11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INSERT ... SELECT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32877" y="5813326"/>
            <a:ext cx="3139004" cy="321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Permite registrar </a:t>
            </a:r>
            <a:r>
              <a:rPr lang="en-US" sz="9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várias linhas de uma só vez</a:t>
            </a:r>
            <a:r>
              <a:rPr lang="en-US" sz="9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caso o UPDATE afete múltiplos clientes simultaneamente.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79883"/>
            <a:ext cx="10752067" cy="460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kern="100" spc="-29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Testando a Auditoria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603235" y="1243409"/>
            <a:ext cx="5411652" cy="5049738"/>
          </a:xfrm>
          <a:prstGeom prst="roundRect">
            <a:avLst>
              <a:gd name="adj" fmla="val 481"/>
            </a:avLst>
          </a:prstGeom>
          <a:solidFill>
            <a:srgbClr val="2D2E34"/>
          </a:solidFill>
          <a:ln/>
        </p:spPr>
      </p:sp>
      <p:sp>
        <p:nvSpPr>
          <p:cNvPr id="4" name="Text 2"/>
          <p:cNvSpPr/>
          <p:nvPr/>
        </p:nvSpPr>
        <p:spPr>
          <a:xfrm>
            <a:off x="765156" y="1398314"/>
            <a:ext cx="5087810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Comandos de teste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5156" y="1783060"/>
            <a:ext cx="5087810" cy="2656284"/>
          </a:xfrm>
          <a:prstGeom prst="roundRect">
            <a:avLst>
              <a:gd name="adj" fmla="val 915"/>
            </a:avLst>
          </a:prstGeom>
          <a:solidFill>
            <a:srgbClr val="3A3B41"/>
          </a:solidFill>
          <a:ln/>
        </p:spPr>
      </p:sp>
      <p:sp>
        <p:nvSpPr>
          <p:cNvPr id="6" name="Text 4"/>
          <p:cNvSpPr/>
          <p:nvPr/>
        </p:nvSpPr>
        <p:spPr>
          <a:xfrm>
            <a:off x="959521" y="1944985"/>
            <a:ext cx="4699081" cy="2332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-- 1. Alterar o limite do cliente de id = 2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dbo.Clientes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limite_credito = 6500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2;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-- 2. Consultar o histórico de auditoria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dbo.AuditoriaLimiteCredito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id_auditoria DESC;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99737" y="1398314"/>
            <a:ext cx="5178494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 que verificar no resultado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0457" y="1788071"/>
            <a:ext cx="242881" cy="242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26079" y="1783060"/>
            <a:ext cx="4652152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Identificação do cliente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26079" y="2158802"/>
            <a:ext cx="4652152" cy="47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</a:t>
            </a: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id_cliente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</a:t>
            </a: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nome_cliente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devem corresponder ao registro alterado.</a:t>
            </a:r>
            <a:endParaRPr lang="en-US" sz="12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0457" y="2929781"/>
            <a:ext cx="242881" cy="242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26079" y="2924770"/>
            <a:ext cx="4652152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Valores de limite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826079" y="3300512"/>
            <a:ext cx="4652152" cy="47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limite_anterior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deve conter o valor original; </a:t>
            </a: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limite_novo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deve exibir 6500.</a:t>
            </a:r>
            <a:endParaRPr lang="en-US" sz="12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0457" y="4071491"/>
            <a:ext cx="242881" cy="242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26079" y="4066480"/>
            <a:ext cx="4652152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Data e hora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826079" y="4442222"/>
            <a:ext cx="4652152" cy="47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data_alteracao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deve refletir o momento exato em que o UPDATE foi executado.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299737" y="5080595"/>
            <a:ext cx="5178494" cy="1048643"/>
          </a:xfrm>
          <a:prstGeom prst="roundRect">
            <a:avLst>
              <a:gd name="adj" fmla="val 2317"/>
            </a:avLst>
          </a:prstGeom>
          <a:solidFill>
            <a:srgbClr val="B6D6FC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658" y="5290245"/>
            <a:ext cx="202401" cy="1619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25980" y="5252244"/>
            <a:ext cx="4490330" cy="705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Os dados na tabela de auditoria dependem das operações realizadas no seu ambiente de teste. Certifique-se de que o cliente de </a:t>
            </a:r>
            <a:r>
              <a:rPr lang="en-US" sz="12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 = 2</a:t>
            </a:r>
            <a:r>
              <a:rPr lang="en-US" sz="125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existe e tem um limite diferente de 6500.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73769"/>
            <a:ext cx="10752067" cy="38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100" spc="-24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Impedindo uma Operação Inválida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9814" y="1244402"/>
            <a:ext cx="1136165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 trigger pode </a:t>
            </a:r>
            <a:r>
              <a:rPr lang="en-US" sz="10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rejeitar operações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que violam regras de negócio. Neste exemplo, impedimos que um limite de crédito negativo seja gravado na tabela </a:t>
            </a:r>
            <a:r>
              <a:rPr lang="en-US" sz="10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: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19814" y="1548011"/>
            <a:ext cx="10752067" cy="3508375"/>
          </a:xfrm>
          <a:prstGeom prst="roundRect">
            <a:avLst>
              <a:gd name="adj" fmla="val 57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81735" y="1682948"/>
            <a:ext cx="10428225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TRIGGER dbo.trg_ValidarLimiteCredito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dbo.Clientes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INSERT, UPDATE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NOCOUNT ON;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EXISTS (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SELECT 1 FROM inserted WHERE limite_credito &lt; 0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BEGIN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50001,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'O limite de crédito não pode ser negativo.', 1;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9814" y="5277432"/>
            <a:ext cx="5211434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Como funciona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9814" y="5564287"/>
            <a:ext cx="5211434" cy="544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comando </a:t>
            </a:r>
            <a:r>
              <a:rPr lang="en-US" sz="10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lança um erro com código e mensagem personalizados. Um erro não tratado </a:t>
            </a:r>
            <a:r>
              <a:rPr lang="en-US" sz="10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cancela a instrução e reverte seus efeitos transacionais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incluindo os efeitos do próprio trigger.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69664" y="5170190"/>
            <a:ext cx="5405699" cy="1029196"/>
          </a:xfrm>
          <a:prstGeom prst="roundRect">
            <a:avLst>
              <a:gd name="adj" fmla="val 1967"/>
            </a:avLst>
          </a:prstGeom>
          <a:solidFill>
            <a:srgbClr val="2D2E34"/>
          </a:solidFill>
          <a:ln/>
        </p:spPr>
      </p:sp>
      <p:sp>
        <p:nvSpPr>
          <p:cNvPr id="9" name="Text 7"/>
          <p:cNvSpPr/>
          <p:nvPr/>
        </p:nvSpPr>
        <p:spPr>
          <a:xfrm>
            <a:off x="6304599" y="5277432"/>
            <a:ext cx="5135831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⚠️</a:t>
            </a:r>
            <a:r>
              <a:rPr lang="en-US" sz="1200" b="1" kern="100" spc="-12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 Atenção pedagógica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4599" y="5564287"/>
            <a:ext cx="5135831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Para uma regra simples como esta, uma </a:t>
            </a:r>
            <a:r>
              <a:rPr lang="en-US" sz="1050" b="1" dirty="0">
                <a:solidFill>
                  <a:srgbClr val="FFFFFF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restrição CHECK</a:t>
            </a: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é mais direta e adequada. O trigger é apresentado aqui para ensinar o mecanismo de validação — não como recomendação primária para esse caso específico.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23126"/>
            <a:ext cx="10752067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kern="100" spc="-2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Um Trigger Pode Afetar Várias Linhas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719814" y="1247180"/>
            <a:ext cx="10752067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Triggers DML no SQL Server são executados </a:t>
            </a:r>
            <a:r>
              <a:rPr lang="en-US" sz="11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uma vez por instrução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não uma vez por linha. Isso significa que </a:t>
            </a:r>
            <a:r>
              <a:rPr lang="en-US" sz="11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inserted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</a:t>
            </a:r>
            <a:r>
              <a:rPr lang="en-US" sz="11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deleted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podem conter </a:t>
            </a:r>
            <a:r>
              <a:rPr lang="en-US" sz="11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múltiplos registros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numa única execução.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9814" y="1771650"/>
            <a:ext cx="10752067" cy="1209080"/>
          </a:xfrm>
          <a:prstGeom prst="roundRect">
            <a:avLst>
              <a:gd name="adj" fmla="val 178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92550" y="1915616"/>
            <a:ext cx="10406596" cy="92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Esta instrução pode afetar VÁRIOS clientes ao mesmo tempo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dbo.Clientes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limite_credito = limite_credito + 500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cidade = 'Campinas';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9814" y="3110309"/>
            <a:ext cx="10752067" cy="2518966"/>
          </a:xfrm>
          <a:prstGeom prst="roundRect">
            <a:avLst>
              <a:gd name="adj" fmla="val 857"/>
            </a:avLst>
          </a:prstGeom>
          <a:solidFill>
            <a:srgbClr val="F2EEEE"/>
          </a:solidFill>
          <a:ln/>
        </p:spPr>
      </p:sp>
      <p:sp>
        <p:nvSpPr>
          <p:cNvPr id="7" name="Shape 5"/>
          <p:cNvSpPr/>
          <p:nvPr/>
        </p:nvSpPr>
        <p:spPr>
          <a:xfrm>
            <a:off x="719814" y="3110309"/>
            <a:ext cx="5376033" cy="2518966"/>
          </a:xfrm>
          <a:custGeom>
            <a:avLst/>
            <a:gdLst/>
            <a:ahLst/>
            <a:cxnLst/>
            <a:rect l="l" t="t" r="r" b="b"/>
            <a:pathLst>
              <a:path w="5376033" h="2518966">
                <a:moveTo>
                  <a:pt x="17998" y="0"/>
                </a:moveTo>
                <a:lnTo>
                  <a:pt x="5376033" y="0"/>
                </a:lnTo>
                <a:lnTo>
                  <a:pt x="5376033" y="2518966"/>
                </a:lnTo>
                <a:lnTo>
                  <a:pt x="17998" y="2518966"/>
                </a:lnTo>
                <a:arcTo wR="17998" hR="17998" stAng="5400000" swAng="5400000"/>
                <a:lnTo>
                  <a:pt x="0" y="17998"/>
                </a:lnTo>
                <a:arcTo wR="17998" hR="17998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863777" y="3254276"/>
            <a:ext cx="5088108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❌</a:t>
            </a:r>
            <a:r>
              <a:rPr lang="en-US" sz="1250" b="1" kern="10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 Abordagem Inadequada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3777" y="3527822"/>
            <a:ext cx="5088108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Atribuir o resultado de uma consulta a uma </a:t>
            </a:r>
            <a:r>
              <a:rPr lang="en-US" sz="11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única variável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presumir que só existe um registro afetado: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3777" y="4045942"/>
            <a:ext cx="5088108" cy="1209080"/>
          </a:xfrm>
          <a:prstGeom prst="roundRect">
            <a:avLst>
              <a:gd name="adj" fmla="val 1786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1036512" y="4189909"/>
            <a:ext cx="4742637" cy="92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@id INT;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@id = id FROM inserted;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Se houver mais de uma linha,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 valor de @id será imprevisível!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95848" y="3110309"/>
            <a:ext cx="5376033" cy="2518966"/>
          </a:xfrm>
          <a:custGeom>
            <a:avLst/>
            <a:gdLst/>
            <a:ahLst/>
            <a:cxnLst/>
            <a:rect l="l" t="t" r="r" b="b"/>
            <a:pathLst>
              <a:path w="5376033" h="2518966">
                <a:moveTo>
                  <a:pt x="0" y="0"/>
                </a:moveTo>
                <a:lnTo>
                  <a:pt x="5358036" y="0"/>
                </a:lnTo>
                <a:arcTo wR="17998" hR="17998" stAng="16200000" swAng="5400000"/>
                <a:lnTo>
                  <a:pt x="5376033" y="2500967"/>
                </a:lnTo>
                <a:arcTo wR="17998" hR="17998" stAng="0" swAng="5400000"/>
                <a:lnTo>
                  <a:pt x="0" y="2518966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5848" y="3110309"/>
            <a:ext cx="19050" cy="251896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4" name="Text 12"/>
          <p:cNvSpPr/>
          <p:nvPr/>
        </p:nvSpPr>
        <p:spPr>
          <a:xfrm>
            <a:off x="6239810" y="3254276"/>
            <a:ext cx="5088108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✅</a:t>
            </a:r>
            <a:r>
              <a:rPr lang="en-US" sz="1250" b="1" kern="10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 Abordagem Recomendada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39810" y="3527822"/>
            <a:ext cx="5088108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Utilizar </a:t>
            </a:r>
            <a:r>
              <a:rPr lang="en-US" sz="11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instruções orientadas a conjuntos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que processam todas as linhas de uma vez: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39810" y="4045942"/>
            <a:ext cx="5088108" cy="1439366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6412546" y="4189909"/>
            <a:ext cx="4742637" cy="1151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dbo.AuditoriaLimiteCredito (...)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i.id, i.nome, d.limite_credito,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i.limite_credito, SYSDATETIME()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inserted AS i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deleted AS d ON i.id = d.id;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9814" y="5758855"/>
            <a:ext cx="10752067" cy="491133"/>
          </a:xfrm>
          <a:prstGeom prst="roundRect">
            <a:avLst>
              <a:gd name="adj" fmla="val 4397"/>
            </a:avLst>
          </a:prstGeom>
          <a:solidFill>
            <a:srgbClr val="E4E4E7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77" y="5917208"/>
            <a:ext cx="179879" cy="14396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87619" y="5909866"/>
            <a:ext cx="10749884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trigger de auditoria do slide anterior já foi escrito para tratar corretamente múltiplas linhas com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 ... SELECT</a:t>
            </a: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036645"/>
            <a:ext cx="10752067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100" spc="-31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Cuidados e Problemas Comuns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1828998"/>
            <a:ext cx="5294775" cy="12327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6011" y="2019002"/>
            <a:ext cx="4838579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Nunca presuma uma única linha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86011" y="2359223"/>
            <a:ext cx="4838579" cy="49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instrução disparadora pode afetar zero, uma ou muitas linhas. Sempre escreva lógica orientada a conjuntos.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7006" y="1828998"/>
            <a:ext cx="5294875" cy="12327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43204" y="2019002"/>
            <a:ext cx="4838678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Evite recursão e dependências circulares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443204" y="2359223"/>
            <a:ext cx="4838678" cy="512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 trigger que modifica sua própria tabela pode se auto-disparar. Verifique a configuração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RECURSIVE_TRIGGERS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do banco.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814" y="3224213"/>
            <a:ext cx="5294775" cy="122009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6011" y="3414216"/>
            <a:ext cx="4838579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Considere impacto em desempenho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986011" y="3754438"/>
            <a:ext cx="4838579" cy="49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Triggers executam dentro da transação original — operações pesadas dentro do trigger aumentam o tempo de bloqueio.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7006" y="3224213"/>
            <a:ext cx="5294875" cy="122009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43204" y="3414216"/>
            <a:ext cx="4838678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Erros revertem a operação original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6443204" y="3754438"/>
            <a:ext cx="4838678" cy="49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 erro não tratado no trigger pode reverter o INSERT ou UPDATE que o disparou. Trate exceções com cuidado.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4606727"/>
            <a:ext cx="5294775" cy="123279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86011" y="4796730"/>
            <a:ext cx="4838579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Não duplique restrições existentes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986011" y="5136952"/>
            <a:ext cx="4838579" cy="512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Regras já cobertas por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FOREIGN KEY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ou lógica da aplicação não devem ser replicadas em triggers sem necessidade.</a:t>
            </a:r>
            <a:endParaRPr lang="en-US" sz="13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7006" y="4606727"/>
            <a:ext cx="5294875" cy="123279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443204" y="4796730"/>
            <a:ext cx="4838678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Use triggers com propósito real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6443204" y="5136952"/>
            <a:ext cx="4838678" cy="49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Triggers são poderosos, mas devem ser usados quando existe necessidade genuína de reação automática a eventos do banco.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18095"/>
            <a:ext cx="10752067" cy="38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100" spc="-24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Como Consultar, Alterar e Excluir Triggers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9814" y="1088727"/>
            <a:ext cx="11361652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SQL Server oferece comandos simples para gerenciar o ciclo de vida dos triggers diretamente via T-SQL: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22681" y="1379637"/>
            <a:ext cx="5405699" cy="4975423"/>
          </a:xfrm>
          <a:prstGeom prst="roundRect">
            <a:avLst>
              <a:gd name="adj" fmla="val 407"/>
            </a:avLst>
          </a:prstGeom>
          <a:solidFill>
            <a:srgbClr val="2D2E34"/>
          </a:solidFill>
          <a:ln/>
        </p:spPr>
      </p:sp>
      <p:sp>
        <p:nvSpPr>
          <p:cNvPr id="5" name="Text 3"/>
          <p:cNvSpPr/>
          <p:nvPr/>
        </p:nvSpPr>
        <p:spPr>
          <a:xfrm>
            <a:off x="757615" y="1486879"/>
            <a:ext cx="5135831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Consultar a definição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7615" y="1786334"/>
            <a:ext cx="5135831" cy="701675"/>
          </a:xfrm>
          <a:prstGeom prst="roundRect">
            <a:avLst>
              <a:gd name="adj" fmla="val 2886"/>
            </a:avLst>
          </a:prstGeom>
          <a:solidFill>
            <a:srgbClr val="3A3B41"/>
          </a:solidFill>
          <a:ln/>
        </p:spPr>
      </p:sp>
      <p:sp>
        <p:nvSpPr>
          <p:cNvPr id="7" name="Text 5"/>
          <p:cNvSpPr/>
          <p:nvPr/>
        </p:nvSpPr>
        <p:spPr>
          <a:xfrm>
            <a:off x="919536" y="1921272"/>
            <a:ext cx="481198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sp_helptext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'dbo.trg_AuditarLimiteCredito';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7615" y="2607853"/>
            <a:ext cx="5135831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Alterar o trigger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7615" y="2907308"/>
            <a:ext cx="5135831" cy="2212975"/>
          </a:xfrm>
          <a:prstGeom prst="roundRect">
            <a:avLst>
              <a:gd name="adj" fmla="val 915"/>
            </a:avLst>
          </a:prstGeom>
          <a:solidFill>
            <a:srgbClr val="3A3B41"/>
          </a:solidFill>
          <a:ln/>
        </p:spPr>
      </p:sp>
      <p:sp>
        <p:nvSpPr>
          <p:cNvPr id="10" name="Text 8"/>
          <p:cNvSpPr/>
          <p:nvPr/>
        </p:nvSpPr>
        <p:spPr>
          <a:xfrm>
            <a:off x="919536" y="3042245"/>
            <a:ext cx="4811989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TRIGGER dbo.trg_AuditarLimiteCredito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dbo.Clientes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UPDATE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NOCOUNT ON;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 Nova definição completa do trigger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7615" y="5240126"/>
            <a:ext cx="5135831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Excluir o trigger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7615" y="5539581"/>
            <a:ext cx="5135831" cy="701675"/>
          </a:xfrm>
          <a:prstGeom prst="roundRect">
            <a:avLst>
              <a:gd name="adj" fmla="val 2886"/>
            </a:avLst>
          </a:prstGeom>
          <a:solidFill>
            <a:srgbClr val="3A3B41"/>
          </a:solidFill>
          <a:ln/>
        </p:spPr>
      </p:sp>
      <p:sp>
        <p:nvSpPr>
          <p:cNvPr id="13" name="Text 11"/>
          <p:cNvSpPr/>
          <p:nvPr/>
        </p:nvSpPr>
        <p:spPr>
          <a:xfrm>
            <a:off x="919536" y="5674519"/>
            <a:ext cx="481198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TRIGGER dbo.trg_AuditarLimiteCredito;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66797" y="1486879"/>
            <a:ext cx="5211434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Pontos importantes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6797" y="1786334"/>
            <a:ext cx="303701" cy="30370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6326575" y="1823095"/>
            <a:ext cx="184046" cy="230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1699" y="1832670"/>
            <a:ext cx="4806532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ALTER requer a definição completa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1699" y="2125563"/>
            <a:ext cx="4806532" cy="366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corpo do </a:t>
            </a:r>
            <a:r>
              <a:rPr lang="en-US" sz="10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ALTER TRIGGER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deve conter </a:t>
            </a:r>
            <a:r>
              <a:rPr lang="en-US" sz="10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toda a nova lógica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desejada — não apenas as partes alteradas.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6797" y="2694880"/>
            <a:ext cx="303701" cy="30370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6326575" y="2731641"/>
            <a:ext cx="184046" cy="230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1699" y="2741216"/>
            <a:ext cx="4806532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Object Explorer do SSMS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1699" y="3034109"/>
            <a:ext cx="4806532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Também é possível visualizar, modificar e excluir triggers pela interface gráfica do </a:t>
            </a:r>
            <a:r>
              <a:rPr lang="en-US" sz="10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SQL Server Management Studio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em Tabela → Triggers.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6797" y="3590727"/>
            <a:ext cx="303701" cy="30370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4" name="Text 22"/>
          <p:cNvSpPr/>
          <p:nvPr/>
        </p:nvSpPr>
        <p:spPr>
          <a:xfrm>
            <a:off x="6326575" y="3627487"/>
            <a:ext cx="184046" cy="230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71699" y="3637062"/>
            <a:ext cx="4806532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sys.triggers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1699" y="3929955"/>
            <a:ext cx="4806532" cy="366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view do sistema </a:t>
            </a:r>
            <a:r>
              <a:rPr lang="en-US" sz="10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sys.triggers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lista todos os triggers do banco com metadados como nome, tipo e tabela associada.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75613"/>
            <a:ext cx="10752067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kern="100" spc="-2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Desafio Prático: Auditoria de Alterações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719814" y="1124611"/>
            <a:ext cx="10752067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Atividade individual ou em dupla — SQL Server Management Studio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16133" y="1492647"/>
            <a:ext cx="5407783" cy="4704953"/>
          </a:xfrm>
          <a:prstGeom prst="roundRect">
            <a:avLst>
              <a:gd name="adj" fmla="val 459"/>
            </a:avLst>
          </a:prstGeom>
          <a:solidFill>
            <a:srgbClr val="2D2E34"/>
          </a:solidFill>
          <a:ln/>
        </p:spPr>
      </p:sp>
      <p:sp>
        <p:nvSpPr>
          <p:cNvPr id="5" name="Text 3"/>
          <p:cNvSpPr/>
          <p:nvPr/>
        </p:nvSpPr>
        <p:spPr>
          <a:xfrm>
            <a:off x="760096" y="1616934"/>
            <a:ext cx="5119857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🎯</a:t>
            </a:r>
            <a:r>
              <a:rPr lang="en-US" sz="1250" b="1" kern="100" spc="-13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 Objetivo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0096" y="1927324"/>
            <a:ext cx="5119857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Registrar automaticamente alterações no limite de crédito dos clientes, utilizando triggers DML na tabela </a:t>
            </a:r>
            <a:r>
              <a:rPr lang="en-US" sz="1100" dirty="0">
                <a:solidFill>
                  <a:srgbClr val="FFFFFF"/>
                </a:solidFill>
                <a:highlight>
                  <a:srgbClr val="3A3B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0096" y="2446502"/>
            <a:ext cx="5119857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📋</a:t>
            </a:r>
            <a:r>
              <a:rPr lang="en-US" sz="1250" b="1" kern="100" spc="-13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 Tarefas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0096" y="2756892"/>
            <a:ext cx="5119857" cy="177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1300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Criar a tabela </a:t>
            </a:r>
            <a:r>
              <a:rPr lang="en-US" sz="1100" dirty="0">
                <a:solidFill>
                  <a:srgbClr val="FFFFFF"/>
                </a:solidFill>
                <a:highlight>
                  <a:srgbClr val="3A3B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AuditoriaLimiteCredito</a:t>
            </a: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com campos para cliente, valor anterior, valor novo e data da alteração</a:t>
            </a:r>
            <a:endParaRPr lang="en-US" sz="1100" dirty="0"/>
          </a:p>
          <a:p>
            <a:pPr marL="223520" indent="-223520" algn="l">
              <a:lnSpc>
                <a:spcPct val="11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Criar um trigger </a:t>
            </a:r>
            <a:r>
              <a:rPr lang="en-US" sz="1100" dirty="0">
                <a:solidFill>
                  <a:srgbClr val="FFFFFF"/>
                </a:solidFill>
                <a:highlight>
                  <a:srgbClr val="3A3B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AFTER UPDATE</a:t>
            </a: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na tabela </a:t>
            </a:r>
            <a:r>
              <a:rPr lang="en-US" sz="1100" dirty="0">
                <a:solidFill>
                  <a:srgbClr val="FFFFFF"/>
                </a:solidFill>
                <a:highlight>
                  <a:srgbClr val="3A3B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endParaRPr lang="en-US" sz="1100" dirty="0"/>
          </a:p>
          <a:p>
            <a:pPr marL="223520" indent="-223520" algn="l">
              <a:lnSpc>
                <a:spcPct val="11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Usar </a:t>
            </a:r>
            <a:r>
              <a:rPr lang="en-US" sz="1100" dirty="0">
                <a:solidFill>
                  <a:srgbClr val="FFFFFF"/>
                </a:solidFill>
                <a:highlight>
                  <a:srgbClr val="3A3B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inserted</a:t>
            </a: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</a:t>
            </a:r>
            <a:r>
              <a:rPr lang="en-US" sz="1100" dirty="0">
                <a:solidFill>
                  <a:srgbClr val="FFFFFF"/>
                </a:solidFill>
                <a:highlight>
                  <a:srgbClr val="3A3B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deleted</a:t>
            </a: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para capturar os valores novos e anteriores</a:t>
            </a:r>
            <a:endParaRPr lang="en-US" sz="1100" dirty="0"/>
          </a:p>
          <a:p>
            <a:pPr marL="223520" indent="-223520" algn="l">
              <a:lnSpc>
                <a:spcPct val="113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Registrar apenas alterações em que o limite de crédito realmente mudou</a:t>
            </a:r>
            <a:endParaRPr lang="en-US" sz="1100" dirty="0"/>
          </a:p>
          <a:p>
            <a:pPr marL="223520" indent="-223520" algn="l">
              <a:lnSpc>
                <a:spcPct val="11300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Atualizar o limite de um cliente e consultar a tabela de auditoria</a:t>
            </a:r>
            <a:endParaRPr lang="en-US" sz="1100" dirty="0"/>
          </a:p>
          <a:p>
            <a:pPr marL="223520" indent="-223520" algn="l">
              <a:lnSpc>
                <a:spcPct val="113000"/>
              </a:lnSpc>
              <a:buSzPct val="100000"/>
              <a:buFont typeface="+mj-lt"/>
              <a:buAutoNum type="arabicPeriod" startAt="6"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Realizar uma atualização em massa (por cidade) e verificar se todas as alterações foram registradas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77810" y="1616934"/>
            <a:ext cx="5200421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⚠️</a:t>
            </a:r>
            <a:r>
              <a:rPr lang="en-US" sz="1250" b="1" kern="100" spc="-13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 Requisitos importantes</a:t>
            </a:r>
            <a:endParaRPr lang="en-US" sz="12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1784" y="1946225"/>
            <a:ext cx="215895" cy="2159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45714" y="1941810"/>
            <a:ext cx="4732517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Compatibilidade T-SQL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745714" y="2261394"/>
            <a:ext cx="4732517" cy="194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Utilize sintaxe compatível com </a:t>
            </a:r>
            <a:r>
              <a:rPr lang="en-US" sz="11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SQL Server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Não use funções de outros SGBDs.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1784" y="2690366"/>
            <a:ext cx="215895" cy="215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45714" y="2685951"/>
            <a:ext cx="4732517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Múltiplas linhas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745714" y="3005534"/>
            <a:ext cx="4732517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Não presuma que o UPDATE afeta apenas um cliente. Escreva lógica orientada a conjuntos.</a:t>
            </a:r>
            <a:endParaRPr lang="en-US" sz="11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1784" y="3628777"/>
            <a:ext cx="215895" cy="215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45714" y="3624362"/>
            <a:ext cx="4732517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Ambiente seguro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745714" y="3943945"/>
            <a:ext cx="4732517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Realize os testes em um </a:t>
            </a:r>
            <a:r>
              <a:rPr lang="en-US" sz="11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banco de dados de laboratório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nunca em ambiente de produção.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1784" y="4567188"/>
            <a:ext cx="215895" cy="2159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45714" y="4562773"/>
            <a:ext cx="4732517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Compreensão antes da execução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6745714" y="4882356"/>
            <a:ext cx="4732517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Antes de executar um UPDATE em massa, verifique quais registros serão afetados com um SELECT prévio.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277810" y="5400477"/>
            <a:ext cx="5200421" cy="667544"/>
          </a:xfrm>
          <a:prstGeom prst="roundRect">
            <a:avLst>
              <a:gd name="adj" fmla="val 3235"/>
            </a:avLst>
          </a:prstGeom>
          <a:solidFill>
            <a:srgbClr val="D9D9D9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1773" y="5565180"/>
            <a:ext cx="179879" cy="14396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745615" y="5539978"/>
            <a:ext cx="4588653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gabarito será apresentado e discutido em aula após a tentativa individual. </a:t>
            </a: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💡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60643"/>
            <a:ext cx="10752067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kern="100" spc="-2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Revisão e Encerramento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719814" y="1384697"/>
            <a:ext cx="5318488" cy="950020"/>
          </a:xfrm>
          <a:prstGeom prst="roundRect">
            <a:avLst>
              <a:gd name="adj" fmla="val 2273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863777" y="1528663"/>
            <a:ext cx="5030562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 que é um Trigger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63777" y="1802209"/>
            <a:ext cx="5030562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Objeto do banco associado a uma tabela, executado automaticamente quando um evento DML ocorre — sem necessidade de chamada explícita.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53393" y="1384697"/>
            <a:ext cx="5318488" cy="950020"/>
          </a:xfrm>
          <a:prstGeom prst="roundRect">
            <a:avLst>
              <a:gd name="adj" fmla="val 2273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297356" y="1528663"/>
            <a:ext cx="5030562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AFTER vs INSTEAD OF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97356" y="1802209"/>
            <a:ext cx="5030562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AFTER: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executa após a operação. </a:t>
            </a:r>
            <a:r>
              <a:rPr lang="en-US" sz="11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INSTEAD OF: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substitui a operação pela lógica do trigger.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9814" y="2449810"/>
            <a:ext cx="5318488" cy="956370"/>
          </a:xfrm>
          <a:prstGeom prst="roundRect">
            <a:avLst>
              <a:gd name="adj" fmla="val 2258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863777" y="2593777"/>
            <a:ext cx="5030562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inserted e deleted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3777" y="2867323"/>
            <a:ext cx="5030562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Tabelas lógicas temporárias disponíveis durante o trigger. Permitem acessar valores novos e anteriores de cada operação.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53393" y="2449810"/>
            <a:ext cx="5318488" cy="956370"/>
          </a:xfrm>
          <a:prstGeom prst="roundRect">
            <a:avLst>
              <a:gd name="adj" fmla="val 225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297356" y="2593777"/>
            <a:ext cx="5030562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Auditoria e Múltiplas Linhas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97356" y="2867323"/>
            <a:ext cx="5030562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Use </a:t>
            </a:r>
            <a:r>
              <a:rPr lang="en-US" sz="11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 ... SELECT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com JOIN entre </a:t>
            </a:r>
            <a:r>
              <a:rPr lang="en-US" sz="11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inserted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</a:t>
            </a:r>
            <a:r>
              <a:rPr lang="en-US" sz="11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deleted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para registrar corretamente operações em lote.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9814" y="3571677"/>
            <a:ext cx="10752067" cy="19050"/>
          </a:xfrm>
          <a:prstGeom prst="roundRect">
            <a:avLst>
              <a:gd name="adj" fmla="val 49999"/>
            </a:avLst>
          </a:prstGeom>
          <a:solidFill>
            <a:srgbClr val="3D3838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19814" y="3808577"/>
            <a:ext cx="10752067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Perguntas para fixação</a:t>
            </a:r>
            <a:endParaRPr lang="en-US" sz="12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4176613"/>
            <a:ext cx="3507295" cy="132159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387094" y="4284563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100" spc="-11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82826" y="4752380"/>
            <a:ext cx="3181270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Por que um trigger DML deve considerar que </a:t>
            </a:r>
            <a:r>
              <a:rPr lang="en-US" sz="11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várias linhas podem ser afetadas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por uma única instrução?</a:t>
            </a:r>
            <a:endParaRPr lang="en-US" sz="11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2200" y="4176613"/>
            <a:ext cx="3507295" cy="132159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009480" y="4284563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100" spc="-11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4505212" y="4752380"/>
            <a:ext cx="3181270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Em um </a:t>
            </a:r>
            <a:r>
              <a:rPr lang="en-US" sz="11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UPDATE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qual é a diferença entre os dados disponíveis em </a:t>
            </a:r>
            <a:r>
              <a:rPr lang="en-US" sz="11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inserted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em </a:t>
            </a:r>
            <a:r>
              <a:rPr lang="en-US" sz="11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deleted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?</a:t>
            </a:r>
            <a:endParaRPr lang="en-US" sz="11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4586" y="4176613"/>
            <a:ext cx="3507295" cy="132159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631866" y="4284563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100" spc="-11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8127598" y="4752380"/>
            <a:ext cx="3181270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Como um trigger pode contribuir para a </a:t>
            </a:r>
            <a:r>
              <a:rPr lang="en-US" sz="11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auditoria de um banco de dados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? Cite um exemplo prático.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19814" y="5627787"/>
            <a:ext cx="10752067" cy="484783"/>
          </a:xfrm>
          <a:prstGeom prst="roundRect">
            <a:avLst>
              <a:gd name="adj" fmla="val 4455"/>
            </a:avLst>
          </a:prstGeom>
          <a:solidFill>
            <a:srgbClr val="E4E4E7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777" y="5786140"/>
            <a:ext cx="179879" cy="14396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87619" y="5778798"/>
            <a:ext cx="10749884" cy="194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Triggers são executados automaticamente e devem ser projetados com cuidado, considerando </a:t>
            </a:r>
            <a:r>
              <a:rPr lang="en-US" sz="11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integridade, desempenho e comportamento transacional</a:t>
            </a: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1203</TotalTime>
  <Words>2886</Words>
  <Application>Microsoft Office PowerPoint</Application>
  <PresentationFormat>Widescreen</PresentationFormat>
  <Paragraphs>358</Paragraphs>
  <Slides>21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Arial</vt:lpstr>
      <vt:lpstr>Arial Black</vt:lpstr>
      <vt:lpstr>Calibri</vt:lpstr>
      <vt:lpstr>Calibri Light</vt:lpstr>
      <vt:lpstr>Consolas</vt:lpstr>
      <vt:lpstr>Tema do Office</vt:lpstr>
      <vt:lpstr>Linguagem de Programação de Banco de Dados Prof. José Carlos Perini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User</dc:creator>
  <cp:lastModifiedBy>José Carlos Perini</cp:lastModifiedBy>
  <cp:revision>61</cp:revision>
  <dcterms:created xsi:type="dcterms:W3CDTF">2024-02-07T18:08:06Z</dcterms:created>
  <dcterms:modified xsi:type="dcterms:W3CDTF">2026-10-16T13:48:11Z</dcterms:modified>
</cp:coreProperties>
</file>