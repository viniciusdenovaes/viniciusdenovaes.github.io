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5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1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5 – </a:t>
            </a:r>
            <a:r>
              <a:rPr lang="pt-BR" dirty="0" err="1"/>
              <a:t>Functions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665512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NO SQL SERVER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86907" y="3446661"/>
            <a:ext cx="6789766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Criando e utilizando funções com T-SQL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39304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 onde vêm as Functions?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810445"/>
            <a:ext cx="10752067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Você já usou funções no SQL antes — provavelmente sem perceber que estava chamando uma função. Toda vez que escrevemos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UPPER(nome)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LEN(texto)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estamos chamando uma função embutida do SQL Server.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578199"/>
            <a:ext cx="5286044" cy="99327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99693" y="2758083"/>
            <a:ext cx="49262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COUNT( 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9693" y="3121620"/>
            <a:ext cx="4926286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Conta registros e retorna um número inteiro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5737" y="2578199"/>
            <a:ext cx="5286144" cy="99327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365617" y="2758083"/>
            <a:ext cx="492638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SUM( 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5617" y="3121620"/>
            <a:ext cx="492638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Soma valores de uma coluna numérica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9814" y="3751362"/>
            <a:ext cx="5286044" cy="99327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99693" y="3931245"/>
            <a:ext cx="49262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UPPER(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9693" y="4294783"/>
            <a:ext cx="4926286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Converte texto para maiúsculas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5737" y="3751362"/>
            <a:ext cx="5286144" cy="99327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65617" y="3931245"/>
            <a:ext cx="492638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LEN( 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5617" y="4294783"/>
            <a:ext cx="492638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 o número de caracteres de um texto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9814" y="4947047"/>
            <a:ext cx="10752067" cy="971649"/>
          </a:xfrm>
          <a:prstGeom prst="roundRect">
            <a:avLst>
              <a:gd name="adj" fmla="val 2778"/>
            </a:avLst>
          </a:prstGeom>
          <a:solidFill>
            <a:srgbClr val="E4E4E7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192216"/>
            <a:ext cx="224923" cy="1798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04495" y="5171877"/>
            <a:ext cx="998750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Todas essas funções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recebem uma entrada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produzem um resultado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 se precisarmos criar a nossa própria função com essa mesma lógica?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843161"/>
            <a:ext cx="6180181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uma Function?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19814" y="1572518"/>
            <a:ext cx="6180181" cy="749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Function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(função) no SQL Server é um bloco de código T-SQL que encapsula uma lógica, pode receber parâmetros de entrada e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obrigatoriamente retorna um resultado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O conceito é exatamente o mesmo que você já conhece da programação.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94" y="2504976"/>
            <a:ext cx="5871123" cy="2577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0276" y="4361764"/>
            <a:ext cx="1029144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100" spc="-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Entrada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870276" y="4551552"/>
            <a:ext cx="1029144" cy="248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Recebe parâmetros de entrada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759795" y="4322180"/>
            <a:ext cx="1029144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100" spc="-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Retorno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759795" y="4511969"/>
            <a:ext cx="1029144" cy="248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Fornece o resultado final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323518" y="2775245"/>
            <a:ext cx="1029144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100" spc="-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Processamento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323518" y="2965033"/>
            <a:ext cx="1029144" cy="124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 a lógica T-SQL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19814" y="5264944"/>
            <a:ext cx="6180181" cy="749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Assim como em linguagens de programação como C# ou Java, uma função no banco de dados tem uma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responsabilidade única e bem definida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 receber dados, processar e devolver um valor.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9239"/>
            <a:ext cx="10752067" cy="39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100" spc="-2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como objeto do banco de dados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19804" y="1134666"/>
            <a:ext cx="4851973" cy="5144095"/>
          </a:xfrm>
          <a:prstGeom prst="roundRect">
            <a:avLst>
              <a:gd name="adj" fmla="val 429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758707" y="1241822"/>
            <a:ext cx="4574168" cy="197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Uma Function é armazenada no banco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707" y="1546225"/>
            <a:ext cx="4574168" cy="103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Diferente de uma consulta digitada no momento, uma Function é </a:t>
            </a:r>
            <a:r>
              <a:rPr lang="en-US" sz="105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criada uma vez</a:t>
            </a: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fica salva como um objeto do banco de dados — disponível para qualquer aplicação ou consulta que precisar.</a:t>
            </a:r>
            <a:endParaRPr lang="en-US" sz="10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 SSMS, você pode encontrá-la em:</a:t>
            </a:r>
            <a:endParaRPr lang="en-US" sz="10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 → Programmability →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7040" y="1241822"/>
            <a:ext cx="5761092" cy="197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Fluxo de uso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75" y="1559620"/>
            <a:ext cx="4807822" cy="43176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8494" y="2436482"/>
            <a:ext cx="1681282" cy="2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Aplicação chama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53336" y="4791749"/>
            <a:ext cx="1681282" cy="2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executa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93848" y="2920329"/>
            <a:ext cx="1681282" cy="2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Banco retorna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17040" y="5997773"/>
            <a:ext cx="637067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lógica fica centralizada no banco, facilitando manutenção e reutilização por múltiplas aplicações.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06388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× Stored Procedure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917005"/>
            <a:ext cx="10752067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Vocês já conhecem Stored Procedures. As Functions têm semelhanças, mas possuem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finalidades diferentes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Entender essa diferença é essencial para escolher a ferramenta certa.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605444"/>
              </p:ext>
            </p:extLst>
          </p:nvPr>
        </p:nvGraphicFramePr>
        <p:xfrm>
          <a:off x="719814" y="2605909"/>
          <a:ext cx="11136729" cy="2312830"/>
        </p:xfrm>
        <a:graphic>
          <a:graphicData uri="http://schemas.openxmlformats.org/drawingml/2006/table">
            <a:tbl>
              <a:tblPr/>
              <a:tblGrid>
                <a:gridCol w="3712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2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Característica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Function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Stored Procedure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Finalidade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Produz e retorna um valor ou tabela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Executa uma rotina de operações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Retorno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Obrigatório (valor ou tabela)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Opcional (OUTPUT ou sem retorno)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Uso em SELECT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 Sim — pode ser usada em expressões</a:t>
                      </a:r>
                      <a:endParaRPr lang="en-US" sz="1300" dirty="0">
                        <a:latin typeface="Arial" panose="020B0604020202020204" pitchFamily="34" charset="0"/>
                        <a:ea typeface="Noto Color Emoji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 Não — precisa de EXEC</a:t>
                      </a:r>
                      <a:endParaRPr lang="en-US" sz="1300" dirty="0">
                        <a:latin typeface="Arial" panose="020B0604020202020204" pitchFamily="34" charset="0"/>
                        <a:ea typeface="Noto Color Emoji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Parâmetros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Somente entrada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Entrada e saída (OUTPUT)</a:t>
                      </a:r>
                      <a:endParaRPr lang="en-US" sz="13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0978" marR="17097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9814" y="5107780"/>
            <a:ext cx="11190702" cy="643831"/>
          </a:xfrm>
          <a:prstGeom prst="roundRect">
            <a:avLst>
              <a:gd name="adj" fmla="val 3983"/>
            </a:avLst>
          </a:prstGeom>
          <a:solidFill>
            <a:srgbClr val="E4E4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64" y="5334695"/>
            <a:ext cx="213712" cy="1709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425" y="5312866"/>
            <a:ext cx="10635091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Regra prática: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Se você precisa de um valor para usar numa consulta → </a:t>
            </a: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Function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Se precisa executar uma rotina → </a:t>
            </a: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Stored Procedure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9402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Estrutura de uma Function Escalar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360984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Antes de criar a primeira Function, vamos entender cada parte da sua estrutura. Toda função escalar segue este padrão: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1755775"/>
            <a:ext cx="10752067" cy="2915444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1917700"/>
            <a:ext cx="10363338" cy="2591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nome_funcao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@parametro TIPO_DE_DADO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TIPO_DE_DADO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lógica de processamento aqui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835128"/>
            <a:ext cx="404902" cy="40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6877" y="4835128"/>
            <a:ext cx="469789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FUNCTION + nome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6877" y="5152529"/>
            <a:ext cx="4697890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Define e nomeia o objeto função no banco de dados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928" y="4835128"/>
            <a:ext cx="404902" cy="404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73991" y="4835128"/>
            <a:ext cx="469789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Parâmetros de entrada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773991" y="5152529"/>
            <a:ext cx="4697890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Valores que a função recebe para processar (prefixo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)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814" y="5687616"/>
            <a:ext cx="404902" cy="404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06877" y="5687616"/>
            <a:ext cx="469789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RETURNS + RETURN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06877" y="6005016"/>
            <a:ext cx="4697890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declara o tipo;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entrega o valor calculado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6928" y="5687616"/>
            <a:ext cx="404902" cy="404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73991" y="5687616"/>
            <a:ext cx="469789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BEGIN / END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773991" y="6005016"/>
            <a:ext cx="4697890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Delimita o bloco de código da função, como em Stored Procedures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9233"/>
            <a:ext cx="10752067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100" spc="-30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Primeira Function: calculando desconto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814" y="1400671"/>
            <a:ext cx="5728847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Criando a função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9814" y="1816795"/>
            <a:ext cx="5728847" cy="3028355"/>
          </a:xfrm>
          <a:prstGeom prst="roundRect">
            <a:avLst>
              <a:gd name="adj" fmla="val 83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1719" y="1985070"/>
            <a:ext cx="5325036" cy="269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calcular_desconto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@valor     DECIMAL(10,2),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@percentual DECIMAL(5,2)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DECIMAL(10,2)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@valor - (@valor * @percentual / 100);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9814" y="5022155"/>
            <a:ext cx="5728847" cy="4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Esta função recebe um valor e um percentual de desconto e devolve o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valor final após o desconto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44424" y="1243310"/>
            <a:ext cx="4854850" cy="5085358"/>
          </a:xfrm>
          <a:prstGeom prst="roundRect">
            <a:avLst>
              <a:gd name="adj" fmla="val 520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6912695" y="1400671"/>
            <a:ext cx="4518309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acontece internamente?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12695" y="1816795"/>
            <a:ext cx="3365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FFFFFF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12695" y="2083792"/>
            <a:ext cx="451830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6912695" y="2206030"/>
            <a:ext cx="4518309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Entrada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12695" y="2602508"/>
            <a:ext cx="4518309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@valor = 1000.00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@percentual = 10.00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2695" y="3399830"/>
            <a:ext cx="3365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FFFFFF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12695" y="3666827"/>
            <a:ext cx="451830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6912695" y="3789065"/>
            <a:ext cx="4518309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Cálculo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12695" y="4185543"/>
            <a:ext cx="4518309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1000 - (1000 * 10 / 100)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= </a:t>
            </a:r>
            <a:r>
              <a:rPr lang="en-US" sz="13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1000 - 100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695" y="4982865"/>
            <a:ext cx="3365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FFFFFF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12695" y="5249863"/>
            <a:ext cx="451830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6912695" y="5372100"/>
            <a:ext cx="4518309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Retorno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12695" y="5768578"/>
            <a:ext cx="4518309" cy="25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função devolve </a:t>
            </a:r>
            <a:r>
              <a:rPr lang="en-US" sz="13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900.00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65907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Utilizando a Function em uma consulta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937048"/>
            <a:ext cx="11361652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Após criar a função, podemos chamá-la diretamente em um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422128"/>
            <a:ext cx="10752067" cy="64770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5709" y="2602012"/>
            <a:ext cx="10929863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dbo.calcular_desconto(1000, 10) AS valor_final;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3272234"/>
            <a:ext cx="3464037" cy="1603077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092" y="3477518"/>
            <a:ext cx="3053480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Por que </a:t>
            </a:r>
            <a:r>
              <a:rPr lang="en-US" sz="1600" b="1" kern="100" spc="-16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5092" y="3847405"/>
            <a:ext cx="3053480" cy="82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Functions escalares retornam um valor — e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a forma de recuperar e exibir valores no T-SQL.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3730" y="3272234"/>
            <a:ext cx="3464136" cy="1603077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9008" y="3477518"/>
            <a:ext cx="3053579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Por que </a:t>
            </a:r>
            <a:r>
              <a:rPr lang="en-US" sz="1600" b="1" kern="100" spc="-16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dbo.</a:t>
            </a: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9008" y="3847405"/>
            <a:ext cx="3053579" cy="82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o </a:t>
            </a:r>
            <a:r>
              <a:rPr lang="en-US" sz="14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schema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padrão. No SQL Server, objetos criados pelo usuário devem ser referenciados com o prefixo de schema.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7745" y="3272234"/>
            <a:ext cx="3464136" cy="1603077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3023" y="3477518"/>
            <a:ext cx="305357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3023" y="3841055"/>
            <a:ext cx="3053579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SQL Server executa a função e retorna: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valor_final = 900.00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9814" y="5077718"/>
            <a:ext cx="10752067" cy="714375"/>
          </a:xfrm>
          <a:prstGeom prst="roundRect">
            <a:avLst>
              <a:gd name="adj" fmla="val 3779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322888"/>
            <a:ext cx="224923" cy="1798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04495" y="5302548"/>
            <a:ext cx="10597091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💡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Teste no SSMS: execute o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acima e observe o painel de resultados. A função é executada no lado do servidor.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53182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com parâmetros: reutilização real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663799"/>
            <a:ext cx="10752067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grande poder de uma Function está na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reutilização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A mesma função pode ser chamada com valores diferentes, produzindo resultados diferentes — sem precisar reescrever a lógica.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14" y="2346325"/>
            <a:ext cx="10752067" cy="1435695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4894" y="2517279"/>
            <a:ext cx="10341907" cy="1093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Diferentes chamadas, mesma função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dbo.calcular_desconto(1000.00, 10) AS desconto_10pct;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dbo.calcular_desconto(2500.00, 15) AS desconto_15pct;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dbo.calcular_desconto(500.00,   5) AS desconto_5pct;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3964682"/>
            <a:ext cx="3583989" cy="6839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0764" y="4811018"/>
            <a:ext cx="3242090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Entrada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0764" y="5151239"/>
            <a:ext cx="3242090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R$ 1.000 com 10%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03" y="3964682"/>
            <a:ext cx="3583989" cy="6839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4753" y="4811018"/>
            <a:ext cx="3242090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calcular_desconto()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74753" y="5151239"/>
            <a:ext cx="3242090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Mesma lógica para qualquer entrada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793" y="3964682"/>
            <a:ext cx="3584088" cy="6839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8742" y="4811018"/>
            <a:ext cx="3242189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58742" y="5151239"/>
            <a:ext cx="3242189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R$ 900 · R$ 2.125 · R$ 475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19814" y="5754787"/>
            <a:ext cx="11361652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Escreva a lógica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uma vez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Use em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qualquer lugar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8091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aplicada aos Clientes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237357"/>
            <a:ext cx="1136165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Vamos criar uma função mais próxima da realidade: classificar clientes com base no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limite de crédito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cadastrado na tabela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9814" y="1697137"/>
            <a:ext cx="6310750" cy="4433094"/>
          </a:xfrm>
          <a:prstGeom prst="roundRect">
            <a:avLst>
              <a:gd name="adj" fmla="val 48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92550" y="1841103"/>
            <a:ext cx="5965279" cy="414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classificar_limite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@limite DECIMAL(10,2)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VARCHAR(30)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@classificacao VARCHAR(30);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@limite &gt;= 7000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@classificacao = 'Alto';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@limite &gt;= 4000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@classificacao = 'Médio';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@classificacao = 'Baixo';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@classificacao;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84458" y="1567557"/>
            <a:ext cx="4297453" cy="4692253"/>
          </a:xfrm>
          <a:prstGeom prst="roundRect">
            <a:avLst>
              <a:gd name="adj" fmla="val 503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7428421" y="1682651"/>
            <a:ext cx="400952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Lógica de classificação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28421" y="2242245"/>
            <a:ext cx="4009528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7428421" y="2352278"/>
            <a:ext cx="400952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≥ R$ 7.000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28421" y="2671862"/>
            <a:ext cx="4009528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Classificação: </a:t>
            </a: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Alto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28421" y="3314700"/>
            <a:ext cx="4009528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7428421" y="3424734"/>
            <a:ext cx="400952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≥ R$ 4.000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28421" y="3744317"/>
            <a:ext cx="4009528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Classificação: </a:t>
            </a: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Médio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28421" y="4387155"/>
            <a:ext cx="4009528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421" y="4497189"/>
            <a:ext cx="400952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Abaixo de R$ 4.000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28421" y="4816773"/>
            <a:ext cx="4009528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Classificação: </a:t>
            </a: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Baixo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28421" y="5248573"/>
            <a:ext cx="461911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função usa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estrutura que vocês já conhecem!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78669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dentro de uma consulta real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417935"/>
            <a:ext cx="1075206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Agora vem o ponto mais poderoso: podemos usar a função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classificar_limite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diretamente no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sobre a tabela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aplicando a classificação a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cada linha automaticamente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9814" y="1942405"/>
            <a:ext cx="10752067" cy="1669653"/>
          </a:xfrm>
          <a:prstGeom prst="roundRect">
            <a:avLst>
              <a:gd name="adj" fmla="val 129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92550" y="2086372"/>
            <a:ext cx="10406596" cy="138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limite_credito,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dbo.classificar_limite(limite_credito) AS classificacao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9814" y="3741638"/>
            <a:ext cx="11361652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Resultado esperado na consulta: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19814" y="4065488"/>
          <a:ext cx="10752068" cy="1380296"/>
        </p:xfrm>
        <a:graphic>
          <a:graphicData uri="http://schemas.openxmlformats.org/drawingml/2006/table">
            <a:tbl>
              <a:tblPr/>
              <a:tblGrid>
                <a:gridCol w="268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id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nome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limite_credito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classificacao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Ana Souza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8.000,00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Alto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2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Carlos Lima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4.500,00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Médio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3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Beatriz Alves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2.000,00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Baixo</a:t>
                      </a:r>
                      <a:endParaRPr lang="en-US" sz="11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43981" marR="14398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9814" y="5588099"/>
            <a:ext cx="10752067" cy="491133"/>
          </a:xfrm>
          <a:prstGeom prst="roundRect">
            <a:avLst>
              <a:gd name="adj" fmla="val 4397"/>
            </a:avLst>
          </a:prstGeom>
          <a:solidFill>
            <a:srgbClr val="E4E4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77" y="5746452"/>
            <a:ext cx="179879" cy="143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7619" y="5739110"/>
            <a:ext cx="1074988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função é executada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linha por linha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para cada cliente, o SQL Server chama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classificar_limite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o valor daquela linha.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58527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uma Function Escalar retorna?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569145"/>
            <a:ext cx="10752067" cy="52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Function Escalar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sempre retorna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 único valor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um escalar. O tipo desse valor é declarado no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deve ser compatível com o que 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entrega.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14" y="2277070"/>
            <a:ext cx="3475744" cy="1607344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90764" y="2448024"/>
            <a:ext cx="512849" cy="512862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750" y="2589014"/>
            <a:ext cx="230777" cy="230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0764" y="3123307"/>
            <a:ext cx="313384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INT / BIGINT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0764" y="3463528"/>
            <a:ext cx="3133845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Contagens, identificadores, quantidades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7975" y="2277070"/>
            <a:ext cx="3475744" cy="1607344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28925" y="2448024"/>
            <a:ext cx="512849" cy="512862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9911" y="2589014"/>
            <a:ext cx="230777" cy="230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8925" y="3123307"/>
            <a:ext cx="313384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DECIMAL / FLOAT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8925" y="3463528"/>
            <a:ext cx="3133845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Valores financeiros, médias, percentuais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96137" y="2277070"/>
            <a:ext cx="3475744" cy="1607344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67086" y="2448024"/>
            <a:ext cx="512849" cy="512862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8073" y="2589014"/>
            <a:ext cx="230777" cy="230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67086" y="3123307"/>
            <a:ext cx="313384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VARCHAR / CHAR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67086" y="3463528"/>
            <a:ext cx="3133845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Textos, classificações, categorias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9814" y="4046835"/>
            <a:ext cx="5294775" cy="1607344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890764" y="4217789"/>
            <a:ext cx="512849" cy="512862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1750" y="4358779"/>
            <a:ext cx="230777" cy="230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0764" y="4893072"/>
            <a:ext cx="4952876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DATE / DATETIME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0764" y="5233293"/>
            <a:ext cx="4952876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Datas calculadas, prazos, vencimentos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177006" y="4046835"/>
            <a:ext cx="5294875" cy="1607344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347956" y="4217789"/>
            <a:ext cx="512849" cy="512862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8942" y="4358779"/>
            <a:ext cx="230777" cy="230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47956" y="4893072"/>
            <a:ext cx="49529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BIT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347956" y="5233293"/>
            <a:ext cx="4952975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Valores lógicos: verdadeiro (1) ou falso (0)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9814" y="5836841"/>
            <a:ext cx="11361652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tipo declarado em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o valor enviado no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precisam ser compatíveis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caso contrário o SQL Server gera um erro.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956866"/>
            <a:ext cx="6180181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 quando precisamos retornar vários registros?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19814" y="2171998"/>
            <a:ext cx="6180181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Function Escalar é ótima para retornar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 único valor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Mas e quando precisamos de um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conjunto de registros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como resultado de uma função?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19814" y="2854523"/>
            <a:ext cx="6180181" cy="2363986"/>
          </a:xfrm>
          <a:prstGeom prst="roundRect">
            <a:avLst>
              <a:gd name="adj" fmla="val 1085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719814" y="2854523"/>
            <a:ext cx="6180181" cy="1181993"/>
          </a:xfrm>
          <a:custGeom>
            <a:avLst/>
            <a:gdLst/>
            <a:ahLst/>
            <a:cxnLst/>
            <a:rect l="l" t="t" r="r" b="b"/>
            <a:pathLst>
              <a:path w="6180181" h="1181993">
                <a:moveTo>
                  <a:pt x="21372" y="0"/>
                </a:moveTo>
                <a:lnTo>
                  <a:pt x="6158809" y="0"/>
                </a:lnTo>
                <a:arcTo wR="21372" hR="21373" stAng="16200000" swAng="5400000"/>
                <a:lnTo>
                  <a:pt x="6180181" y="1181993"/>
                </a:lnTo>
                <a:lnTo>
                  <a:pt x="0" y="1181993"/>
                </a:lnTo>
                <a:lnTo>
                  <a:pt x="0" y="21373"/>
                </a:lnTo>
                <a:arcTo wR="21372" hR="21373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90764" y="3025477"/>
            <a:ext cx="5838282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Escalar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0764" y="3365698"/>
            <a:ext cx="5838282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 único valor</a:t>
            </a:r>
            <a:endParaRPr lang="en-US" sz="1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Ex: uma classificação, um número calculado, uma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9814" y="4036516"/>
            <a:ext cx="6180181" cy="1181993"/>
          </a:xfrm>
          <a:custGeom>
            <a:avLst/>
            <a:gdLst/>
            <a:ahLst/>
            <a:cxnLst/>
            <a:rect l="l" t="t" r="r" b="b"/>
            <a:pathLst>
              <a:path w="6180181" h="1181993">
                <a:moveTo>
                  <a:pt x="0" y="0"/>
                </a:moveTo>
                <a:lnTo>
                  <a:pt x="6180181" y="0"/>
                </a:lnTo>
                <a:lnTo>
                  <a:pt x="6180181" y="1160620"/>
                </a:lnTo>
                <a:arcTo wR="21372" hR="21373" stAng="0" swAng="5400000"/>
                <a:lnTo>
                  <a:pt x="21372" y="1181993"/>
                </a:lnTo>
                <a:arcTo wR="21372" hR="21373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19814" y="4036516"/>
            <a:ext cx="61801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890764" y="4207470"/>
            <a:ext cx="5838282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de Tabela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0764" y="4547691"/>
            <a:ext cx="5838282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uma tabela completa</a:t>
            </a:r>
            <a:endParaRPr lang="en-US" sz="1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Ex: todos os clientes de uma cidade, funcionários de um departamento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9814" y="5401171"/>
            <a:ext cx="6180181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SQL Server oferece um segundo tipo de Function exatamente para esses casos: 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Table-Valued Function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(Função que Retorna Tabela).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38956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que retorna uma Tabela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814" y="1233587"/>
            <a:ext cx="10752067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Table-Valued Function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funciona como uma consulta parametrizada reutilizável. Em vez de retornar um valor, ela retorna um conjunto de linhas — como se fosse uma tabela.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9814" y="1950541"/>
            <a:ext cx="6079378" cy="4222155"/>
          </a:xfrm>
          <a:prstGeom prst="roundRect">
            <a:avLst>
              <a:gd name="adj" fmla="val 54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03364" y="2103438"/>
            <a:ext cx="5712277" cy="3916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clientes_por_cidade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@cidade VARCHAR(50)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TABLE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cidade,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limite_credito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cidade = @cidade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68564" y="1804293"/>
            <a:ext cx="4519797" cy="4514652"/>
          </a:xfrm>
          <a:prstGeom prst="roundRect">
            <a:avLst>
              <a:gd name="adj" fmla="val 508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7221456" y="1934270"/>
            <a:ext cx="421401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Diferenças na estrutura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2407" y="2278757"/>
            <a:ext cx="4233062" cy="5975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12447" y="2297807"/>
            <a:ext cx="40230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RETURNS TABLE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12447" y="2645073"/>
            <a:ext cx="402302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Declara que o retorno é uma tabela, não um tipo simples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2407" y="3098304"/>
            <a:ext cx="4233062" cy="6102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12447" y="3117354"/>
            <a:ext cx="40230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RETURN (SELECT ...)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12447" y="3464620"/>
            <a:ext cx="402302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</a:t>
            </a:r>
            <a:r>
              <a:rPr lang="en-US" sz="12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define o conjunto de dados retornado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2407" y="3930551"/>
            <a:ext cx="4233062" cy="5975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12447" y="3949601"/>
            <a:ext cx="40230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Sem BEGIN/END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12447" y="4296866"/>
            <a:ext cx="402302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forma inline não precisa de bloco BEGIN/END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5640"/>
            <a:ext cx="10752067" cy="42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Utilizando uma Function de Tabela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19814" y="1180604"/>
            <a:ext cx="11361652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Function de Tabela é usada no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da consulta — exatamente como se fosse uma tabela ou view: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9814" y="1526877"/>
            <a:ext cx="10752067" cy="53340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97610" y="1675011"/>
            <a:ext cx="11006061" cy="237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dbo.clientes_por_cidade('Campinas');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68" y="2197497"/>
            <a:ext cx="8208459" cy="29715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4191" y="4455365"/>
            <a:ext cx="1869202" cy="23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Tabela de Clientes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594191" y="3559725"/>
            <a:ext cx="1869202" cy="233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Filtrar e Processar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594191" y="2654946"/>
            <a:ext cx="1869202" cy="233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Enviar 'Campinas'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19814" y="5306219"/>
            <a:ext cx="3502731" cy="103604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93" y="5473402"/>
            <a:ext cx="3168372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93" y="5756970"/>
            <a:ext cx="316837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Todos os clientes com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cidade = 'Campinas'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são retornados como linhas de uma tabela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4482" y="5306219"/>
            <a:ext cx="3502731" cy="103604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11661" y="5473402"/>
            <a:ext cx="3168372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Flexibilidade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11661" y="5756970"/>
            <a:ext cx="3168372" cy="418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Você pode combinar com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outros operadores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69150" y="5306219"/>
            <a:ext cx="3502731" cy="103604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6329" y="5473402"/>
            <a:ext cx="3168372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Reutilização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36329" y="5756970"/>
            <a:ext cx="316837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Mude apenas o parâmetro para filtrar por outra cidade: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'São Paulo'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'Campinas'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...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8152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Escalar × Function de Tabela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639292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Vamos consolidar as diferenças entre os dois tipos de Function que estudamos hoje: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19814" y="2111673"/>
          <a:ext cx="10752066" cy="3061219"/>
        </p:xfrm>
        <a:graphic>
          <a:graphicData uri="http://schemas.openxmlformats.org/drawingml/2006/table">
            <a:tbl>
              <a:tblPr/>
              <a:tblGrid>
                <a:gridCol w="3584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Aspecto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Function Escalar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Function de Tabela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 que retorna?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Um único valor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Um conjunto de linhas (tabela)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Declaração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RETURNS INT / VARCHAR...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RETURNS TABLE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Usado no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</a:t>
                      </a: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, expressões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</a:t>
                      </a: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, como uma tabela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Estrutura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BEGIN ... RETURN valor; END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(SELECT ...)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Exemplo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Classificar limite de crédito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Listar clientes de uma cidade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9814" y="5388074"/>
            <a:ext cx="10752067" cy="701675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633244"/>
            <a:ext cx="224923" cy="179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4495" y="5612904"/>
            <a:ext cx="1059709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Escolha o tipo certo com base no que você precisa retornar: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 valor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Escalar ·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 conjunto de dados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Tabela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093688"/>
            <a:ext cx="6180181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Cuidados ao criar Functions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91700" y="1723231"/>
            <a:ext cx="6180181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Criar uma Function corretamente vai além de fazer o código funcionar. Boas práticas garantem que sua função seja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legível, confiável e fácil de manter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91700" y="2293938"/>
            <a:ext cx="344181" cy="34419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765854" y="2346523"/>
            <a:ext cx="57060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Use nomes claros e descritivos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65854" y="2641798"/>
            <a:ext cx="570602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calcular_desconto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muito melhor que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fn1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funcao_teste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91700" y="3126780"/>
            <a:ext cx="344181" cy="34419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5765854" y="3179366"/>
            <a:ext cx="57060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Declare os tipos corretamente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65854" y="3474641"/>
            <a:ext cx="5706027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Os tipos dos parâmetros e do retorno devem refletir os dados reais — evite usar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VARCHAR(MAX)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quando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resolve.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91700" y="4171851"/>
            <a:ext cx="344181" cy="34419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5765854" y="4224437"/>
            <a:ext cx="57060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Uma responsabilidade por função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65854" y="4519712"/>
            <a:ext cx="5706027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Cada Function deve fazer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uma coisa bem feita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Funções que fazem muitas coisas são difíceis de depurar e reutilizar.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91700" y="5204222"/>
            <a:ext cx="344181" cy="34419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5765854" y="5256808"/>
            <a:ext cx="57060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Teste com valores variados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765854" y="5552083"/>
            <a:ext cx="5706027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Teste com valores extremos, valores nulos e casos de borda antes de usar em produção.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86743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Quando usar uma Function?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957884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Functions são a escolha certa em situações específicas. Reconhecer esses casos é tão importante quanto saber criar a função.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430264"/>
            <a:ext cx="449847" cy="449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4584" y="2430264"/>
            <a:ext cx="458875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Cálculos reutilizáveis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94584" y="2793802"/>
            <a:ext cx="458875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Desconto, imposto, juros — qualquer fórmula usada em vários lugares do sistema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260" y="2430264"/>
            <a:ext cx="449847" cy="4498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83029" y="2430264"/>
            <a:ext cx="458885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Regras de classificação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83029" y="2793802"/>
            <a:ext cx="458885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Categorizar clientes, funcionários ou produtos com base em critérios de negócio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814" y="3693616"/>
            <a:ext cx="449847" cy="4498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94584" y="3693616"/>
            <a:ext cx="458875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Transformação de valores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94584" y="4057154"/>
            <a:ext cx="458875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Formatar datas, converter unidades, padronizar textos de forma centralizada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8260" y="3693616"/>
            <a:ext cx="449847" cy="4498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83029" y="3693616"/>
            <a:ext cx="458885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Consultas parametrizadas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883029" y="4057154"/>
            <a:ext cx="458885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Retornar conjuntos de dados filtrados por um parâmetro, reutilizáveis em toda a aplicação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19814" y="4799509"/>
            <a:ext cx="10752067" cy="971649"/>
          </a:xfrm>
          <a:prstGeom prst="roundRect">
            <a:avLst>
              <a:gd name="adj" fmla="val 2778"/>
            </a:avLst>
          </a:prstGeom>
          <a:solidFill>
            <a:srgbClr val="B6D6FC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693" y="5044678"/>
            <a:ext cx="224923" cy="1798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04495" y="5024338"/>
            <a:ext cx="998750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 você precisar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executar operações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(INSERT, UPDATE, DELETE) ou rodar uma rotina complexa com vários passos — prefira uma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Stored Procedure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11200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Revisão: o que aprendemos hoje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521817"/>
            <a:ext cx="11361652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Antes de partir para a prática, vamos consolidar os conceitos da aula: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9814" y="1954411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9814" y="2225873"/>
            <a:ext cx="3475744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19814" y="2349401"/>
            <a:ext cx="3475744" cy="48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são objetos do banco de dados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9814" y="2932410"/>
            <a:ext cx="347574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Criadas com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ficam armazenadas e disponíveis para reutilização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57975" y="1954411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7975" y="2225873"/>
            <a:ext cx="3475744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4357975" y="2349401"/>
            <a:ext cx="347574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recebem parâmetros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57975" y="2689622"/>
            <a:ext cx="3475744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Os parâmetros tornam a função flexível e reutilizável com diferentes entradas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96137" y="1954411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6137" y="2225873"/>
            <a:ext cx="3475744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7996137" y="2349401"/>
            <a:ext cx="3475744" cy="48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Escalares retornam um único valor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96137" y="2932410"/>
            <a:ext cx="347574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Usadas em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expressões — classificar, calcular, transformar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9814" y="3735586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9814" y="4007048"/>
            <a:ext cx="52947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719814" y="4130576"/>
            <a:ext cx="52947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Functions de Tabela retornam registros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9814" y="4470797"/>
            <a:ext cx="5294775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Usadas no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como uma consulta parametrizada reutilizável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7006" y="3735586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7006" y="4007048"/>
            <a:ext cx="52948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6177006" y="4130576"/>
            <a:ext cx="52948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Function ≠ Stored Procedure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7006" y="4470797"/>
            <a:ext cx="5294875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Function produz dados para consultas. Stored Procedure executa rotinas de operações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6189" y="5464175"/>
            <a:ext cx="10495692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🧑‍💻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Agora é sua vez: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Que Function você criaria para facilitar uma tarefa repetitiva no banco de dados da sua aplicação? Pense em um cálculo, uma classificação ou um filtro que você usa com frequência.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9814" y="5281513"/>
            <a:ext cx="19050" cy="865188"/>
          </a:xfrm>
          <a:prstGeom prst="roundRect">
            <a:avLst>
              <a:gd name="adj" fmla="val 49999"/>
            </a:avLst>
          </a:prstGeom>
          <a:solidFill>
            <a:srgbClr val="2D2E3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2081</Words>
  <Application>Microsoft Office PowerPoint</Application>
  <PresentationFormat>Widescreen</PresentationFormat>
  <Paragraphs>313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Consolas</vt:lpstr>
      <vt:lpstr>Tema do Office</vt:lpstr>
      <vt:lpstr>Linguagem de 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57</cp:revision>
  <dcterms:created xsi:type="dcterms:W3CDTF">2024-02-07T18:08:06Z</dcterms:created>
  <dcterms:modified xsi:type="dcterms:W3CDTF">2026-10-06T18:40:59Z</dcterms:modified>
</cp:coreProperties>
</file>