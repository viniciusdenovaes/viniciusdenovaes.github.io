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345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437FFB-D889-4E35-80D7-62282096ABD0}" type="datetimeFigureOut">
              <a:rPr lang="pt-BR" smtClean="0"/>
              <a:t>25/08/2026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443DA8-3DF3-41E3-8439-B64B0FF63E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48714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25/08/2026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3506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25/08/2026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6580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25/08/2026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7998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25/08/2026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6976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25/08/2026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0917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25/08/2026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59014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25/08/2026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4694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25/08/2026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4042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25/08/2026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484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25/08/2026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1828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25/08/2026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11019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</p:spTree>
    <p:extLst>
      <p:ext uri="{BB962C8B-B14F-4D97-AF65-F5344CB8AC3E}">
        <p14:creationId xmlns:p14="http://schemas.microsoft.com/office/powerpoint/2010/main" val="21265059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940A59-C752-4765-B0CC-DA76ECD04D88}" type="datetimeFigureOut">
              <a:rPr lang="pt-BR" smtClean="0"/>
              <a:t>25/08/2026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6829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4.sv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29.sv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34.svg"/><Relationship Id="rId9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874981" y="3177196"/>
            <a:ext cx="9144000" cy="1496400"/>
          </a:xfrm>
        </p:spPr>
        <p:txBody>
          <a:bodyPr>
            <a:noAutofit/>
          </a:bodyPr>
          <a:lstStyle/>
          <a:p>
            <a:r>
              <a:rPr lang="pt-BR" sz="4800" dirty="0"/>
              <a:t>Linguagem de Programação de Banco de Dados</a:t>
            </a:r>
            <a:br>
              <a:rPr lang="pt-BR" sz="4800" dirty="0"/>
            </a:br>
            <a:r>
              <a:rPr lang="pt-BR" sz="2400" dirty="0"/>
              <a:t>Prof. José Carlos Perini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874981" y="4923127"/>
            <a:ext cx="9144000" cy="1655762"/>
          </a:xfrm>
        </p:spPr>
        <p:txBody>
          <a:bodyPr/>
          <a:lstStyle/>
          <a:p>
            <a:r>
              <a:rPr lang="pt-BR" dirty="0"/>
              <a:t>Aula 3 – T-SQL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5725" y="0"/>
            <a:ext cx="7340168" cy="2484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881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91700" y="2214066"/>
            <a:ext cx="6180181" cy="10225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b="1" kern="0" spc="-32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Programação de Banco de Dados com T-SQL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5291700" y="3308548"/>
            <a:ext cx="6180181" cy="255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16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Introdução à programação no SQL Server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291700" y="3834011"/>
            <a:ext cx="6180181" cy="8099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Nesta aula, todos os exemplos serão desenvolvidos e executados diretamente no </a:t>
            </a:r>
            <a:r>
              <a:rPr lang="en-US" sz="1400" b="1" dirty="0">
                <a:solidFill>
                  <a:srgbClr val="3D3838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SQL Server Management Studio (SSMS)</a:t>
            </a: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. Abra o SSMS e prepare um novo arquivo de consulta.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9813" y="579240"/>
            <a:ext cx="1861461" cy="210938"/>
          </a:xfrm>
          <a:prstGeom prst="roundRect">
            <a:avLst>
              <a:gd name="adj" fmla="val 7902"/>
            </a:avLst>
          </a:prstGeom>
          <a:solidFill>
            <a:srgbClr val="E4E4E7"/>
          </a:solidFill>
          <a:ln/>
        </p:spPr>
      </p:sp>
      <p:sp>
        <p:nvSpPr>
          <p:cNvPr id="3" name="Text 1"/>
          <p:cNvSpPr/>
          <p:nvPr/>
        </p:nvSpPr>
        <p:spPr>
          <a:xfrm>
            <a:off x="822304" y="610295"/>
            <a:ext cx="2097730" cy="157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CONTEXTO DA DISCIPLINA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19814" y="864592"/>
            <a:ext cx="10752067" cy="485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b="1" kern="0" spc="-31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Onde estamos na disciplina?</a:t>
            </a:r>
            <a:endParaRPr lang="en-US" sz="3050" dirty="0"/>
          </a:p>
        </p:txBody>
      </p:sp>
      <p:sp>
        <p:nvSpPr>
          <p:cNvPr id="5" name="Text 3"/>
          <p:cNvSpPr/>
          <p:nvPr/>
        </p:nvSpPr>
        <p:spPr>
          <a:xfrm>
            <a:off x="719814" y="1593949"/>
            <a:ext cx="10752067" cy="499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3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Saímos da etapa de </a:t>
            </a:r>
            <a:r>
              <a:rPr lang="en-US" sz="1300" b="1" dirty="0">
                <a:solidFill>
                  <a:srgbClr val="3D3838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consulta e manipulação de dados</a:t>
            </a:r>
            <a:r>
              <a:rPr lang="en-US" sz="13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e entramos agora na etapa de </a:t>
            </a:r>
            <a:r>
              <a:rPr lang="en-US" sz="1300" b="1" dirty="0">
                <a:solidFill>
                  <a:srgbClr val="3D3838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programação dentro do banco de dados</a:t>
            </a:r>
            <a:r>
              <a:rPr lang="en-US" sz="13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. Esta é uma virada de chave na disciplina.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814" y="2276475"/>
            <a:ext cx="5376033" cy="68391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0764" y="3122811"/>
            <a:ext cx="5034134" cy="242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0" spc="-15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SQL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90764" y="3463032"/>
            <a:ext cx="5034134" cy="249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3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Consultas e manipulação de dados</a:t>
            </a:r>
            <a:endParaRPr lang="en-US" sz="13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48" y="2276475"/>
            <a:ext cx="5376033" cy="68391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66797" y="3122811"/>
            <a:ext cx="5034134" cy="242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0" spc="-15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T-SQL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266797" y="3463032"/>
            <a:ext cx="5034134" cy="249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3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← </a:t>
            </a:r>
            <a:r>
              <a:rPr lang="en-US" sz="1300" b="1" dirty="0">
                <a:solidFill>
                  <a:srgbClr val="3D3838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Você está aqui</a:t>
            </a:r>
            <a:r>
              <a:rPr lang="en-US" sz="13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→ Lógica de programação</a:t>
            </a:r>
            <a:endParaRPr lang="en-US" sz="13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814" y="3883918"/>
            <a:ext cx="5376033" cy="68391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90764" y="4730254"/>
            <a:ext cx="5034134" cy="242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0" spc="-15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Procedures e Functions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890764" y="5070475"/>
            <a:ext cx="5034134" cy="249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3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Próximos tópicos</a:t>
            </a:r>
            <a:endParaRPr lang="en-US" sz="13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5848" y="3883918"/>
            <a:ext cx="5376033" cy="68391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266797" y="4730254"/>
            <a:ext cx="5034134" cy="242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0" spc="-15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Triggers, Views, Transações</a:t>
            </a:r>
            <a:endParaRPr lang="en-US" sz="1500" dirty="0"/>
          </a:p>
        </p:txBody>
      </p:sp>
      <p:sp>
        <p:nvSpPr>
          <p:cNvPr id="17" name="Text 11"/>
          <p:cNvSpPr/>
          <p:nvPr/>
        </p:nvSpPr>
        <p:spPr>
          <a:xfrm>
            <a:off x="6266797" y="5070475"/>
            <a:ext cx="5034134" cy="249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3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Tópicos avançados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719814" y="5674023"/>
            <a:ext cx="10752067" cy="643830"/>
          </a:xfrm>
          <a:prstGeom prst="roundRect">
            <a:avLst>
              <a:gd name="adj" fmla="val 3983"/>
            </a:avLst>
          </a:prstGeom>
          <a:solidFill>
            <a:srgbClr val="E4E4E7"/>
          </a:solidFill>
          <a:ln/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0764" y="5900936"/>
            <a:ext cx="213712" cy="17095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275425" y="5879108"/>
            <a:ext cx="10635091" cy="249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A partir de hoje, </a:t>
            </a:r>
            <a:r>
              <a:rPr lang="en-US" sz="1300" b="1" dirty="0">
                <a:solidFill>
                  <a:srgbClr val="000000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não apenas consultamos</a:t>
            </a:r>
            <a:r>
              <a:rPr lang="en-US" sz="1300" dirty="0">
                <a:solidFill>
                  <a:srgbClr val="000000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o banco — começamos a </a:t>
            </a:r>
            <a:r>
              <a:rPr lang="en-US" sz="1300" b="1" dirty="0">
                <a:solidFill>
                  <a:srgbClr val="000000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programar dentro dele</a:t>
            </a:r>
            <a:r>
              <a:rPr lang="en-US" sz="1300" dirty="0">
                <a:solidFill>
                  <a:srgbClr val="000000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9813" y="958751"/>
            <a:ext cx="1309011" cy="273447"/>
          </a:xfrm>
          <a:prstGeom prst="roundRect">
            <a:avLst>
              <a:gd name="adj" fmla="val 7898"/>
            </a:avLst>
          </a:prstGeom>
          <a:noFill/>
          <a:ln w="6350">
            <a:solidFill>
              <a:srgbClr val="2D2E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7761" y="1012726"/>
            <a:ext cx="1551246" cy="165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2D2E34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FUNDAMENTOS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9814" y="1304131"/>
            <a:ext cx="10752067" cy="511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b="1" kern="0" spc="-32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O que é T-SQL?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90138" y="2085280"/>
            <a:ext cx="5415819" cy="3341588"/>
          </a:xfrm>
          <a:prstGeom prst="roundRect">
            <a:avLst>
              <a:gd name="adj" fmla="val 808"/>
            </a:avLst>
          </a:prstGeom>
          <a:solidFill>
            <a:srgbClr val="2D2E34"/>
          </a:solidFill>
          <a:ln/>
        </p:spPr>
      </p:sp>
      <p:sp>
        <p:nvSpPr>
          <p:cNvPr id="6" name="Text 4"/>
          <p:cNvSpPr/>
          <p:nvPr/>
        </p:nvSpPr>
        <p:spPr>
          <a:xfrm>
            <a:off x="770017" y="2265164"/>
            <a:ext cx="5056061" cy="255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16" dirty="0">
                <a:solidFill>
                  <a:srgbClr val="FFFFFF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SQL Padrão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0017" y="2700635"/>
            <a:ext cx="5056061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Linguagem declarativa para </a:t>
            </a:r>
            <a:r>
              <a:rPr lang="en-US" sz="1400" b="1" dirty="0">
                <a:solidFill>
                  <a:srgbClr val="FFFFFF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manipular e consultar dados</a:t>
            </a:r>
            <a:r>
              <a:rPr lang="en-US" sz="1400" dirty="0">
                <a:solidFill>
                  <a:srgbClr val="FFFFFF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. Você diz </a:t>
            </a:r>
            <a:r>
              <a:rPr lang="en-US" sz="1400" i="1" dirty="0">
                <a:solidFill>
                  <a:srgbClr val="FFFFFF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o que</a:t>
            </a:r>
            <a:r>
              <a:rPr lang="en-US" sz="1400" dirty="0">
                <a:solidFill>
                  <a:srgbClr val="FFFFFF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quer, não </a:t>
            </a:r>
            <a:r>
              <a:rPr lang="en-US" sz="1400" i="1" dirty="0">
                <a:solidFill>
                  <a:srgbClr val="FFFFFF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como</a:t>
            </a:r>
            <a:r>
              <a:rPr lang="en-US" sz="1400" dirty="0">
                <a:solidFill>
                  <a:srgbClr val="FFFFFF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obtê-lo.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0017" y="3442990"/>
            <a:ext cx="5056061" cy="1223566"/>
          </a:xfrm>
          <a:prstGeom prst="roundRect">
            <a:avLst>
              <a:gd name="adj" fmla="val 2206"/>
            </a:avLst>
          </a:prstGeom>
          <a:solidFill>
            <a:srgbClr val="3A3B41"/>
          </a:solidFill>
          <a:ln/>
        </p:spPr>
      </p:sp>
      <p:sp>
        <p:nvSpPr>
          <p:cNvPr id="9" name="Text 7"/>
          <p:cNvSpPr/>
          <p:nvPr/>
        </p:nvSpPr>
        <p:spPr>
          <a:xfrm>
            <a:off x="985912" y="3622873"/>
            <a:ext cx="4624272" cy="863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nome, salario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Funcionarios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salario &gt; 3000;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321763" y="2265164"/>
            <a:ext cx="5156468" cy="255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16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T-SQL (Transact-SQL)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21763" y="2700635"/>
            <a:ext cx="5156468" cy="8099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Extensão </a:t>
            </a:r>
            <a:r>
              <a:rPr lang="en-US" sz="1400" b="1" dirty="0">
                <a:solidFill>
                  <a:srgbClr val="3D3838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procedural proprietária do SQL Server</a:t>
            </a: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. Combina comandos SQL com recursos de programação: variáveis, condições, loops e muito mais.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21763" y="3712964"/>
            <a:ext cx="5156468" cy="1511498"/>
          </a:xfrm>
          <a:prstGeom prst="roundRect">
            <a:avLst>
              <a:gd name="adj" fmla="val 1786"/>
            </a:avLst>
          </a:prstGeom>
          <a:solidFill>
            <a:srgbClr val="F2F2F2"/>
          </a:solidFill>
          <a:ln/>
        </p:spPr>
      </p:sp>
      <p:sp>
        <p:nvSpPr>
          <p:cNvPr id="13" name="Text 11"/>
          <p:cNvSpPr/>
          <p:nvPr/>
        </p:nvSpPr>
        <p:spPr>
          <a:xfrm>
            <a:off x="6537658" y="3892848"/>
            <a:ext cx="4724679" cy="1151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DECLARE @limite DECIMAL(10,2);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@limite = 3000.00;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@limite &gt; 2000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PRINT 'Acima do mínimo';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15022" y="5629275"/>
            <a:ext cx="11361652" cy="269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3D3838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SQL = trabalhar com dados  |  T-SQL = trabalhar com dados </a:t>
            </a:r>
            <a:r>
              <a:rPr lang="en-US" sz="1400" b="1" dirty="0">
                <a:solidFill>
                  <a:srgbClr val="2D2E34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+ lógica de programação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9814" y="1121866"/>
            <a:ext cx="1175661" cy="273447"/>
          </a:xfrm>
          <a:prstGeom prst="roundRect">
            <a:avLst>
              <a:gd name="adj" fmla="val 7898"/>
            </a:avLst>
          </a:prstGeom>
          <a:noFill/>
          <a:ln w="6350">
            <a:solidFill>
              <a:srgbClr val="2D2E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7761" y="1194891"/>
            <a:ext cx="1453121" cy="165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2D2E34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COMPARAÇÃO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9814" y="1486297"/>
            <a:ext cx="10752067" cy="511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b="1" kern="0" spc="-32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SQL x T-SQL na prática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19814" y="2267446"/>
            <a:ext cx="5286044" cy="2707184"/>
          </a:xfrm>
          <a:prstGeom prst="roundRect">
            <a:avLst>
              <a:gd name="adj" fmla="val 997"/>
            </a:avLst>
          </a:prstGeom>
          <a:solidFill>
            <a:srgbClr val="F2EEEE"/>
          </a:solidFill>
          <a:ln/>
        </p:spPr>
      </p:sp>
      <p:sp>
        <p:nvSpPr>
          <p:cNvPr id="6" name="Text 4"/>
          <p:cNvSpPr/>
          <p:nvPr/>
        </p:nvSpPr>
        <p:spPr>
          <a:xfrm>
            <a:off x="899693" y="2447330"/>
            <a:ext cx="4926286" cy="255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16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SQL Tradicional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99693" y="2810867"/>
            <a:ext cx="4926286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Uma instrução por vez. Sem variáveis, sem condições, sem repetição.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99693" y="3553222"/>
            <a:ext cx="4926286" cy="935633"/>
          </a:xfrm>
          <a:prstGeom prst="roundRect">
            <a:avLst>
              <a:gd name="adj" fmla="val 2885"/>
            </a:avLst>
          </a:prstGeom>
          <a:solidFill>
            <a:srgbClr val="F2F2F2"/>
          </a:solidFill>
          <a:ln/>
        </p:spPr>
      </p:sp>
      <p:sp>
        <p:nvSpPr>
          <p:cNvPr id="9" name="Text 7"/>
          <p:cNvSpPr/>
          <p:nvPr/>
        </p:nvSpPr>
        <p:spPr>
          <a:xfrm>
            <a:off x="1115588" y="3733105"/>
            <a:ext cx="4494497" cy="5758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228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228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Clientes;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85737" y="2267446"/>
            <a:ext cx="5286144" cy="2707184"/>
          </a:xfrm>
          <a:prstGeom prst="roundRect">
            <a:avLst>
              <a:gd name="adj" fmla="val 997"/>
            </a:avLst>
          </a:prstGeom>
          <a:solidFill>
            <a:srgbClr val="F2EEEE"/>
          </a:solidFill>
          <a:ln/>
        </p:spPr>
      </p:sp>
      <p:sp>
        <p:nvSpPr>
          <p:cNvPr id="11" name="Text 9"/>
          <p:cNvSpPr/>
          <p:nvPr/>
        </p:nvSpPr>
        <p:spPr>
          <a:xfrm>
            <a:off x="6365617" y="2447330"/>
            <a:ext cx="4926385" cy="255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16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T-SQL com Programação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65617" y="2810867"/>
            <a:ext cx="4926385" cy="269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Variáveis, decisões e lógica integradas a um script completo.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365617" y="3283248"/>
            <a:ext cx="4926385" cy="1511498"/>
          </a:xfrm>
          <a:prstGeom prst="roundRect">
            <a:avLst>
              <a:gd name="adj" fmla="val 1786"/>
            </a:avLst>
          </a:prstGeom>
          <a:solidFill>
            <a:srgbClr val="F2F2F2"/>
          </a:solidFill>
          <a:ln/>
        </p:spPr>
      </p:sp>
      <p:sp>
        <p:nvSpPr>
          <p:cNvPr id="14" name="Text 12"/>
          <p:cNvSpPr/>
          <p:nvPr/>
        </p:nvSpPr>
        <p:spPr>
          <a:xfrm>
            <a:off x="6581511" y="3463131"/>
            <a:ext cx="4494596" cy="1151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DECLARE @total INT;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@total = 10;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@total &gt; 5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PRINT 'Qtd maior que 5';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19814" y="5177036"/>
            <a:ext cx="10752067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O T-SQL transforma o SQL Server em um </a:t>
            </a:r>
            <a:r>
              <a:rPr lang="en-US" sz="1400" b="1" dirty="0">
                <a:solidFill>
                  <a:srgbClr val="3D3838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ambiente de programação completo</a:t>
            </a: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, permitindo criar scripts, automatizar tarefas e implementar regras de negócio diretamente no banco de dados.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9814" y="647106"/>
            <a:ext cx="1299486" cy="216792"/>
          </a:xfrm>
          <a:prstGeom prst="roundRect">
            <a:avLst>
              <a:gd name="adj" fmla="val 7903"/>
            </a:avLst>
          </a:prstGeom>
          <a:noFill/>
          <a:ln w="6350">
            <a:solidFill>
              <a:srgbClr val="2D2E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16947" y="695623"/>
            <a:ext cx="1588353" cy="148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2D2E34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PRÁTICA NO SSMS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19814" y="951309"/>
            <a:ext cx="10752067" cy="460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50" b="1" kern="0" spc="-29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O Primeiro Script T-SQL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719814" y="1629966"/>
            <a:ext cx="11361652" cy="2308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2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Execute este script no SSMS e observe o resultado no painel de mensagens (</a:t>
            </a:r>
            <a:r>
              <a:rPr lang="en-US" sz="1250" b="1" dirty="0">
                <a:solidFill>
                  <a:srgbClr val="3D3838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Ctrl + E</a:t>
            </a:r>
            <a:r>
              <a:rPr lang="en-US" sz="12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para executar):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19814" y="2024757"/>
            <a:ext cx="10752067" cy="3174603"/>
          </a:xfrm>
          <a:prstGeom prst="roundRect">
            <a:avLst>
              <a:gd name="adj" fmla="val 765"/>
            </a:avLst>
          </a:prstGeom>
          <a:solidFill>
            <a:srgbClr val="F2F2F2"/>
          </a:solidFill>
          <a:ln/>
        </p:spPr>
      </p:sp>
      <p:sp>
        <p:nvSpPr>
          <p:cNvPr id="7" name="Text 5"/>
          <p:cNvSpPr/>
          <p:nvPr/>
        </p:nvSpPr>
        <p:spPr>
          <a:xfrm>
            <a:off x="914179" y="2186682"/>
            <a:ext cx="10363338" cy="285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Comentário de uma linha: este é meu primeiro script T-SQL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Comentário de múltiplas linhas.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Ideal para documentar blocos de código.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*/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DECLARE @mensagem VARCHAR(100);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@mensagem = 'Olá, T-SQL!';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 @mensagem;   -- Exibe a mensagem no painel de resultados</a:t>
            </a:r>
            <a:endParaRPr lang="en-US" sz="12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9814" y="5363270"/>
            <a:ext cx="323941" cy="32394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25916" y="5418931"/>
            <a:ext cx="2956446" cy="229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kern="0" spc="-14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Comentários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225916" y="5736332"/>
            <a:ext cx="2956446" cy="474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25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--</a:t>
            </a:r>
            <a:r>
              <a:rPr lang="en-US" sz="12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para uma linha; </a:t>
            </a:r>
            <a:r>
              <a:rPr lang="en-US" sz="125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/* ... */</a:t>
            </a:r>
            <a:r>
              <a:rPr lang="en-US" sz="12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para múltiplas linhas.</a:t>
            </a:r>
            <a:endParaRPr lang="en-US" sz="12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64524" y="5363270"/>
            <a:ext cx="323941" cy="32394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70626" y="5418931"/>
            <a:ext cx="2956446" cy="229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kern="0" spc="-14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Execução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870626" y="5736332"/>
            <a:ext cx="2956446" cy="474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2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Selecione o trecho desejado e pressione </a:t>
            </a:r>
            <a:r>
              <a:rPr lang="en-US" sz="125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F5</a:t>
            </a:r>
            <a:r>
              <a:rPr lang="en-US" sz="12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ou clique em </a:t>
            </a:r>
            <a:r>
              <a:rPr lang="en-US" sz="1250" b="1" dirty="0">
                <a:solidFill>
                  <a:srgbClr val="3D3838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Executar</a:t>
            </a:r>
            <a:r>
              <a:rPr lang="en-US" sz="12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.</a:t>
            </a:r>
            <a:endParaRPr lang="en-US" sz="12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09233" y="5363270"/>
            <a:ext cx="323941" cy="32394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515335" y="5418931"/>
            <a:ext cx="2956546" cy="229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kern="0" spc="-14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Ponto e vírgula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8515335" y="5736332"/>
            <a:ext cx="2956546" cy="4617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2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Recomendado ao final de cada instrução T-SQL para garantir compatibilidade.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9814" y="787301"/>
            <a:ext cx="785136" cy="232470"/>
          </a:xfrm>
          <a:prstGeom prst="roundRect">
            <a:avLst>
              <a:gd name="adj" fmla="val 7897"/>
            </a:avLst>
          </a:prstGeom>
          <a:noFill/>
          <a:ln w="6350">
            <a:solidFill>
              <a:srgbClr val="2D2E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11589" y="871240"/>
            <a:ext cx="1128982" cy="140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50" dirty="0">
                <a:solidFill>
                  <a:srgbClr val="2D2E34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VARIÁVEIS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19814" y="1071761"/>
            <a:ext cx="10752067" cy="434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kern="0" spc="-27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Declarando Variáveis com DECLARE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719814" y="1701304"/>
            <a:ext cx="11361652" cy="224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Em T-SQL, toda variável deve ser </a:t>
            </a:r>
            <a:r>
              <a:rPr lang="en-US" sz="1200" b="1" dirty="0">
                <a:solidFill>
                  <a:srgbClr val="3D3838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declarada antes de ser utilizada</a:t>
            </a: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. O prefixo </a:t>
            </a:r>
            <a:r>
              <a:rPr lang="en-US" sz="12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@</a:t>
            </a: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é obrigatório e identifica que o nome se refere a uma variável local.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19814" y="2072481"/>
            <a:ext cx="10752067" cy="2019201"/>
          </a:xfrm>
          <a:prstGeom prst="roundRect">
            <a:avLst>
              <a:gd name="adj" fmla="val 1136"/>
            </a:avLst>
          </a:prstGeom>
          <a:solidFill>
            <a:srgbClr val="F2F2F2"/>
          </a:solidFill>
          <a:ln/>
        </p:spPr>
      </p:sp>
      <p:sp>
        <p:nvSpPr>
          <p:cNvPr id="7" name="Text 5"/>
          <p:cNvSpPr/>
          <p:nvPr/>
        </p:nvSpPr>
        <p:spPr>
          <a:xfrm>
            <a:off x="903364" y="2225377"/>
            <a:ext cx="10384967" cy="17134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Sintaxe: DECLARE @nome_variavel TIPO_DE_DADO;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DECLARE @nome      VARCHAR(100);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DECLARE @idade     INT;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DECLARE @salario   DECIMAL(10, 2);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DECLARE @ativo     BIT;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DECLARE @dataNasc  DATE;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19814" y="4237930"/>
            <a:ext cx="2590537" cy="851396"/>
          </a:xfrm>
          <a:prstGeom prst="roundRect">
            <a:avLst>
              <a:gd name="adj" fmla="val 2695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1756" y="4409877"/>
            <a:ext cx="2246653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14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VARCHAR(n)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91756" y="4705152"/>
            <a:ext cx="2246653" cy="212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Texto de até n caracteres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40324" y="4237930"/>
            <a:ext cx="2590537" cy="851396"/>
          </a:xfrm>
          <a:prstGeom prst="roundRect">
            <a:avLst>
              <a:gd name="adj" fmla="val 2695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12266" y="4409877"/>
            <a:ext cx="2246653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14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INT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612266" y="4705152"/>
            <a:ext cx="2246653" cy="212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Número inteiro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60834" y="4237930"/>
            <a:ext cx="2590537" cy="851396"/>
          </a:xfrm>
          <a:prstGeom prst="roundRect">
            <a:avLst>
              <a:gd name="adj" fmla="val 2695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32776" y="4409877"/>
            <a:ext cx="2246653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14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DECIMAL(p,s)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332776" y="4705152"/>
            <a:ext cx="2246653" cy="212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Número com casas decimais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881344" y="4237930"/>
            <a:ext cx="2590537" cy="851396"/>
          </a:xfrm>
          <a:prstGeom prst="roundRect">
            <a:avLst>
              <a:gd name="adj" fmla="val 2695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53286" y="4409877"/>
            <a:ext cx="2246653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14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BIT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053286" y="4705152"/>
            <a:ext cx="2246653" cy="212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Booleano: 0 ou 1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19814" y="5219303"/>
            <a:ext cx="10752067" cy="851396"/>
          </a:xfrm>
          <a:prstGeom prst="roundRect">
            <a:avLst>
              <a:gd name="adj" fmla="val 2695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1756" y="5391249"/>
            <a:ext cx="10408183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14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DATE / DATETIME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91756" y="5686524"/>
            <a:ext cx="10408183" cy="212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Data e hora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6964" y="883741"/>
            <a:ext cx="826670" cy="273447"/>
          </a:xfrm>
          <a:prstGeom prst="roundRect">
            <a:avLst>
              <a:gd name="adj" fmla="val 7898"/>
            </a:avLst>
          </a:prstGeom>
          <a:noFill/>
          <a:ln w="6350">
            <a:solidFill>
              <a:srgbClr val="2D2E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7761" y="937716"/>
            <a:ext cx="1220360" cy="165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2D2E34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VARIÁVEIS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9814" y="1229122"/>
            <a:ext cx="10752067" cy="511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b="1" kern="0" spc="-32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Atribuindo Valores às Variáveis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19814" y="2010271"/>
            <a:ext cx="11361652" cy="269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Existem </a:t>
            </a:r>
            <a:r>
              <a:rPr lang="en-US" sz="1400" b="1" dirty="0">
                <a:solidFill>
                  <a:srgbClr val="3D3838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três formas principais</a:t>
            </a: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de atribuir valor a uma variável em T-SQL. Cada uma tem seu momento ideal de uso: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19814" y="2482652"/>
            <a:ext cx="404902" cy="40491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7" name="Text 5"/>
          <p:cNvSpPr/>
          <p:nvPr/>
        </p:nvSpPr>
        <p:spPr>
          <a:xfrm>
            <a:off x="799534" y="2531666"/>
            <a:ext cx="245362" cy="3067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00" b="1" kern="0" spc="-19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304595" y="2544465"/>
            <a:ext cx="2849293" cy="255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16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SET — Atribuição direta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304595" y="3002459"/>
            <a:ext cx="2849293" cy="935633"/>
          </a:xfrm>
          <a:prstGeom prst="roundRect">
            <a:avLst>
              <a:gd name="adj" fmla="val 2885"/>
            </a:avLst>
          </a:prstGeom>
          <a:solidFill>
            <a:srgbClr val="F2F2F2"/>
          </a:solidFill>
          <a:ln/>
        </p:spPr>
      </p:sp>
      <p:sp>
        <p:nvSpPr>
          <p:cNvPr id="10" name="Text 8"/>
          <p:cNvSpPr/>
          <p:nvPr/>
        </p:nvSpPr>
        <p:spPr>
          <a:xfrm>
            <a:off x="1520489" y="3182342"/>
            <a:ext cx="2417504" cy="5758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DECLARE @idade INT;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@idade = 25;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78811" y="2482652"/>
            <a:ext cx="404902" cy="40491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2" name="Text 10"/>
          <p:cNvSpPr/>
          <p:nvPr/>
        </p:nvSpPr>
        <p:spPr>
          <a:xfrm>
            <a:off x="4458531" y="2531666"/>
            <a:ext cx="245362" cy="3067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00" b="1" kern="0" spc="-19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963591" y="2544465"/>
            <a:ext cx="2849293" cy="255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16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Inicialização na declaração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963591" y="3002459"/>
            <a:ext cx="2849293" cy="647700"/>
          </a:xfrm>
          <a:prstGeom prst="roundRect">
            <a:avLst>
              <a:gd name="adj" fmla="val 4168"/>
            </a:avLst>
          </a:prstGeom>
          <a:solidFill>
            <a:srgbClr val="F2F2F2"/>
          </a:solidFill>
          <a:ln/>
        </p:spPr>
      </p:sp>
      <p:sp>
        <p:nvSpPr>
          <p:cNvPr id="15" name="Text 13"/>
          <p:cNvSpPr/>
          <p:nvPr/>
        </p:nvSpPr>
        <p:spPr>
          <a:xfrm>
            <a:off x="5179486" y="3182342"/>
            <a:ext cx="2417504" cy="287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DECLARE @idade INT = 25;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37808" y="2482652"/>
            <a:ext cx="404902" cy="40491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7" name="Text 15"/>
          <p:cNvSpPr/>
          <p:nvPr/>
        </p:nvSpPr>
        <p:spPr>
          <a:xfrm>
            <a:off x="8117528" y="2531666"/>
            <a:ext cx="245362" cy="3067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00" b="1" kern="0" spc="-19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622588" y="2544465"/>
            <a:ext cx="2849293" cy="511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16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SELECT — Atribuição a partir do banco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622588" y="3258046"/>
            <a:ext cx="2849293" cy="1799431"/>
          </a:xfrm>
          <a:prstGeom prst="roundRect">
            <a:avLst>
              <a:gd name="adj" fmla="val 1500"/>
            </a:avLst>
          </a:prstGeom>
          <a:solidFill>
            <a:srgbClr val="F2F2F2"/>
          </a:solidFill>
          <a:ln/>
        </p:spPr>
      </p:sp>
      <p:sp>
        <p:nvSpPr>
          <p:cNvPr id="20" name="Text 18"/>
          <p:cNvSpPr/>
          <p:nvPr/>
        </p:nvSpPr>
        <p:spPr>
          <a:xfrm>
            <a:off x="8838483" y="3437930"/>
            <a:ext cx="2417504" cy="1439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DECLARE @nome VARCHAR(100);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@nome = nome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Clientes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id = 1;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19814" y="5259884"/>
            <a:ext cx="10752067" cy="714375"/>
          </a:xfrm>
          <a:prstGeom prst="roundRect">
            <a:avLst>
              <a:gd name="adj" fmla="val 3779"/>
            </a:avLst>
          </a:prstGeom>
          <a:solidFill>
            <a:srgbClr val="B6D6FC"/>
          </a:solidFill>
          <a:ln/>
        </p:spPr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693" y="5505053"/>
            <a:ext cx="224923" cy="179884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304495" y="5484713"/>
            <a:ext cx="10597091" cy="282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Use </a:t>
            </a:r>
            <a:r>
              <a:rPr lang="en-US" sz="14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SET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para valores literais e </a:t>
            </a:r>
            <a:r>
              <a:rPr lang="en-US" sz="14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quando o valor vem de uma consulta ao banco de dados.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9814" y="698698"/>
            <a:ext cx="1347111" cy="232470"/>
          </a:xfrm>
          <a:prstGeom prst="roundRect">
            <a:avLst>
              <a:gd name="adj" fmla="val 7897"/>
            </a:avLst>
          </a:prstGeom>
          <a:noFill/>
          <a:ln w="6350">
            <a:solidFill>
              <a:srgbClr val="2D2E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11589" y="763588"/>
            <a:ext cx="1612860" cy="140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50" dirty="0">
                <a:solidFill>
                  <a:srgbClr val="2D2E34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VARIÁVEIS EM AÇÃO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19814" y="1002209"/>
            <a:ext cx="10752067" cy="434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kern="0" spc="-27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Usando Variáveis em Consultas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719814" y="1631752"/>
            <a:ext cx="11361652" cy="212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Um dos maiores ganhos das variáveis é tornar consultas </a:t>
            </a:r>
            <a:r>
              <a:rPr lang="en-US" sz="1200" b="1" dirty="0">
                <a:solidFill>
                  <a:srgbClr val="3D3838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dinâmicas e reutilizáveis</a:t>
            </a: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. Basta alterar o valor da variável e a consulta se adapta automaticamente: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19814" y="1990229"/>
            <a:ext cx="10752067" cy="2753519"/>
          </a:xfrm>
          <a:prstGeom prst="roundRect">
            <a:avLst>
              <a:gd name="adj" fmla="val 833"/>
            </a:avLst>
          </a:prstGeom>
          <a:solidFill>
            <a:srgbClr val="F2F2F2"/>
          </a:solidFill>
          <a:ln/>
        </p:spPr>
      </p:sp>
      <p:sp>
        <p:nvSpPr>
          <p:cNvPr id="7" name="Text 5"/>
          <p:cNvSpPr/>
          <p:nvPr/>
        </p:nvSpPr>
        <p:spPr>
          <a:xfrm>
            <a:off x="903364" y="2143125"/>
            <a:ext cx="10384967" cy="2447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Sistema de Vendas: buscar clientes por cidade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DECLARE @cidade VARCHAR(50) = 'São Paulo';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 ClienteID,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nome,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cidade,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telefone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   Clientes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  cidade = @cidade;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19814" y="5019973"/>
            <a:ext cx="5189408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14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Por que usar variáveis em consultas?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19814" y="5367238"/>
            <a:ext cx="5189408" cy="727571"/>
          </a:xfrm>
          <a:prstGeom prst="rect">
            <a:avLst/>
          </a:prstGeom>
          <a:noFill/>
          <a:ln/>
        </p:spPr>
        <p:txBody>
          <a:bodyPr wrap="square" lIns="0" tIns="61192" rIns="0" bIns="0" rtlCol="0" anchor="t">
            <a:normAutofit/>
          </a:bodyPr>
          <a:lstStyle/>
          <a:p>
            <a:pPr marL="243840" indent="-243840" algn="l">
              <a:lnSpc>
                <a:spcPct val="116000"/>
              </a:lnSpc>
              <a:buSzPct val="100000"/>
              <a:buChar char="•"/>
            </a:pP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Facilita a manutenção: altere em um só lugar</a:t>
            </a:r>
            <a:endParaRPr lang="en-US" sz="1200" dirty="0"/>
          </a:p>
          <a:p>
            <a:pPr marL="243840" indent="-243840" algn="l">
              <a:lnSpc>
                <a:spcPct val="116000"/>
              </a:lnSpc>
              <a:buSzPct val="100000"/>
              <a:buChar char="•"/>
            </a:pP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Torna o código mais legível e intencional</a:t>
            </a:r>
            <a:endParaRPr lang="en-US" sz="1200" dirty="0"/>
          </a:p>
          <a:p>
            <a:pPr marL="243840" indent="-243840" algn="l">
              <a:lnSpc>
                <a:spcPct val="116000"/>
              </a:lnSpc>
              <a:buSzPct val="100000"/>
              <a:buChar char="•"/>
            </a:pP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É a base para Stored Procedures e scripts parametrizados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8594" y="4889996"/>
            <a:ext cx="5409866" cy="1250255"/>
          </a:xfrm>
          <a:prstGeom prst="roundRect">
            <a:avLst>
              <a:gd name="adj" fmla="val 1835"/>
            </a:avLst>
          </a:prstGeom>
          <a:solidFill>
            <a:srgbClr val="2D2E34"/>
          </a:solidFill>
          <a:ln/>
        </p:spPr>
      </p:sp>
      <p:sp>
        <p:nvSpPr>
          <p:cNvPr id="11" name="Text 9"/>
          <p:cNvSpPr/>
          <p:nvPr/>
        </p:nvSpPr>
        <p:spPr>
          <a:xfrm>
            <a:off x="6331486" y="5019973"/>
            <a:ext cx="5104082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14" dirty="0">
                <a:solidFill>
                  <a:srgbClr val="FFFFFF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Experimente no SSMS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331486" y="5367238"/>
            <a:ext cx="5104082" cy="4371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Troque </a:t>
            </a:r>
            <a:r>
              <a:rPr lang="en-US" sz="1200" dirty="0">
                <a:solidFill>
                  <a:srgbClr val="FFFFFF"/>
                </a:solidFill>
                <a:highlight>
                  <a:srgbClr val="3A3B4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São Paulo</a:t>
            </a:r>
            <a:r>
              <a:rPr lang="en-US" sz="1200" dirty="0">
                <a:solidFill>
                  <a:srgbClr val="FFFFFF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por outra cidade da sua tabela e execute novamente. Observe como o resultado muda sem alterar a estrutura da consulta.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6964" y="844252"/>
            <a:ext cx="1289961" cy="232470"/>
          </a:xfrm>
          <a:prstGeom prst="roundRect">
            <a:avLst>
              <a:gd name="adj" fmla="val 7897"/>
            </a:avLst>
          </a:prstGeom>
          <a:noFill/>
          <a:ln w="6350">
            <a:solidFill>
              <a:srgbClr val="2D2E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11589" y="890091"/>
            <a:ext cx="1612860" cy="140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50" dirty="0">
                <a:solidFill>
                  <a:srgbClr val="2D2E34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VARIÁVEIS EM AÇÃO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19814" y="1128713"/>
            <a:ext cx="10752067" cy="434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kern="0" spc="-27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Armazenando Resultados em Variáveis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719814" y="1758255"/>
            <a:ext cx="11361652" cy="212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Podemos armazenar o </a:t>
            </a:r>
            <a:r>
              <a:rPr lang="en-US" sz="1200" b="1" dirty="0">
                <a:solidFill>
                  <a:srgbClr val="3D3838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resultado de uma agregação</a:t>
            </a: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em uma variável e usá-lo em seguida — em condições, mensagens ou cálculos: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19814" y="2116733"/>
            <a:ext cx="10752067" cy="2753519"/>
          </a:xfrm>
          <a:prstGeom prst="roundRect">
            <a:avLst>
              <a:gd name="adj" fmla="val 833"/>
            </a:avLst>
          </a:prstGeom>
          <a:solidFill>
            <a:srgbClr val="F2F2F2"/>
          </a:solidFill>
          <a:ln/>
        </p:spPr>
      </p:sp>
      <p:sp>
        <p:nvSpPr>
          <p:cNvPr id="7" name="Text 5"/>
          <p:cNvSpPr/>
          <p:nvPr/>
        </p:nvSpPr>
        <p:spPr>
          <a:xfrm>
            <a:off x="903364" y="2269629"/>
            <a:ext cx="10384967" cy="2447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Sistema de Vendas: total de clientes cadastrados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DECLARE @totalClientes INT;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@totalClientes = COUNT(*)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  Clientes;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 'Total de clientes: ' + CAST(@totalClientes AS VARCHAR);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Resultado exibido no painel de mensagens do SSMS</a:t>
            </a:r>
            <a:endParaRPr lang="en-US" sz="12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9814" y="5016500"/>
            <a:ext cx="305884" cy="30589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8214" y="5069086"/>
            <a:ext cx="3007245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14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COUNT(*)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188214" y="5364361"/>
            <a:ext cx="3007245" cy="649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Conta todas as linhas retornadas. O resultado é armazenado diretamente na variável via </a:t>
            </a:r>
            <a:r>
              <a:rPr lang="en-US" sz="12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.</a:t>
            </a:r>
            <a:endParaRPr lang="en-US" sz="12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57975" y="5016500"/>
            <a:ext cx="305884" cy="30589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26375" y="5069086"/>
            <a:ext cx="3007245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14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PRINT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826375" y="5364361"/>
            <a:ext cx="3007245" cy="424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Exibe mensagens no painel de mensagens do SSMS. Útil para depurar scripts.</a:t>
            </a:r>
            <a:endParaRPr lang="en-US" sz="12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96137" y="5016500"/>
            <a:ext cx="305884" cy="30589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464537" y="5069086"/>
            <a:ext cx="3007344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14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CAST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8464537" y="5364361"/>
            <a:ext cx="3007344" cy="4371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Converte o tipo de dado. Necessário para concatenar um </a:t>
            </a:r>
            <a:r>
              <a:rPr lang="en-US" sz="12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com </a:t>
            </a:r>
            <a:r>
              <a:rPr lang="en-US" sz="12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VARCHAR</a:t>
            </a: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9813" y="1263651"/>
            <a:ext cx="1994811" cy="219472"/>
          </a:xfrm>
          <a:prstGeom prst="roundRect">
            <a:avLst>
              <a:gd name="adj" fmla="val 7898"/>
            </a:avLst>
          </a:prstGeom>
          <a:solidFill>
            <a:srgbClr val="E4E4E7"/>
          </a:solidFill>
          <a:ln/>
        </p:spPr>
      </p:sp>
      <p:sp>
        <p:nvSpPr>
          <p:cNvPr id="4" name="Text 1"/>
          <p:cNvSpPr/>
          <p:nvPr/>
        </p:nvSpPr>
        <p:spPr>
          <a:xfrm>
            <a:off x="827761" y="1317625"/>
            <a:ext cx="2172539" cy="165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ESTRUTURAS DE DECISÃO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19814" y="1609030"/>
            <a:ext cx="6180181" cy="511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b="1" kern="0" spc="-32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Scripts que Tomam Decisões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719814" y="2390180"/>
            <a:ext cx="6180181" cy="8099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Assim como em qualquer linguagem de programação, o T-SQL permite que um script </a:t>
            </a:r>
            <a:r>
              <a:rPr lang="en-US" sz="1400" b="1" dirty="0">
                <a:solidFill>
                  <a:srgbClr val="3D3838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avalie condições e execute blocos diferentes</a:t>
            </a: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dependendo do resultado. Isso é o que transforma um script simples em lógica de negócio real.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19814" y="3402509"/>
            <a:ext cx="3000102" cy="1005979"/>
          </a:xfrm>
          <a:prstGeom prst="roundRect">
            <a:avLst>
              <a:gd name="adj" fmla="val 2684"/>
            </a:avLst>
          </a:prstGeom>
          <a:solidFill>
            <a:srgbClr val="F2EEEE"/>
          </a:solidFill>
          <a:ln/>
        </p:spPr>
      </p:sp>
      <p:sp>
        <p:nvSpPr>
          <p:cNvPr id="8" name="Text 5"/>
          <p:cNvSpPr/>
          <p:nvPr/>
        </p:nvSpPr>
        <p:spPr>
          <a:xfrm>
            <a:off x="899693" y="3582392"/>
            <a:ext cx="2640343" cy="255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16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Operadores Relacionais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99693" y="3945930"/>
            <a:ext cx="2640343" cy="282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  </a:t>
            </a:r>
            <a:r>
              <a:rPr lang="en-US" sz="14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&lt;&gt;</a:t>
            </a: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  </a:t>
            </a:r>
            <a:r>
              <a:rPr lang="en-US" sz="14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  </a:t>
            </a:r>
            <a:r>
              <a:rPr lang="en-US" sz="14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  </a:t>
            </a:r>
            <a:r>
              <a:rPr lang="en-US" sz="14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&gt;=</a:t>
            </a: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  </a:t>
            </a:r>
            <a:r>
              <a:rPr lang="en-US" sz="14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&lt;=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899795" y="3402509"/>
            <a:ext cx="3000201" cy="1005979"/>
          </a:xfrm>
          <a:prstGeom prst="roundRect">
            <a:avLst>
              <a:gd name="adj" fmla="val 2684"/>
            </a:avLst>
          </a:prstGeom>
          <a:solidFill>
            <a:srgbClr val="F2EEEE"/>
          </a:solidFill>
          <a:ln/>
        </p:spPr>
      </p:sp>
      <p:sp>
        <p:nvSpPr>
          <p:cNvPr id="11" name="Text 8"/>
          <p:cNvSpPr/>
          <p:nvPr/>
        </p:nvSpPr>
        <p:spPr>
          <a:xfrm>
            <a:off x="4079674" y="3582392"/>
            <a:ext cx="2640443" cy="255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16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Operadores Lógicos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079674" y="3945930"/>
            <a:ext cx="2640443" cy="282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  </a:t>
            </a:r>
            <a:r>
              <a:rPr lang="en-US" sz="14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OR</a:t>
            </a: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  </a:t>
            </a:r>
            <a:r>
              <a:rPr lang="en-US" sz="14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19814" y="4588371"/>
            <a:ext cx="6180181" cy="1005979"/>
          </a:xfrm>
          <a:prstGeom prst="roundRect">
            <a:avLst>
              <a:gd name="adj" fmla="val 2684"/>
            </a:avLst>
          </a:prstGeom>
          <a:solidFill>
            <a:srgbClr val="F2EEEE"/>
          </a:solidFill>
          <a:ln/>
        </p:spPr>
      </p:sp>
      <p:sp>
        <p:nvSpPr>
          <p:cNvPr id="14" name="Text 11"/>
          <p:cNvSpPr/>
          <p:nvPr/>
        </p:nvSpPr>
        <p:spPr>
          <a:xfrm>
            <a:off x="899693" y="4768255"/>
            <a:ext cx="5820423" cy="255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16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Estruturas Disponíveis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99693" y="5131792"/>
            <a:ext cx="5820423" cy="282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   </a:t>
            </a:r>
            <a:r>
              <a:rPr lang="en-US" sz="14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IF...ELSE</a:t>
            </a: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   </a:t>
            </a:r>
            <a:r>
              <a:rPr lang="en-US" sz="14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CASE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9814" y="757536"/>
            <a:ext cx="1547136" cy="198636"/>
          </a:xfrm>
          <a:prstGeom prst="roundRect">
            <a:avLst>
              <a:gd name="adj" fmla="val 7898"/>
            </a:avLst>
          </a:prstGeom>
          <a:noFill/>
          <a:ln w="6350">
            <a:solidFill>
              <a:srgbClr val="2D2E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0774" y="817066"/>
            <a:ext cx="1782420" cy="124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2D2E34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ESTRUTURAS DE DECISÃO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19814" y="1003102"/>
            <a:ext cx="10752067" cy="383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kern="0" spc="-24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IF...ELSE e BEGIN...END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19814" y="1538387"/>
            <a:ext cx="11361652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0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O bloco </a:t>
            </a:r>
            <a:r>
              <a:rPr lang="en-US" sz="105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BEGIN...END</a:t>
            </a:r>
            <a:r>
              <a:rPr lang="en-US" sz="10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agrupa múltiplos comandos como se fossem um único — </a:t>
            </a:r>
            <a:r>
              <a:rPr lang="en-US" sz="1050" b="1" dirty="0">
                <a:solidFill>
                  <a:srgbClr val="3D3838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indispensável</a:t>
            </a:r>
            <a:r>
              <a:rPr lang="en-US" sz="10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quando o IF ou ELSE precisam executar mais de uma instrução: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19814" y="1841996"/>
            <a:ext cx="10752067" cy="3292475"/>
          </a:xfrm>
          <a:prstGeom prst="roundRect">
            <a:avLst>
              <a:gd name="adj" fmla="val 615"/>
            </a:avLst>
          </a:prstGeom>
          <a:solidFill>
            <a:srgbClr val="F2F2F2"/>
          </a:solidFill>
          <a:ln/>
        </p:spPr>
      </p:sp>
      <p:sp>
        <p:nvSpPr>
          <p:cNvPr id="7" name="Text 5"/>
          <p:cNvSpPr/>
          <p:nvPr/>
        </p:nvSpPr>
        <p:spPr>
          <a:xfrm>
            <a:off x="881735" y="1976934"/>
            <a:ext cx="10428225" cy="302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Sistema de Vendas: verificar disponibilidade de produto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DECLARE @estoque INT = 8;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@estoque &gt; 0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 'Produto disponível.';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 'Quantidade em estoque: ' + CAST(@estoque AS VARCHAR);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 'Produto indisponível.';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 'Solicite reposição ao fornecedor.';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END;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19814" y="5349478"/>
            <a:ext cx="5211434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0" spc="-12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BEGIN...END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19814" y="5642372"/>
            <a:ext cx="5211434" cy="3669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0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Equivalente às </a:t>
            </a:r>
            <a:r>
              <a:rPr lang="en-US" sz="105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 }</a:t>
            </a:r>
            <a:r>
              <a:rPr lang="en-US" sz="10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de outras linguagens. Sempre use quando houver </a:t>
            </a:r>
            <a:r>
              <a:rPr lang="en-US" sz="1050" b="1" dirty="0">
                <a:solidFill>
                  <a:srgbClr val="3D3838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mais de um comando</a:t>
            </a:r>
            <a:r>
              <a:rPr lang="en-US" sz="10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dentro do IF ou ELSE.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69664" y="5248275"/>
            <a:ext cx="5405699" cy="852091"/>
          </a:xfrm>
          <a:prstGeom prst="roundRect">
            <a:avLst>
              <a:gd name="adj" fmla="val 2376"/>
            </a:avLst>
          </a:prstGeom>
          <a:solidFill>
            <a:srgbClr val="2D2E34"/>
          </a:solidFill>
          <a:ln/>
        </p:spPr>
      </p:sp>
      <p:sp>
        <p:nvSpPr>
          <p:cNvPr id="11" name="Text 9"/>
          <p:cNvSpPr/>
          <p:nvPr/>
        </p:nvSpPr>
        <p:spPr>
          <a:xfrm>
            <a:off x="6304599" y="5349478"/>
            <a:ext cx="5135831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0" spc="-12" dirty="0">
                <a:solidFill>
                  <a:srgbClr val="FFFFFF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Boas práticas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304599" y="5642372"/>
            <a:ext cx="5135831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Mesmo com um único comando, usar BEGIN...END é recomendado: torna o código mais legível e evita erros futuros ao adicionar novas linhas.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9814" y="539750"/>
            <a:ext cx="1147086" cy="203795"/>
          </a:xfrm>
          <a:prstGeom prst="roundRect">
            <a:avLst>
              <a:gd name="adj" fmla="val 7898"/>
            </a:avLst>
          </a:prstGeom>
          <a:noFill/>
          <a:ln w="6350">
            <a:solidFill>
              <a:srgbClr val="2D2E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0774" y="589756"/>
            <a:ext cx="1452625" cy="124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2D2E34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EXEMPLO PRÁTICO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19814" y="785316"/>
            <a:ext cx="10752067" cy="383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kern="0" spc="-24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IF aplicado a uma situação real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19814" y="1320602"/>
            <a:ext cx="11361652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0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Veja como o T-SQL consulta o banco e, com base no resultado, toma uma decisão de negócio — algo impossível de fazer com SQL puro: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19814" y="1611511"/>
            <a:ext cx="10752067" cy="4156075"/>
          </a:xfrm>
          <a:prstGeom prst="roundRect">
            <a:avLst>
              <a:gd name="adj" fmla="val 487"/>
            </a:avLst>
          </a:prstGeom>
          <a:solidFill>
            <a:srgbClr val="F2F2F2"/>
          </a:solidFill>
          <a:ln/>
        </p:spPr>
      </p:sp>
      <p:sp>
        <p:nvSpPr>
          <p:cNvPr id="7" name="Text 5"/>
          <p:cNvSpPr/>
          <p:nvPr/>
        </p:nvSpPr>
        <p:spPr>
          <a:xfrm>
            <a:off x="881735" y="1746448"/>
            <a:ext cx="10428225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Sistema de Vendas: verificar limite de crédito do cliente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DECLARE @clienteID   INT = 5;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DECLARE @valorPedido DECIMAL(10,2) = 1500.00;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DECLARE @limiteCredito DECIMAL(10,2);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@limiteCredito = limiteCredito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  Clientes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 ClienteID = @clienteID;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@valorPedido &lt;= @limiteCredito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 'Pedido aprovado. Limite suficiente.';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 'Pedido recusado. Limite de crédito insuficiente.';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END;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19814" y="5881390"/>
            <a:ext cx="10752067" cy="436860"/>
          </a:xfrm>
          <a:prstGeom prst="roundRect">
            <a:avLst>
              <a:gd name="adj" fmla="val 4635"/>
            </a:avLst>
          </a:prstGeom>
          <a:solidFill>
            <a:srgbClr val="E4E4E7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748" y="6018907"/>
            <a:ext cx="168668" cy="13493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58350" y="6016327"/>
            <a:ext cx="10788182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Este é o coração do T-SQL: </a:t>
            </a:r>
            <a:r>
              <a:rPr lang="en-US" sz="1050" b="1" dirty="0">
                <a:solidFill>
                  <a:srgbClr val="000000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buscar dados, avaliar condições e agir</a:t>
            </a:r>
            <a:r>
              <a:rPr lang="en-US" sz="1050" dirty="0">
                <a:solidFill>
                  <a:srgbClr val="000000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— tudo dentro do banco de dados.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9814" y="569813"/>
            <a:ext cx="1775736" cy="206474"/>
          </a:xfrm>
          <a:prstGeom prst="roundRect">
            <a:avLst>
              <a:gd name="adj" fmla="val 7897"/>
            </a:avLst>
          </a:prstGeom>
          <a:noFill/>
          <a:ln w="6350">
            <a:solidFill>
              <a:srgbClr val="2D2E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11589" y="615652"/>
            <a:ext cx="1938686" cy="140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50" dirty="0">
                <a:solidFill>
                  <a:srgbClr val="2D2E34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ESTRUTURAS DE DECISÃO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19814" y="854273"/>
            <a:ext cx="10752067" cy="434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kern="0" spc="-27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CASE — Múltiplas Condições em uma Expressão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719814" y="1483816"/>
            <a:ext cx="11361652" cy="224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O </a:t>
            </a:r>
            <a:r>
              <a:rPr lang="en-US" sz="12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CASE</a:t>
            </a: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é utilizado para </a:t>
            </a:r>
            <a:r>
              <a:rPr lang="en-US" sz="1200" b="1" dirty="0">
                <a:solidFill>
                  <a:srgbClr val="3D3838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produzir um valor</a:t>
            </a: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com base em condições — especialmente útil dentro de instruções </a:t>
            </a:r>
            <a:r>
              <a:rPr lang="en-US" sz="12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19814" y="1854994"/>
            <a:ext cx="10752067" cy="2998291"/>
          </a:xfrm>
          <a:prstGeom prst="roundRect">
            <a:avLst>
              <a:gd name="adj" fmla="val 765"/>
            </a:avLst>
          </a:prstGeom>
          <a:solidFill>
            <a:srgbClr val="F2F2F2"/>
          </a:solidFill>
          <a:ln/>
        </p:spPr>
      </p:sp>
      <p:sp>
        <p:nvSpPr>
          <p:cNvPr id="7" name="Text 5"/>
          <p:cNvSpPr/>
          <p:nvPr/>
        </p:nvSpPr>
        <p:spPr>
          <a:xfrm>
            <a:off x="903364" y="2007890"/>
            <a:ext cx="10384967" cy="2692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Sistema de Vendas: classificar faixa salarial dos funcionários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 nome,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salario,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CASE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WHEN salario &gt;= 5000 THEN 'Alto'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WHEN salario &gt;= 3000 THEN 'Médio'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ELSE                      'Baixo'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END AS faixa_salarial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   Funcionarios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salario DESC;</a:t>
            </a:r>
            <a:endParaRPr lang="en-US" sz="12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9814" y="4999534"/>
            <a:ext cx="3497373" cy="128855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7954" y="5171480"/>
            <a:ext cx="3077292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14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WHEN ... THEN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967954" y="5466755"/>
            <a:ext cx="3077292" cy="424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Avalia cada condição </a:t>
            </a:r>
            <a:r>
              <a:rPr lang="en-US" sz="1200" b="1" dirty="0">
                <a:solidFill>
                  <a:srgbClr val="3D3838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na ordem declarada</a:t>
            </a: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. A primeira condição verdadeira é aplicada.</a:t>
            </a:r>
            <a:endParaRPr lang="en-US" sz="12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7161" y="4999534"/>
            <a:ext cx="3497373" cy="128855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5301" y="5171480"/>
            <a:ext cx="3077292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14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ELSE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595301" y="5466755"/>
            <a:ext cx="3077292" cy="649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Valor retornado quando nenhuma condição anterior for satisfeita. Se omitido, retorna </a:t>
            </a:r>
            <a:r>
              <a:rPr lang="en-US" sz="12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.</a:t>
            </a:r>
            <a:endParaRPr lang="en-US" sz="12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74508" y="4999534"/>
            <a:ext cx="3497373" cy="128855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222647" y="5171480"/>
            <a:ext cx="3077292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14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AS alias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8222647" y="5466755"/>
            <a:ext cx="3077292" cy="424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Nomeia a coluna gerada pelo CASE no resultado da consulta.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9814" y="819647"/>
            <a:ext cx="1213761" cy="219472"/>
          </a:xfrm>
          <a:prstGeom prst="roundRect">
            <a:avLst>
              <a:gd name="adj" fmla="val 7898"/>
            </a:avLst>
          </a:prstGeom>
          <a:noFill/>
          <a:ln w="6350">
            <a:solidFill>
              <a:srgbClr val="2D2E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7761" y="873621"/>
            <a:ext cx="1453121" cy="165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2D2E34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COMPARAÇÃO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9814" y="1165027"/>
            <a:ext cx="10752067" cy="511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b="1" kern="0" spc="-32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IF x CASE — Qual usar?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90138" y="1946176"/>
            <a:ext cx="5415819" cy="4092079"/>
          </a:xfrm>
          <a:prstGeom prst="roundRect">
            <a:avLst>
              <a:gd name="adj" fmla="val 660"/>
            </a:avLst>
          </a:prstGeom>
          <a:solidFill>
            <a:srgbClr val="2D2E34"/>
          </a:solidFill>
          <a:ln/>
        </p:spPr>
      </p:sp>
      <p:sp>
        <p:nvSpPr>
          <p:cNvPr id="6" name="Text 4"/>
          <p:cNvSpPr/>
          <p:nvPr/>
        </p:nvSpPr>
        <p:spPr>
          <a:xfrm>
            <a:off x="770017" y="2126059"/>
            <a:ext cx="5056061" cy="255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16" dirty="0">
                <a:solidFill>
                  <a:srgbClr val="FFFFFF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IF / IF...ELSE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0017" y="2561530"/>
            <a:ext cx="5056061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Controla o fluxo de execução</a:t>
            </a:r>
            <a:r>
              <a:rPr lang="en-US" sz="1400" dirty="0">
                <a:solidFill>
                  <a:srgbClr val="FFFFFF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do script. Decide </a:t>
            </a:r>
            <a:r>
              <a:rPr lang="en-US" sz="1400" i="1" dirty="0">
                <a:solidFill>
                  <a:srgbClr val="FFFFFF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quais comandos</a:t>
            </a:r>
            <a:r>
              <a:rPr lang="en-US" sz="1400" dirty="0">
                <a:solidFill>
                  <a:srgbClr val="FFFFFF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serão executados.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0017" y="3303885"/>
            <a:ext cx="5056061" cy="1799431"/>
          </a:xfrm>
          <a:prstGeom prst="roundRect">
            <a:avLst>
              <a:gd name="adj" fmla="val 1500"/>
            </a:avLst>
          </a:prstGeom>
          <a:solidFill>
            <a:srgbClr val="3A3B41"/>
          </a:solidFill>
          <a:ln/>
        </p:spPr>
      </p:sp>
      <p:sp>
        <p:nvSpPr>
          <p:cNvPr id="9" name="Text 7"/>
          <p:cNvSpPr/>
          <p:nvPr/>
        </p:nvSpPr>
        <p:spPr>
          <a:xfrm>
            <a:off x="985912" y="3483769"/>
            <a:ext cx="4624272" cy="1439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@estoque = 0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PRINT 'Sem estoque';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 poderia inserir, atualizar, etc.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0017" y="5305723"/>
            <a:ext cx="5056061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Use quando precisar executar </a:t>
            </a:r>
            <a:r>
              <a:rPr lang="en-US" sz="1400" b="1" dirty="0">
                <a:solidFill>
                  <a:srgbClr val="FFFFFF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blocos de código diferentes</a:t>
            </a:r>
            <a:r>
              <a:rPr lang="en-US" sz="1400" dirty="0">
                <a:solidFill>
                  <a:srgbClr val="FFFFFF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dependendo de uma condição.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321763" y="2126059"/>
            <a:ext cx="5156468" cy="255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16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CASE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21763" y="2561530"/>
            <a:ext cx="5156468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3D3838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Produz um valor</a:t>
            </a: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dentro de uma expressão. Não executa blocos — retorna um resultado.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321763" y="3303885"/>
            <a:ext cx="5156468" cy="2087364"/>
          </a:xfrm>
          <a:prstGeom prst="roundRect">
            <a:avLst>
              <a:gd name="adj" fmla="val 1293"/>
            </a:avLst>
          </a:prstGeom>
          <a:solidFill>
            <a:srgbClr val="F2F2F2"/>
          </a:solidFill>
          <a:ln/>
        </p:spPr>
      </p:sp>
      <p:sp>
        <p:nvSpPr>
          <p:cNvPr id="14" name="Text 12"/>
          <p:cNvSpPr/>
          <p:nvPr/>
        </p:nvSpPr>
        <p:spPr>
          <a:xfrm>
            <a:off x="6537658" y="3483769"/>
            <a:ext cx="4724679" cy="17275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nome,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WHEN estoque = 0 THEN 'Sem estoque'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 'Disponível'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END AS situacao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Produtos;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21763" y="5593655"/>
            <a:ext cx="5766053" cy="282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Use dentro de </a:t>
            </a:r>
            <a:r>
              <a:rPr lang="en-US" sz="14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, </a:t>
            </a:r>
            <a:r>
              <a:rPr lang="en-US" sz="14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UPDATE</a:t>
            </a: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, </a:t>
            </a:r>
            <a:r>
              <a:rPr lang="en-US" sz="14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</a:t>
            </a: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e </a:t>
            </a:r>
            <a:r>
              <a:rPr lang="en-US" sz="14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9813" y="919063"/>
            <a:ext cx="1918611" cy="284460"/>
          </a:xfrm>
          <a:prstGeom prst="roundRect">
            <a:avLst>
              <a:gd name="adj" fmla="val 7897"/>
            </a:avLst>
          </a:prstGeom>
          <a:solidFill>
            <a:srgbClr val="E4E4E7"/>
          </a:solidFill>
          <a:ln/>
        </p:spPr>
      </p:sp>
      <p:sp>
        <p:nvSpPr>
          <p:cNvPr id="4" name="Text 1"/>
          <p:cNvSpPr/>
          <p:nvPr/>
        </p:nvSpPr>
        <p:spPr>
          <a:xfrm>
            <a:off x="811589" y="964902"/>
            <a:ext cx="2066973" cy="140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ESTRUTURAS DE REPETIÇÃO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719814" y="1203523"/>
            <a:ext cx="6180181" cy="869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kern="0" spc="-27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Quando o Script Precisa se Repetir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719814" y="2267645"/>
            <a:ext cx="6180181" cy="4371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Loops permitem executar um bloco de código </a:t>
            </a:r>
            <a:r>
              <a:rPr lang="en-US" sz="1200" b="1" dirty="0">
                <a:solidFill>
                  <a:srgbClr val="3D3838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múltiplas vezes</a:t>
            </a: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, enquanto uma condição for verdadeira. Em T-SQL, a estrutura de repetição disponível é o </a:t>
            </a:r>
            <a:r>
              <a:rPr lang="en-US" sz="12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19814" y="2851051"/>
            <a:ext cx="3025104" cy="1250454"/>
          </a:xfrm>
          <a:prstGeom prst="roundRect">
            <a:avLst>
              <a:gd name="adj" fmla="val 1835"/>
            </a:avLst>
          </a:prstGeom>
          <a:solidFill>
            <a:srgbClr val="F2EEEE"/>
          </a:solidFill>
          <a:ln/>
        </p:spPr>
      </p:sp>
      <p:sp>
        <p:nvSpPr>
          <p:cNvPr id="8" name="Text 5"/>
          <p:cNvSpPr/>
          <p:nvPr/>
        </p:nvSpPr>
        <p:spPr>
          <a:xfrm>
            <a:off x="872706" y="3003947"/>
            <a:ext cx="2719319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14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WHILE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72706" y="3299222"/>
            <a:ext cx="2719319" cy="649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Repete o bloco enquanto a condição for </a:t>
            </a:r>
            <a:r>
              <a:rPr lang="en-US" sz="12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. A condição é avaliada </a:t>
            </a:r>
            <a:r>
              <a:rPr lang="en-US" sz="1200" b="1" dirty="0">
                <a:solidFill>
                  <a:srgbClr val="3D3838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antes</a:t>
            </a: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de cada iteração.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874891" y="2851051"/>
            <a:ext cx="3025104" cy="1250454"/>
          </a:xfrm>
          <a:prstGeom prst="roundRect">
            <a:avLst>
              <a:gd name="adj" fmla="val 1835"/>
            </a:avLst>
          </a:prstGeom>
          <a:solidFill>
            <a:srgbClr val="F2EEEE"/>
          </a:solidFill>
          <a:ln/>
        </p:spPr>
      </p:sp>
      <p:sp>
        <p:nvSpPr>
          <p:cNvPr id="11" name="Text 8"/>
          <p:cNvSpPr/>
          <p:nvPr/>
        </p:nvSpPr>
        <p:spPr>
          <a:xfrm>
            <a:off x="4027784" y="3003947"/>
            <a:ext cx="2719319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14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BREAK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027784" y="3299222"/>
            <a:ext cx="2719319" cy="424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Encerra o loop imediatamente, independentemente da condição.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19814" y="4231481"/>
            <a:ext cx="6180181" cy="813296"/>
          </a:xfrm>
          <a:prstGeom prst="roundRect">
            <a:avLst>
              <a:gd name="adj" fmla="val 2821"/>
            </a:avLst>
          </a:prstGeom>
          <a:solidFill>
            <a:srgbClr val="F2EEEE"/>
          </a:solidFill>
          <a:ln/>
        </p:spPr>
      </p:sp>
      <p:sp>
        <p:nvSpPr>
          <p:cNvPr id="14" name="Text 11"/>
          <p:cNvSpPr/>
          <p:nvPr/>
        </p:nvSpPr>
        <p:spPr>
          <a:xfrm>
            <a:off x="872706" y="4384377"/>
            <a:ext cx="5874397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14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CONTINUE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872706" y="4679652"/>
            <a:ext cx="5874397" cy="212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Pula o restante da iteração atual e volta ao início do loop para reavaliação.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19814" y="5191026"/>
            <a:ext cx="6180181" cy="747812"/>
          </a:xfrm>
          <a:prstGeom prst="roundRect">
            <a:avLst>
              <a:gd name="adj" fmla="val 3069"/>
            </a:avLst>
          </a:prstGeom>
          <a:solidFill>
            <a:srgbClr val="FCF2B5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706" y="5371405"/>
            <a:ext cx="191190" cy="15289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216788" y="5359202"/>
            <a:ext cx="5530315" cy="424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Cuidado com </a:t>
            </a:r>
            <a:r>
              <a:rPr lang="en-US" sz="1200" b="1" dirty="0">
                <a:solidFill>
                  <a:srgbClr val="000000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loops infinitos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! Sempre garanta que a variável de controle seja atualizada dentro do WHILE.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9813" y="501055"/>
            <a:ext cx="1537611" cy="214610"/>
          </a:xfrm>
          <a:prstGeom prst="roundRect">
            <a:avLst>
              <a:gd name="adj" fmla="val 7902"/>
            </a:avLst>
          </a:prstGeom>
          <a:noFill/>
          <a:ln w="6350">
            <a:solidFill>
              <a:srgbClr val="2D2E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91944" y="565646"/>
            <a:ext cx="1753747" cy="110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2D2E34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ESTRUTURAS DE REPETIÇÃO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719814" y="715665"/>
            <a:ext cx="10752067" cy="341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b="1" kern="0" spc="-22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WHILE — Passo a Passo</a:t>
            </a:r>
            <a:endParaRPr lang="en-US" sz="2150" dirty="0"/>
          </a:p>
        </p:txBody>
      </p:sp>
      <p:sp>
        <p:nvSpPr>
          <p:cNvPr id="5" name="Shape 3"/>
          <p:cNvSpPr/>
          <p:nvPr/>
        </p:nvSpPr>
        <p:spPr>
          <a:xfrm>
            <a:off x="719814" y="1177627"/>
            <a:ext cx="10752067" cy="1971774"/>
          </a:xfrm>
          <a:prstGeom prst="roundRect">
            <a:avLst>
              <a:gd name="adj" fmla="val 915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864074" y="1297781"/>
            <a:ext cx="10463546" cy="1731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Contagem simples de 1 a 5</a:t>
            </a:r>
            <a:endParaRPr lang="en-US" sz="900" dirty="0"/>
          </a:p>
          <a:p>
            <a:pPr marL="0" indent="0" algn="l">
              <a:lnSpc>
                <a:spcPct val="133000"/>
              </a:lnSpc>
              <a:buNone/>
            </a:pPr>
            <a:endParaRPr lang="en-US" sz="9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DECLARE @contador INT = 1;</a:t>
            </a:r>
            <a:endParaRPr lang="en-US" sz="900" dirty="0"/>
          </a:p>
          <a:p>
            <a:pPr marL="0" indent="0" algn="l">
              <a:lnSpc>
                <a:spcPct val="133000"/>
              </a:lnSpc>
              <a:buNone/>
            </a:pPr>
            <a:endParaRPr lang="en-US" sz="9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@contador &lt;= 5</a:t>
            </a:r>
            <a:endParaRPr lang="en-US" sz="9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</a:t>
            </a:r>
            <a:endParaRPr lang="en-US" sz="9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 'Contador: ' + CAST(@contador AS VARCHAR);</a:t>
            </a:r>
            <a:endParaRPr lang="en-US" sz="9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SET @contador = @contador + 1;   -- atualiza a variável de controle</a:t>
            </a:r>
            <a:endParaRPr lang="en-US" sz="9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END;</a:t>
            </a:r>
            <a:endParaRPr lang="en-US" sz="9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0316" y="3239691"/>
            <a:ext cx="6270964" cy="287010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62030" y="5438565"/>
            <a:ext cx="1177333" cy="2061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b="1" kern="0" spc="-13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Repetir/Sair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278268" y="5438565"/>
            <a:ext cx="1177333" cy="2061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b="1" kern="0" spc="-13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Executar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802570" y="5438565"/>
            <a:ext cx="1177333" cy="2061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b="1" kern="0" spc="-13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Avaliar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3294617" y="5438565"/>
            <a:ext cx="1177333" cy="2061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b="1" kern="0" spc="-13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Declarar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19814" y="6200080"/>
            <a:ext cx="11361652" cy="156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Observe que sem o </a:t>
            </a:r>
            <a:r>
              <a:rPr lang="en-US" sz="9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SET @contador = @contador + 1</a:t>
            </a:r>
            <a:r>
              <a:rPr lang="en-US" sz="9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, a condição jamais se tornaria falsa — criando um </a:t>
            </a:r>
            <a:r>
              <a:rPr lang="en-US" sz="900" b="1" dirty="0">
                <a:solidFill>
                  <a:srgbClr val="3D3838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loop infinito</a:t>
            </a:r>
            <a:r>
              <a:rPr lang="en-US" sz="9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que travaria a execução.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9814" y="530622"/>
            <a:ext cx="1985286" cy="214015"/>
          </a:xfrm>
          <a:prstGeom prst="roundRect">
            <a:avLst>
              <a:gd name="adj" fmla="val 7897"/>
            </a:avLst>
          </a:prstGeom>
          <a:noFill/>
          <a:ln w="6350">
            <a:solidFill>
              <a:srgbClr val="2D2E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15459" y="578445"/>
            <a:ext cx="2128487" cy="146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2D2E34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ESTRUTURAS DE REPETIÇÃO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19814" y="829370"/>
            <a:ext cx="10752067" cy="452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50" b="1" kern="0" spc="-29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BREAK e CONTINUE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719814" y="1635323"/>
            <a:ext cx="5181570" cy="2264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kern="0" spc="-14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BREAK — Encerrar o loop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19814" y="2020590"/>
            <a:ext cx="5181570" cy="2869803"/>
          </a:xfrm>
          <a:prstGeom prst="roundRect">
            <a:avLst>
              <a:gd name="adj" fmla="val 833"/>
            </a:avLst>
          </a:prstGeom>
          <a:solidFill>
            <a:srgbClr val="F2F2F2"/>
          </a:solidFill>
          <a:ln/>
        </p:spPr>
      </p:sp>
      <p:sp>
        <p:nvSpPr>
          <p:cNvPr id="7" name="Text 5"/>
          <p:cNvSpPr/>
          <p:nvPr/>
        </p:nvSpPr>
        <p:spPr>
          <a:xfrm>
            <a:off x="911103" y="2180034"/>
            <a:ext cx="4798992" cy="2550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DECLARE @n INT = 1;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@n &lt;= 10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@n = 6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BREAK; -- sai ao atingir 6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 @n;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SET @n = @n + 1;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END;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Imprime: 1, 2, 3, 4, 5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81868" y="1494135"/>
            <a:ext cx="5411156" cy="3555107"/>
          </a:xfrm>
          <a:prstGeom prst="roundRect">
            <a:avLst>
              <a:gd name="adj" fmla="val 673"/>
            </a:avLst>
          </a:prstGeom>
          <a:solidFill>
            <a:srgbClr val="2D2E34"/>
          </a:solidFill>
          <a:ln/>
        </p:spPr>
      </p:sp>
      <p:sp>
        <p:nvSpPr>
          <p:cNvPr id="9" name="Text 7"/>
          <p:cNvSpPr/>
          <p:nvPr/>
        </p:nvSpPr>
        <p:spPr>
          <a:xfrm>
            <a:off x="6341309" y="1635323"/>
            <a:ext cx="5092275" cy="2264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kern="0" spc="-14" dirty="0">
                <a:solidFill>
                  <a:srgbClr val="FFFFFF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CONTINUE — Pular uma iteração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41309" y="2020590"/>
            <a:ext cx="5092275" cy="2869803"/>
          </a:xfrm>
          <a:prstGeom prst="roundRect">
            <a:avLst>
              <a:gd name="adj" fmla="val 833"/>
            </a:avLst>
          </a:prstGeom>
          <a:solidFill>
            <a:srgbClr val="3A3B41"/>
          </a:solidFill>
          <a:ln/>
        </p:spPr>
      </p:sp>
      <p:sp>
        <p:nvSpPr>
          <p:cNvPr id="11" name="Text 9"/>
          <p:cNvSpPr/>
          <p:nvPr/>
        </p:nvSpPr>
        <p:spPr>
          <a:xfrm>
            <a:off x="6532598" y="2180034"/>
            <a:ext cx="4709697" cy="2550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DECLARE @n INT = 0;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@n &lt; 5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SET @n = @n + 1;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@n = 3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CONTINUE; -- pula o 3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 @n;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END;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Imprime: 1, 2, 4, 5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19814" y="5208091"/>
            <a:ext cx="5305391" cy="1119187"/>
          </a:xfrm>
          <a:prstGeom prst="roundRect">
            <a:avLst>
              <a:gd name="adj" fmla="val 2137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8304" y="5386586"/>
            <a:ext cx="4948411" cy="2264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kern="0" spc="-14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BREAK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98304" y="5697736"/>
            <a:ext cx="4948411" cy="22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Encerra o WHILE completamente. Execução continua após o END do loop.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166390" y="5208091"/>
            <a:ext cx="5305491" cy="1119187"/>
          </a:xfrm>
          <a:prstGeom prst="roundRect">
            <a:avLst>
              <a:gd name="adj" fmla="val 2137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44880" y="5386586"/>
            <a:ext cx="4948511" cy="2264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kern="0" spc="-14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CONTINUE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44880" y="5697736"/>
            <a:ext cx="4948511" cy="451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Ignora o restante do bloco atual e </a:t>
            </a:r>
            <a:r>
              <a:rPr lang="en-US" sz="1250" b="1" dirty="0">
                <a:solidFill>
                  <a:srgbClr val="3D3838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retorna ao topo</a:t>
            </a:r>
            <a:r>
              <a:rPr lang="en-US" sz="12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do WHILE para reavaliar a condição.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9814" y="864295"/>
            <a:ext cx="1385211" cy="186630"/>
          </a:xfrm>
          <a:prstGeom prst="roundRect">
            <a:avLst>
              <a:gd name="adj" fmla="val 7897"/>
            </a:avLst>
          </a:prstGeom>
          <a:solidFill>
            <a:srgbClr val="E4E4E7"/>
          </a:solidFill>
          <a:ln/>
        </p:spPr>
      </p:sp>
      <p:sp>
        <p:nvSpPr>
          <p:cNvPr id="3" name="Text 1"/>
          <p:cNvSpPr/>
          <p:nvPr/>
        </p:nvSpPr>
        <p:spPr>
          <a:xfrm>
            <a:off x="811589" y="910134"/>
            <a:ext cx="1608097" cy="140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DESAFIO PRÁTICO 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19814" y="1148755"/>
            <a:ext cx="10752067" cy="434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kern="0" spc="-27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Hora de Praticar — Classificação de Estoque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719814" y="1778298"/>
            <a:ext cx="11361652" cy="212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Crie um script T-SQL no SSMS que classifique a situação de um produto com base na quantidade em estoque. Use variáveis e estrutura condicional.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9814" y="2136775"/>
            <a:ext cx="5311047" cy="15288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83513" y="2251472"/>
            <a:ext cx="183550" cy="2293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kern="0" spc="-12" dirty="0">
                <a:solidFill>
                  <a:srgbClr val="FFFFFF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91756" y="2748558"/>
            <a:ext cx="4967163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14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Declare a variável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91756" y="3043833"/>
            <a:ext cx="4967163" cy="4371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Crie uma variável </a:t>
            </a:r>
            <a:r>
              <a:rPr lang="en-US" sz="12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para armazenar a quantidade em estoque e atribua um valor.</a:t>
            </a:r>
            <a:endParaRPr lang="en-US" sz="12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60834" y="2136775"/>
            <a:ext cx="5311047" cy="152886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724533" y="2251472"/>
            <a:ext cx="183550" cy="2293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kern="0" spc="-12" dirty="0">
                <a:solidFill>
                  <a:srgbClr val="FFFFFF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6332776" y="2748558"/>
            <a:ext cx="4967163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14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Avalie as condições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332776" y="3043833"/>
            <a:ext cx="4967163" cy="449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Use </a:t>
            </a:r>
            <a:r>
              <a:rPr lang="en-US" sz="12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IF...ELSE</a:t>
            </a: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encadeado para classificar: </a:t>
            </a:r>
            <a:r>
              <a:rPr lang="en-US" sz="12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→ "Sem estoque" / </a:t>
            </a:r>
            <a:r>
              <a:rPr lang="en-US" sz="12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1–5</a:t>
            </a: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→ "Estoque baixo" / </a:t>
            </a:r>
            <a:r>
              <a:rPr lang="en-US" sz="12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6–20</a:t>
            </a: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→ "Estoque normal" / </a:t>
            </a:r>
            <a:r>
              <a:rPr lang="en-US" sz="12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&gt;20</a:t>
            </a: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→ "Estoque alto".</a:t>
            </a:r>
            <a:endParaRPr lang="en-US" sz="12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9814" y="3795613"/>
            <a:ext cx="5311047" cy="150346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283513" y="3910310"/>
            <a:ext cx="183550" cy="2293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kern="0" spc="-12" dirty="0">
                <a:solidFill>
                  <a:srgbClr val="FFFFFF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891756" y="4407396"/>
            <a:ext cx="4967163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14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Exiba o resultado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891756" y="4702671"/>
            <a:ext cx="4967163" cy="224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Use </a:t>
            </a:r>
            <a:r>
              <a:rPr lang="en-US" sz="12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para exibir a classificação no painel de mensagens do SSMS.</a:t>
            </a:r>
            <a:endParaRPr lang="en-US" sz="12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60834" y="3795613"/>
            <a:ext cx="5311047" cy="150346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724533" y="3910310"/>
            <a:ext cx="183550" cy="2293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kern="0" spc="-12" dirty="0">
                <a:solidFill>
                  <a:srgbClr val="FFFFFF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6332776" y="4407396"/>
            <a:ext cx="4967163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14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Teste com valores diferentes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6332776" y="4702671"/>
            <a:ext cx="4967163" cy="424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Altere o valor da variável e execute novamente para validar cada faixa de estoque.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719814" y="5445323"/>
            <a:ext cx="10752067" cy="548283"/>
          </a:xfrm>
          <a:prstGeom prst="roundRect">
            <a:avLst>
              <a:gd name="adj" fmla="val 4185"/>
            </a:avLst>
          </a:prstGeom>
          <a:solidFill>
            <a:srgbClr val="D9D9D9"/>
          </a:solidFill>
          <a:ln/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2706" y="5625703"/>
            <a:ext cx="191190" cy="15289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216788" y="5613499"/>
            <a:ext cx="10711785" cy="224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Consegue adaptar o script para que o valor venha de uma consulta real na tabela </a:t>
            </a:r>
            <a:r>
              <a:rPr lang="en-US" sz="12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Produtos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?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9814" y="884238"/>
            <a:ext cx="1575711" cy="289420"/>
          </a:xfrm>
          <a:prstGeom prst="roundRect">
            <a:avLst>
              <a:gd name="adj" fmla="val 7898"/>
            </a:avLst>
          </a:prstGeom>
          <a:solidFill>
            <a:srgbClr val="E4E4E7"/>
          </a:solidFill>
          <a:ln/>
        </p:spPr>
      </p:sp>
      <p:sp>
        <p:nvSpPr>
          <p:cNvPr id="3" name="Text 1"/>
          <p:cNvSpPr/>
          <p:nvPr/>
        </p:nvSpPr>
        <p:spPr>
          <a:xfrm>
            <a:off x="827761" y="938212"/>
            <a:ext cx="1783809" cy="165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DESAFIO PRÁTICO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9814" y="1229618"/>
            <a:ext cx="10752067" cy="511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b="1" kern="0" spc="-32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Hora de Praticar — Loop com Análise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19814" y="2010767"/>
            <a:ext cx="10752067" cy="55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Crie um script T-SQL que percorra os números de </a:t>
            </a:r>
            <a:r>
              <a:rPr lang="en-US" sz="1400" b="1" dirty="0">
                <a:solidFill>
                  <a:srgbClr val="3D3838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1 a 20</a:t>
            </a: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utilizando </a:t>
            </a:r>
            <a:r>
              <a:rPr lang="en-US" sz="14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e implemente a lógica descrita abaixo. </a:t>
            </a:r>
            <a:r>
              <a:rPr lang="en-US" sz="1400" b="1" dirty="0">
                <a:solidFill>
                  <a:srgbClr val="3D3838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Não existe uma única resposta correta</a:t>
            </a: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— o objetivo é praticar os conceitos da aula.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19814" y="2765822"/>
            <a:ext cx="3464037" cy="2291060"/>
          </a:xfrm>
          <a:prstGeom prst="roundRect">
            <a:avLst>
              <a:gd name="adj" fmla="val 1178"/>
            </a:avLst>
          </a:prstGeom>
          <a:solidFill>
            <a:srgbClr val="F2EEEE"/>
          </a:solidFill>
          <a:ln/>
        </p:spPr>
      </p:sp>
      <p:sp>
        <p:nvSpPr>
          <p:cNvPr id="7" name="Shape 5"/>
          <p:cNvSpPr/>
          <p:nvPr/>
        </p:nvSpPr>
        <p:spPr>
          <a:xfrm>
            <a:off x="899693" y="2945705"/>
            <a:ext cx="539836" cy="539849"/>
          </a:xfrm>
          <a:prstGeom prst="ellipse">
            <a:avLst/>
          </a:prstGeom>
          <a:solidFill>
            <a:srgbClr val="2D2E34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8121" y="3094137"/>
            <a:ext cx="242881" cy="2428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99693" y="3665438"/>
            <a:ext cx="3104279" cy="255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16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Requisito 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99693" y="4028976"/>
            <a:ext cx="3104279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O script deve exibir todos os números de 1 a 20, um por linha.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363730" y="2765822"/>
            <a:ext cx="3464136" cy="2291060"/>
          </a:xfrm>
          <a:prstGeom prst="roundRect">
            <a:avLst>
              <a:gd name="adj" fmla="val 1178"/>
            </a:avLst>
          </a:prstGeom>
          <a:solidFill>
            <a:srgbClr val="F2EEEE"/>
          </a:solidFill>
          <a:ln/>
        </p:spPr>
      </p:sp>
      <p:sp>
        <p:nvSpPr>
          <p:cNvPr id="12" name="Shape 9"/>
          <p:cNvSpPr/>
          <p:nvPr/>
        </p:nvSpPr>
        <p:spPr>
          <a:xfrm>
            <a:off x="4543609" y="2945705"/>
            <a:ext cx="539836" cy="539849"/>
          </a:xfrm>
          <a:prstGeom prst="ellipse">
            <a:avLst/>
          </a:prstGeom>
          <a:solidFill>
            <a:srgbClr val="2D2E34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92037" y="3094137"/>
            <a:ext cx="242881" cy="24288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43609" y="3665438"/>
            <a:ext cx="3104378" cy="255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16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Requisito 2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543609" y="4028976"/>
            <a:ext cx="3104378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Para cada número, informe se ele é </a:t>
            </a:r>
            <a:r>
              <a:rPr lang="en-US" sz="1400" b="1" dirty="0">
                <a:solidFill>
                  <a:srgbClr val="3D3838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par</a:t>
            </a: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ou </a:t>
            </a:r>
            <a:r>
              <a:rPr lang="en-US" sz="1400" b="1" dirty="0">
                <a:solidFill>
                  <a:srgbClr val="3D3838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ímpar</a:t>
            </a: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8007745" y="2765822"/>
            <a:ext cx="3464136" cy="2291060"/>
          </a:xfrm>
          <a:prstGeom prst="roundRect">
            <a:avLst>
              <a:gd name="adj" fmla="val 1178"/>
            </a:avLst>
          </a:prstGeom>
          <a:solidFill>
            <a:srgbClr val="F2EEEE"/>
          </a:solidFill>
          <a:ln/>
        </p:spPr>
      </p:sp>
      <p:sp>
        <p:nvSpPr>
          <p:cNvPr id="17" name="Shape 13"/>
          <p:cNvSpPr/>
          <p:nvPr/>
        </p:nvSpPr>
        <p:spPr>
          <a:xfrm>
            <a:off x="8187624" y="2945705"/>
            <a:ext cx="539836" cy="539849"/>
          </a:xfrm>
          <a:prstGeom prst="ellipse">
            <a:avLst/>
          </a:prstGeom>
          <a:solidFill>
            <a:srgbClr val="2D2E34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36052" y="3094137"/>
            <a:ext cx="242881" cy="24288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87624" y="3665438"/>
            <a:ext cx="3104378" cy="255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16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Requisito 3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8187624" y="4028976"/>
            <a:ext cx="3104378" cy="8480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Use obrigatoriamente </a:t>
            </a:r>
            <a:r>
              <a:rPr lang="en-US" sz="14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e ao menos uma estrutura condicional (</a:t>
            </a:r>
            <a:r>
              <a:rPr lang="en-US" sz="14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ou </a:t>
            </a:r>
            <a:r>
              <a:rPr lang="en-US" sz="14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CASE</a:t>
            </a: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).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719814" y="5259288"/>
            <a:ext cx="10752067" cy="714375"/>
          </a:xfrm>
          <a:prstGeom prst="roundRect">
            <a:avLst>
              <a:gd name="adj" fmla="val 3779"/>
            </a:avLst>
          </a:prstGeom>
          <a:solidFill>
            <a:srgbClr val="B6D6FC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9693" y="5504458"/>
            <a:ext cx="224923" cy="17988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304495" y="5484118"/>
            <a:ext cx="10597091" cy="282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Dica: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o operador </a:t>
            </a:r>
            <a:r>
              <a:rPr lang="en-US" sz="14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%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(módulo) retorna o resto da divisão. Se </a:t>
            </a:r>
            <a:r>
              <a:rPr lang="en-US" sz="14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@n % 2 = 0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, o número é par.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9814" y="628055"/>
            <a:ext cx="1147086" cy="208459"/>
          </a:xfrm>
          <a:prstGeom prst="roundRect">
            <a:avLst>
              <a:gd name="adj" fmla="val 7902"/>
            </a:avLst>
          </a:prstGeom>
          <a:noFill/>
          <a:ln w="6350">
            <a:solidFill>
              <a:srgbClr val="2D2E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304" y="679252"/>
            <a:ext cx="1411351" cy="157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dirty="0">
                <a:solidFill>
                  <a:srgbClr val="2D2E34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FECHAMENTO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19814" y="952599"/>
            <a:ext cx="10752067" cy="485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b="1" kern="0" spc="-31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O que aprendemos hoje</a:t>
            </a:r>
            <a:endParaRPr lang="en-US" sz="3050" dirty="0"/>
          </a:p>
        </p:txBody>
      </p:sp>
      <p:sp>
        <p:nvSpPr>
          <p:cNvPr id="5" name="Text 3"/>
          <p:cNvSpPr/>
          <p:nvPr/>
        </p:nvSpPr>
        <p:spPr>
          <a:xfrm>
            <a:off x="719814" y="1681956"/>
            <a:ext cx="341899" cy="2137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0" spc="-13" dirty="0">
                <a:solidFill>
                  <a:srgbClr val="3D3838"/>
                </a:solidFill>
                <a:latin typeface="Arial" panose="020B0604020202020204" pitchFamily="34" charset="0"/>
                <a:ea typeface="Montserrat Light" pitchFamily="34" charset="-122"/>
                <a:cs typeface="Arial" panose="020B0604020202020204" pitchFamily="34" charset="0"/>
              </a:rPr>
              <a:t>01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19814" y="1953419"/>
            <a:ext cx="5294775" cy="19050"/>
          </a:xfrm>
          <a:prstGeom prst="rect">
            <a:avLst/>
          </a:prstGeom>
          <a:solidFill>
            <a:srgbClr val="2D2E34"/>
          </a:solidFill>
          <a:ln/>
        </p:spPr>
      </p:sp>
      <p:sp>
        <p:nvSpPr>
          <p:cNvPr id="7" name="Text 5"/>
          <p:cNvSpPr/>
          <p:nvPr/>
        </p:nvSpPr>
        <p:spPr>
          <a:xfrm>
            <a:off x="719814" y="2076946"/>
            <a:ext cx="5294775" cy="242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0" spc="-15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T-SQL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19814" y="2417167"/>
            <a:ext cx="5294775" cy="499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3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Extensão procedural do SQL Server que combina SQL com lógica de programação.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177006" y="1681956"/>
            <a:ext cx="341899" cy="2137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0" spc="-13" dirty="0">
                <a:solidFill>
                  <a:srgbClr val="3D3838"/>
                </a:solidFill>
                <a:latin typeface="Arial" panose="020B0604020202020204" pitchFamily="34" charset="0"/>
                <a:ea typeface="Montserrat Light" pitchFamily="34" charset="-122"/>
                <a:cs typeface="Arial" panose="020B0604020202020204" pitchFamily="34" charset="0"/>
              </a:rPr>
              <a:t>02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77006" y="1953419"/>
            <a:ext cx="5294875" cy="19050"/>
          </a:xfrm>
          <a:prstGeom prst="rect">
            <a:avLst/>
          </a:prstGeom>
          <a:solidFill>
            <a:srgbClr val="2D2E34"/>
          </a:solidFill>
          <a:ln/>
        </p:spPr>
      </p:sp>
      <p:sp>
        <p:nvSpPr>
          <p:cNvPr id="11" name="Text 9"/>
          <p:cNvSpPr/>
          <p:nvPr/>
        </p:nvSpPr>
        <p:spPr>
          <a:xfrm>
            <a:off x="6177006" y="2076946"/>
            <a:ext cx="5294875" cy="242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0" spc="-15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Variáveis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177006" y="2417167"/>
            <a:ext cx="5294875" cy="262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3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DECLARE</a:t>
            </a:r>
            <a:r>
              <a:rPr lang="en-US" sz="13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, </a:t>
            </a:r>
            <a:r>
              <a:rPr lang="en-US" sz="13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SET</a:t>
            </a:r>
            <a:r>
              <a:rPr lang="en-US" sz="13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, </a:t>
            </a:r>
            <a:r>
              <a:rPr lang="en-US" sz="13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3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— declarar, atribuir e usar em consultas.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19814" y="3207643"/>
            <a:ext cx="341899" cy="2137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0" spc="-13" dirty="0">
                <a:solidFill>
                  <a:srgbClr val="3D3838"/>
                </a:solidFill>
                <a:latin typeface="Arial" panose="020B0604020202020204" pitchFamily="34" charset="0"/>
                <a:ea typeface="Montserrat Light" pitchFamily="34" charset="-122"/>
                <a:cs typeface="Arial" panose="020B0604020202020204" pitchFamily="34" charset="0"/>
              </a:rPr>
              <a:t>03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19814" y="3479105"/>
            <a:ext cx="5294775" cy="19050"/>
          </a:xfrm>
          <a:prstGeom prst="rect">
            <a:avLst/>
          </a:prstGeom>
          <a:solidFill>
            <a:srgbClr val="2D2E34"/>
          </a:solidFill>
          <a:ln/>
        </p:spPr>
      </p:sp>
      <p:sp>
        <p:nvSpPr>
          <p:cNvPr id="15" name="Text 13"/>
          <p:cNvSpPr/>
          <p:nvPr/>
        </p:nvSpPr>
        <p:spPr>
          <a:xfrm>
            <a:off x="719814" y="3602633"/>
            <a:ext cx="5294775" cy="242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0" spc="-15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Decisão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19814" y="3942854"/>
            <a:ext cx="5294775" cy="512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3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IF...ELSE</a:t>
            </a:r>
            <a:r>
              <a:rPr lang="en-US" sz="13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para controlar o fluxo; </a:t>
            </a:r>
            <a:r>
              <a:rPr lang="en-US" sz="13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CASE</a:t>
            </a:r>
            <a:r>
              <a:rPr lang="en-US" sz="13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para produzir valores; </a:t>
            </a:r>
            <a:r>
              <a:rPr lang="en-US" sz="13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BEGIN...END</a:t>
            </a:r>
            <a:r>
              <a:rPr lang="en-US" sz="13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para agrupar comandos.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77006" y="3207643"/>
            <a:ext cx="341899" cy="2137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0" spc="-13" dirty="0">
                <a:solidFill>
                  <a:srgbClr val="3D3838"/>
                </a:solidFill>
                <a:latin typeface="Arial" panose="020B0604020202020204" pitchFamily="34" charset="0"/>
                <a:ea typeface="Montserrat Light" pitchFamily="34" charset="-122"/>
                <a:cs typeface="Arial" panose="020B0604020202020204" pitchFamily="34" charset="0"/>
              </a:rPr>
              <a:t>04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77006" y="3479105"/>
            <a:ext cx="5294875" cy="19050"/>
          </a:xfrm>
          <a:prstGeom prst="rect">
            <a:avLst/>
          </a:prstGeom>
          <a:solidFill>
            <a:srgbClr val="2D2E34"/>
          </a:solidFill>
          <a:ln/>
        </p:spPr>
      </p:sp>
      <p:sp>
        <p:nvSpPr>
          <p:cNvPr id="19" name="Text 17"/>
          <p:cNvSpPr/>
          <p:nvPr/>
        </p:nvSpPr>
        <p:spPr>
          <a:xfrm>
            <a:off x="6177006" y="3602633"/>
            <a:ext cx="5294875" cy="242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0" spc="-15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Repetição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177006" y="3942854"/>
            <a:ext cx="5294875" cy="512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3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r>
              <a:rPr lang="en-US" sz="13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para loops; </a:t>
            </a:r>
            <a:r>
              <a:rPr lang="en-US" sz="13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BREAK</a:t>
            </a:r>
            <a:r>
              <a:rPr lang="en-US" sz="13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para encerrar; </a:t>
            </a:r>
            <a:r>
              <a:rPr lang="en-US" sz="13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CONTINUE</a:t>
            </a:r>
            <a:r>
              <a:rPr lang="en-US" sz="13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para pular iterações.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19814" y="4928691"/>
            <a:ext cx="6284358" cy="242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0" spc="-15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A grande virada desta aula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19814" y="5333901"/>
            <a:ext cx="6284358" cy="7497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3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Deixamos de </a:t>
            </a:r>
            <a:r>
              <a:rPr lang="en-US" sz="1300" b="1" dirty="0">
                <a:solidFill>
                  <a:srgbClr val="3D3838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apenas consultar</a:t>
            </a:r>
            <a:r>
              <a:rPr lang="en-US" sz="13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o banco de dados e começamos a </a:t>
            </a:r>
            <a:r>
              <a:rPr lang="en-US" sz="1300" b="1" dirty="0">
                <a:solidFill>
                  <a:srgbClr val="3D3838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programar dentro dele</a:t>
            </a:r>
            <a:r>
              <a:rPr lang="en-US" sz="13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— combinando dados com lógica, condições e repetição em scripts executáveis diretamente no SSMS.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304500" y="4766270"/>
            <a:ext cx="4296759" cy="1463576"/>
          </a:xfrm>
          <a:prstGeom prst="roundRect">
            <a:avLst>
              <a:gd name="adj" fmla="val 1752"/>
            </a:avLst>
          </a:prstGeom>
          <a:solidFill>
            <a:srgbClr val="2D2E34"/>
          </a:solidFill>
          <a:ln/>
        </p:spPr>
      </p:sp>
      <p:sp>
        <p:nvSpPr>
          <p:cNvPr id="24" name="Text 22"/>
          <p:cNvSpPr/>
          <p:nvPr/>
        </p:nvSpPr>
        <p:spPr>
          <a:xfrm>
            <a:off x="7475450" y="4928691"/>
            <a:ext cx="3954860" cy="242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0" spc="-15" dirty="0">
                <a:solidFill>
                  <a:srgbClr val="FFFFFF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Próxima aula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475450" y="5333901"/>
            <a:ext cx="3954860" cy="7497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Stored Procedures</a:t>
            </a:r>
            <a:endParaRPr lang="en-US" sz="13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Encapsulando scripts T-SQL em objetos reutilizáveis dentro do banco de dados.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1114</TotalTime>
  <Words>2288</Words>
  <Application>Microsoft Office PowerPoint</Application>
  <PresentationFormat>Widescreen</PresentationFormat>
  <Paragraphs>349</Paragraphs>
  <Slides>21</Slides>
  <Notes>20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7" baseType="lpstr">
      <vt:lpstr>Arial</vt:lpstr>
      <vt:lpstr>Arial Black</vt:lpstr>
      <vt:lpstr>Calibri</vt:lpstr>
      <vt:lpstr>Calibri Light</vt:lpstr>
      <vt:lpstr>Consolas</vt:lpstr>
      <vt:lpstr>Tema do Office</vt:lpstr>
      <vt:lpstr>Linguagem de Programação de Banco de Dados Prof. José Carlos Perini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Banco de Dados</dc:title>
  <dc:creator>User</dc:creator>
  <cp:lastModifiedBy>José Carlos Perini</cp:lastModifiedBy>
  <cp:revision>50</cp:revision>
  <dcterms:created xsi:type="dcterms:W3CDTF">2024-02-07T18:08:06Z</dcterms:created>
  <dcterms:modified xsi:type="dcterms:W3CDTF">2026-08-25T22:39:41Z</dcterms:modified>
</cp:coreProperties>
</file>