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367" r:id="rId3"/>
    <p:sldId id="368" r:id="rId4"/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  <p:sldId id="377" r:id="rId13"/>
    <p:sldId id="378" r:id="rId14"/>
    <p:sldId id="379" r:id="rId15"/>
    <p:sldId id="380" r:id="rId16"/>
    <p:sldId id="381" r:id="rId17"/>
    <p:sldId id="382" r:id="rId18"/>
    <p:sldId id="383" r:id="rId19"/>
    <p:sldId id="384" r:id="rId20"/>
    <p:sldId id="274" r:id="rId21"/>
    <p:sldId id="385" r:id="rId2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437FFB-D889-4E35-80D7-62282096ABD0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443DA8-3DF3-41E3-8439-B64B0FF63E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871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35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58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99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6976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0917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01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4694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4042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4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1828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1101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4259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40A59-C752-4765-B0CC-DA76ECD04D88}" type="datetimeFigureOut">
              <a:rPr lang="pt-BR" smtClean="0"/>
              <a:t>13/10/2026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10D632-5778-43C2-807D-C35A5E823A7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829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eg"/><Relationship Id="rId7" Type="http://schemas.openxmlformats.org/officeDocument/2006/relationships/image" Target="../media/image12.svg"/><Relationship Id="rId12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8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874981" y="3177196"/>
            <a:ext cx="9144000" cy="1496400"/>
          </a:xfrm>
        </p:spPr>
        <p:txBody>
          <a:bodyPr>
            <a:noAutofit/>
          </a:bodyPr>
          <a:lstStyle/>
          <a:p>
            <a:r>
              <a:rPr lang="pt-BR" sz="4800" dirty="0"/>
              <a:t>Linguagem de Programação de Banco de Dados</a:t>
            </a:r>
            <a:br>
              <a:rPr lang="pt-BR" sz="4800" dirty="0"/>
            </a:br>
            <a:r>
              <a:rPr lang="pt-BR" sz="2400" dirty="0"/>
              <a:t>Prof. José Carlos Perini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74981" y="4923127"/>
            <a:ext cx="9144000" cy="1655762"/>
          </a:xfrm>
        </p:spPr>
        <p:txBody>
          <a:bodyPr/>
          <a:lstStyle/>
          <a:p>
            <a:r>
              <a:rPr lang="pt-BR" dirty="0"/>
              <a:t>Aula 6 – </a:t>
            </a:r>
            <a:r>
              <a:rPr lang="pt-BR" dirty="0" err="1"/>
              <a:t>Views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725" y="0"/>
            <a:ext cx="7340168" cy="2484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881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2622913"/>
            <a:ext cx="6180181" cy="511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Views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91700" y="3197010"/>
            <a:ext cx="618018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Criação, Utilização, Alteração e Restrições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901278"/>
            <a:ext cx="6180181" cy="38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-2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Problema: Consultas Repetitivas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91700" y="1512391"/>
            <a:ext cx="3250920" cy="7084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Imagine que três colaboradores de setores diferentes precisam consultar dados de clientes diariamente. Cada um escreve a </a:t>
            </a:r>
            <a:r>
              <a:rPr lang="en-US" sz="10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mesma consulta do zero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gerando inconsistências, retrabalho e dificuldade de manutenção.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291700" y="2334617"/>
            <a:ext cx="3250920" cy="1565275"/>
          </a:xfrm>
          <a:prstGeom prst="roundRect">
            <a:avLst>
              <a:gd name="adj" fmla="val 1294"/>
            </a:avLst>
          </a:prstGeom>
          <a:solidFill>
            <a:srgbClr val="F2F2F2"/>
          </a:solidFill>
          <a:ln/>
        </p:spPr>
      </p:sp>
      <p:sp>
        <p:nvSpPr>
          <p:cNvPr id="6" name="Text 3"/>
          <p:cNvSpPr/>
          <p:nvPr/>
        </p:nvSpPr>
        <p:spPr>
          <a:xfrm>
            <a:off x="5453621" y="2469555"/>
            <a:ext cx="2927078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Consulta escrita repetidamente por diferentes usuários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nome, cidade, limite_credito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ativo = 1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nome;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878169" y="1535113"/>
            <a:ext cx="2599962" cy="955080"/>
          </a:xfrm>
          <a:prstGeom prst="roundRect">
            <a:avLst>
              <a:gd name="adj" fmla="val 2120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32153" y="1689100"/>
            <a:ext cx="229199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⚠</a:t>
            </a: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Repetição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032153" y="1981994"/>
            <a:ext cx="229199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mesmo código é reescrito várias vezes, aumentando o risco de erros.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878169" y="2591395"/>
            <a:ext cx="2599962" cy="1132185"/>
          </a:xfrm>
          <a:prstGeom prst="roundRect">
            <a:avLst>
              <a:gd name="adj" fmla="val 178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032153" y="2745383"/>
            <a:ext cx="229199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⚠</a:t>
            </a: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Manutenção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032153" y="3038277"/>
            <a:ext cx="229199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mudança na lógica exige alteração em todos os lugares onde o código foi copiado.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878169" y="3824784"/>
            <a:ext cx="2599962" cy="1132185"/>
          </a:xfrm>
          <a:prstGeom prst="roundRect">
            <a:avLst>
              <a:gd name="adj" fmla="val 1788"/>
            </a:avLst>
          </a:prstGeom>
          <a:solidFill>
            <a:srgbClr val="FFFFFF"/>
          </a:solidFill>
          <a:ln w="19050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32153" y="3978771"/>
            <a:ext cx="229199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⚠</a:t>
            </a: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Padronização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032153" y="4271665"/>
            <a:ext cx="2291995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Sem um ponto único, diferentes versões da mesma consulta podem retornar resultados distintos.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878169" y="5070773"/>
            <a:ext cx="2599962" cy="787301"/>
          </a:xfrm>
          <a:prstGeom prst="roundRect">
            <a:avLst>
              <a:gd name="adj" fmla="val 2572"/>
            </a:avLst>
          </a:prstGeom>
          <a:solidFill>
            <a:srgbClr val="E4E4E7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3103" y="5214640"/>
            <a:ext cx="168668" cy="1349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9316705" y="5195590"/>
            <a:ext cx="2026492" cy="537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💡</a:t>
            </a: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Como podemos deixar uma consulta pronta para ser reutilizada por todos?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21776"/>
            <a:ext cx="10752067" cy="3770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kern="100" spc="-2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É uma View?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719814" y="1080889"/>
            <a:ext cx="10752067" cy="345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</a:t>
            </a:r>
            <a:r>
              <a:rPr lang="en-US" sz="10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view</a:t>
            </a:r>
            <a:r>
              <a:rPr lang="en-US" sz="10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(ou visão) é um objeto do banco de dados que encapsula uma consulta SQL e apresenta o resultado ao usuário como se fosse uma tabela. Ela possui um nome, é armazenada no banco e pode ser consultada repetidamente.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267" y="1536799"/>
            <a:ext cx="6689062" cy="306139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73085" y="3882230"/>
            <a:ext cx="1255803" cy="219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Resultado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290430" y="3772290"/>
            <a:ext cx="1255803" cy="439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Consulta da View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716376" y="3772290"/>
            <a:ext cx="1255803" cy="439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Definição da View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107917" y="3772290"/>
            <a:ext cx="1255802" cy="4397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Tabelas de Origem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719814" y="4708227"/>
            <a:ext cx="5327120" cy="685403"/>
          </a:xfrm>
          <a:prstGeom prst="roundRect">
            <a:avLst>
              <a:gd name="adj" fmla="val 2905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852466" y="4840883"/>
            <a:ext cx="506181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Tem um Nome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2466" y="5088037"/>
            <a:ext cx="506181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Identificada como objeto no banco, assim como uma tabela.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144761" y="4708227"/>
            <a:ext cx="5327120" cy="685403"/>
          </a:xfrm>
          <a:prstGeom prst="roundRect">
            <a:avLst>
              <a:gd name="adj" fmla="val 2905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6277413" y="4840883"/>
            <a:ext cx="506181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Baseada em SELECT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277413" y="5088037"/>
            <a:ext cx="506181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Sua definição é uma consulta SQL armazenada.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9814" y="5491460"/>
            <a:ext cx="5327120" cy="858341"/>
          </a:xfrm>
          <a:prstGeom prst="roundRect">
            <a:avLst>
              <a:gd name="adj" fmla="val 2320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852466" y="5624116"/>
            <a:ext cx="506181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Tabela Virtual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852466" y="5871270"/>
            <a:ext cx="5061816" cy="3458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Não armazena dados por si só; obtém dados das tabelas de origem no momento da consulta.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44761" y="5491460"/>
            <a:ext cx="5327120" cy="858341"/>
          </a:xfrm>
          <a:prstGeom prst="roundRect">
            <a:avLst>
              <a:gd name="adj" fmla="val 2320"/>
            </a:avLst>
          </a:prstGeom>
          <a:solidFill>
            <a:srgbClr val="F2EEEE"/>
          </a:solidFill>
          <a:ln/>
        </p:spPr>
      </p:sp>
      <p:sp>
        <p:nvSpPr>
          <p:cNvPr id="19" name="Text 16"/>
          <p:cNvSpPr/>
          <p:nvPr/>
        </p:nvSpPr>
        <p:spPr>
          <a:xfrm>
            <a:off x="6277413" y="5624116"/>
            <a:ext cx="5061816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Reutilizável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277413" y="5871270"/>
            <a:ext cx="5061816" cy="172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Pode ser consultada por qualquer usuário ou aplicação com permissão de acesso.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09785"/>
            <a:ext cx="10752067" cy="3067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100" spc="-1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Tabela × View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719814" y="937121"/>
            <a:ext cx="1136165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Entender a diferença entre tabela e view é fundamental. Veja como cada um se comporta no SQL Server: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4" y="1139428"/>
            <a:ext cx="8601654" cy="48385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9814" y="6050756"/>
            <a:ext cx="10752067" cy="306487"/>
          </a:xfrm>
          <a:prstGeom prst="roundRect">
            <a:avLst>
              <a:gd name="adj" fmla="val 5285"/>
            </a:avLst>
          </a:prstGeom>
          <a:solidFill>
            <a:srgbClr val="B6D6FC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761" y="6143327"/>
            <a:ext cx="134934" cy="1079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443" y="6142534"/>
            <a:ext cx="1090287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view comum não é uma cópia independente dos dados. Quando os dados das tabelas de origem mudam, o resultado da view reflete essas mudanças na próxima consulta.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853768"/>
            <a:ext cx="6180181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10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Por Que Utilizar Views?</a:t>
            </a:r>
            <a:endParaRPr lang="en-US" sz="27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91700" y="1468140"/>
            <a:ext cx="305884" cy="30589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60100" y="1520726"/>
            <a:ext cx="57117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Reutilização de Consultas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5760100" y="1816001"/>
            <a:ext cx="5711781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Consultas frequentes ficam prontas para uso, sem necessidade de reescrita.</a:t>
            </a: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91700" y="2288282"/>
            <a:ext cx="305884" cy="30589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760100" y="2340868"/>
            <a:ext cx="57117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Controle de Acesso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760100" y="2636143"/>
            <a:ext cx="5711781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Setores diferentes enxergam apenas as colunas e registros relevantes às suas funções. Ex.: o financeiro vê o </a:t>
            </a:r>
            <a:r>
              <a:rPr lang="en-US" sz="1200" i="1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limite_credito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enquanto o suporte vê apenas nome e cidade.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91700" y="3320653"/>
            <a:ext cx="305884" cy="30589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60100" y="3373239"/>
            <a:ext cx="57117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Facilidade de Manutenção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5760100" y="3668514"/>
            <a:ext cx="5711781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Ajustar a lógica em um único lugar reflete automaticamente em todas as consultas que usam a view.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1700" y="4353024"/>
            <a:ext cx="305884" cy="305891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760100" y="4405610"/>
            <a:ext cx="5711781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Padronização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5760100" y="4700885"/>
            <a:ext cx="5711781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Garante que todos os usuários e aplicações recebam os dados no mesmo formato e com a mesma lógica.</a:t>
            </a:r>
            <a:endParaRPr lang="en-US" sz="1200" dirty="0"/>
          </a:p>
        </p:txBody>
      </p:sp>
      <p:sp>
        <p:nvSpPr>
          <p:cNvPr id="16" name="Shape 9"/>
          <p:cNvSpPr/>
          <p:nvPr/>
        </p:nvSpPr>
        <p:spPr>
          <a:xfrm>
            <a:off x="5291700" y="5271591"/>
            <a:ext cx="6180181" cy="747812"/>
          </a:xfrm>
          <a:prstGeom prst="roundRect">
            <a:avLst>
              <a:gd name="adj" fmla="val 3069"/>
            </a:avLst>
          </a:prstGeom>
          <a:solidFill>
            <a:srgbClr val="FCF2B5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44592" y="5451971"/>
            <a:ext cx="191190" cy="15289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788674" y="5439767"/>
            <a:ext cx="5530315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view pode contribuir para o controle de acesso, mas </a:t>
            </a:r>
            <a:r>
              <a:rPr lang="en-US" sz="1200" b="1" dirty="0">
                <a:solidFill>
                  <a:srgbClr val="000000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não substitui</a:t>
            </a: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a configuração correta de permissões no banco de dados.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281178"/>
            <a:ext cx="10752067" cy="52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kern="100" spc="-3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Sintaxe de Criação: </a:t>
            </a:r>
            <a:r>
              <a:rPr lang="en-US" sz="3200" b="1" kern="100" spc="-32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19814" y="2218730"/>
            <a:ext cx="5766053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estrutura geral para criar uma view no SQL Server é: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19814" y="2691110"/>
            <a:ext cx="5156468" cy="1799431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35709" y="2870994"/>
            <a:ext cx="4724679" cy="14396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nome_da_view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coluna1, coluna2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tabela;</a:t>
            </a:r>
            <a:endParaRPr lang="en-US" sz="14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19814" y="4692948"/>
            <a:ext cx="5766053" cy="269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Cada elemento tem um papel importante na definição do objeto: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92087" y="2056805"/>
            <a:ext cx="5415819" cy="3538141"/>
          </a:xfrm>
          <a:prstGeom prst="roundRect">
            <a:avLst>
              <a:gd name="adj" fmla="val 763"/>
            </a:avLst>
          </a:prstGeom>
          <a:solidFill>
            <a:srgbClr val="2D2E34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6567" y="2233811"/>
            <a:ext cx="2440919" cy="13088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602644" y="2259211"/>
            <a:ext cx="218484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CREATE VIEW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602644" y="2694682"/>
            <a:ext cx="2184841" cy="539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Instrução que cria o objeto view no banco de dados.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87010" y="2233811"/>
            <a:ext cx="2441018" cy="13088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43087" y="2259211"/>
            <a:ext cx="218494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nome_da_view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9243087" y="2694682"/>
            <a:ext cx="2184941" cy="822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Identificador único do objeto. Boa prática: prefixo </a:t>
            </a:r>
            <a:r>
              <a:rPr lang="en-US" sz="1400" dirty="0">
                <a:solidFill>
                  <a:srgbClr val="FFFFFF"/>
                </a:solidFill>
                <a:highlight>
                  <a:srgbClr val="3A3B41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vw_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fácil identificação.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46567" y="3851771"/>
            <a:ext cx="2440919" cy="156616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02644" y="3877171"/>
            <a:ext cx="218484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AS SELECT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6602644" y="4312642"/>
            <a:ext cx="218484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Define os dados que a view irá apresentar. É o "coração" da view.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87010" y="3851771"/>
            <a:ext cx="2441018" cy="1566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243087" y="3877171"/>
            <a:ext cx="2184941" cy="255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100" spc="-16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GO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243087" y="4312642"/>
            <a:ext cx="2184941" cy="10798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Separa lotes de comandos no SSMS. </a:t>
            </a:r>
            <a:r>
              <a:rPr lang="en-US" sz="1400" b="1" dirty="0">
                <a:solidFill>
                  <a:srgbClr val="FFFFFF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Não é</a:t>
            </a:r>
            <a:r>
              <a:rPr lang="en-US" sz="1400" dirty="0">
                <a:solidFill>
                  <a:srgbClr val="FFFFFF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uma instrução T-SQL — é uma diretiva do cliente.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97106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Primeiro Exemplo: View de Clientes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19814" y="1389459"/>
            <a:ext cx="10752067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Utilizando a tabela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já conhecida nas aulas anteriores, vamos criar nossa primeira view. Ela disponibilizará quatro colunas selecionadas da tabela original.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19814" y="2267347"/>
            <a:ext cx="5725870" cy="2802930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24894" y="2438301"/>
            <a:ext cx="5315710" cy="2461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dbo.vw_Clientes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cidade,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limite_credito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69139" y="2267347"/>
            <a:ext cx="384661" cy="38467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944891" y="2313930"/>
            <a:ext cx="23305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100" spc="-18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416218" y="2326084"/>
            <a:ext cx="406191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Esquema </a:t>
            </a:r>
            <a:r>
              <a:rPr lang="en-US" sz="1500" b="1" kern="100" spc="-15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16218" y="2737644"/>
            <a:ext cx="4061914" cy="762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prefixo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dbo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(Database Owner) identifica o esquema padrão do objeto. É uma boa prática sempre especificá-lo.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69139" y="3824982"/>
            <a:ext cx="384661" cy="38467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944891" y="3871565"/>
            <a:ext cx="23305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100" spc="-18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16218" y="3883720"/>
            <a:ext cx="4061914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Colunas selecionadas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16218" y="4288929"/>
            <a:ext cx="4061914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Apenas as quatro colunas definidas no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ficam disponíveis para quem consultar a view.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69139" y="5126335"/>
            <a:ext cx="384661" cy="384671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6944891" y="5172918"/>
            <a:ext cx="233059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100" spc="-18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16218" y="5185073"/>
            <a:ext cx="406191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Prefixo </a:t>
            </a:r>
            <a:r>
              <a:rPr lang="en-US" sz="1500" b="1" kern="100" spc="-15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vw_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16218" y="5596632"/>
            <a:ext cx="4061914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Facilita a identificação de views ao listar objetos no banco de dados.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955269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10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Consultando uma 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9814" y="1634728"/>
            <a:ext cx="11361652" cy="224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view é consultada com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exatamente como uma tabela. Você pode selecionar todas as colunas ou apenas algumas, e aplicar filtros adicionais.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19814" y="2141880"/>
            <a:ext cx="518940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Consulta completa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19814" y="2499420"/>
            <a:ext cx="5189408" cy="795337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03364" y="2652316"/>
            <a:ext cx="4822307" cy="48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dbo.vw_Clientes;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19814" y="3447004"/>
            <a:ext cx="5189408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Com filtro adicional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19814" y="3804543"/>
            <a:ext cx="5189408" cy="104011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903364" y="3957439"/>
            <a:ext cx="4822307" cy="7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nome, cidade, limite_credito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dbo.vw_Clientes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cidade = 'Campinas';</a:t>
            </a:r>
            <a:endParaRPr lang="en-US" sz="12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88823" y="2152154"/>
            <a:ext cx="5189408" cy="11283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36963" y="2324100"/>
            <a:ext cx="476932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Filtros externos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536963" y="2671366"/>
            <a:ext cx="4769326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Você pode aplicar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outras cláusulas ao consultar a view, mesmo que não façam parte da definição original.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823" y="3410446"/>
            <a:ext cx="5189408" cy="111561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36963" y="3582392"/>
            <a:ext cx="476932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Resultado esperado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6536963" y="3929658"/>
            <a:ext cx="4769326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SQL Server executa internamente a consulta da view e aplica os filtros externos antes de retornar o resultado.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88823" y="4656038"/>
            <a:ext cx="5189408" cy="1115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6963" y="4827984"/>
            <a:ext cx="4769326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Transparência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536963" y="5175250"/>
            <a:ext cx="4769326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Para o usuário, a view parece uma tabela comum. A complexidade interna fica oculta.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80379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10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Criando uma View com Filtro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1316831"/>
            <a:ext cx="10752067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É possível incorporar condições diretamente na definição da view, restringindo os registros retornados. Isso é útil para criar visões específicas para diferentes perfis de usuário.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9814" y="2097409"/>
            <a:ext cx="5735792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Criando a view filtrada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9814" y="2482155"/>
            <a:ext cx="5735792" cy="1878806"/>
          </a:xfrm>
          <a:prstGeom prst="roundRect">
            <a:avLst>
              <a:gd name="adj" fmla="val 1293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14179" y="2644080"/>
            <a:ext cx="5347062" cy="1554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dbo.vw_ClientesLimiteAlto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nome, cidade, limite_credito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limite_credito &gt;= 7000;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9814" y="4534024"/>
            <a:ext cx="5735792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Consultando a view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9814" y="4918770"/>
            <a:ext cx="5735792" cy="842169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914179" y="5080695"/>
            <a:ext cx="5347062" cy="518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dbo.vw_ClientesLimiteAlto;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7035" y="2106414"/>
            <a:ext cx="4621097" cy="2822575"/>
          </a:xfrm>
          <a:prstGeom prst="roundRect">
            <a:avLst>
              <a:gd name="adj" fmla="val 861"/>
            </a:avLst>
          </a:prstGeom>
          <a:solidFill>
            <a:srgbClr val="F2EEEE"/>
          </a:solidFill>
          <a:ln/>
        </p:spPr>
      </p:sp>
      <p:sp>
        <p:nvSpPr>
          <p:cNvPr id="11" name="Shape 9"/>
          <p:cNvSpPr/>
          <p:nvPr/>
        </p:nvSpPr>
        <p:spPr>
          <a:xfrm>
            <a:off x="6857035" y="2106414"/>
            <a:ext cx="4621097" cy="1417638"/>
          </a:xfrm>
          <a:custGeom>
            <a:avLst/>
            <a:gdLst/>
            <a:ahLst/>
            <a:cxnLst/>
            <a:rect l="l" t="t" r="r" b="b"/>
            <a:pathLst>
              <a:path w="4621097" h="1417638">
                <a:moveTo>
                  <a:pt x="20247" y="0"/>
                </a:moveTo>
                <a:lnTo>
                  <a:pt x="4600849" y="0"/>
                </a:lnTo>
                <a:arcTo wR="20247" hR="20248" stAng="16200000" swAng="5400000"/>
                <a:lnTo>
                  <a:pt x="4621097" y="1417638"/>
                </a:lnTo>
                <a:lnTo>
                  <a:pt x="0" y="1417638"/>
                </a:lnTo>
                <a:lnTo>
                  <a:pt x="0" y="20248"/>
                </a:lnTo>
                <a:arcTo wR="20247" hR="20248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018956" y="2268339"/>
            <a:ext cx="4297255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Filtro na definição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18956" y="2644080"/>
            <a:ext cx="4297255" cy="718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faz parte da view. Todo acesso retorna apenas clientes com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limite_credito ≥ 7000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independentemente de quem consulta.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7035" y="3524052"/>
            <a:ext cx="4621097" cy="1404938"/>
          </a:xfrm>
          <a:custGeom>
            <a:avLst/>
            <a:gdLst/>
            <a:ahLst/>
            <a:cxnLst/>
            <a:rect l="l" t="t" r="r" b="b"/>
            <a:pathLst>
              <a:path w="4621097" h="1404938">
                <a:moveTo>
                  <a:pt x="0" y="0"/>
                </a:moveTo>
                <a:lnTo>
                  <a:pt x="4621097" y="0"/>
                </a:lnTo>
                <a:lnTo>
                  <a:pt x="4621097" y="1384690"/>
                </a:lnTo>
                <a:arcTo wR="20247" hR="20248" stAng="0" swAng="5400000"/>
                <a:lnTo>
                  <a:pt x="20247" y="1404938"/>
                </a:lnTo>
                <a:arcTo wR="20247" hR="20248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5" name="Shape 13"/>
          <p:cNvSpPr/>
          <p:nvPr/>
        </p:nvSpPr>
        <p:spPr>
          <a:xfrm>
            <a:off x="6857035" y="3524052"/>
            <a:ext cx="4621097" cy="1905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6" name="Text 14"/>
          <p:cNvSpPr/>
          <p:nvPr/>
        </p:nvSpPr>
        <p:spPr>
          <a:xfrm>
            <a:off x="7018956" y="3685977"/>
            <a:ext cx="4297255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Filtro na consulta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018956" y="4061718"/>
            <a:ext cx="4297255" cy="705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Usando uma view mais abrangente (como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vw_Clientes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), o filtro é aplicado externamente, dando mais flexibilidade ao usuário.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57035" y="5092898"/>
            <a:ext cx="4621097" cy="1035943"/>
          </a:xfrm>
          <a:prstGeom prst="roundRect">
            <a:avLst>
              <a:gd name="adj" fmla="val 2345"/>
            </a:avLst>
          </a:prstGeom>
          <a:solidFill>
            <a:srgbClr val="E4E4E7"/>
          </a:solidFill>
          <a:ln/>
        </p:spPr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956" y="5302548"/>
            <a:ext cx="202401" cy="161925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383278" y="5264547"/>
            <a:ext cx="3932933" cy="69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Prefira filtrar na definição da view quando a restrição for uma regra de negócio permanente; prefira filtrar na consulta quando precisar de flexibilidade.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76605"/>
            <a:ext cx="10752067" cy="408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100" spc="-2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Views com Consultas Mais Elaboradas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19814" y="1300659"/>
            <a:ext cx="10752067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view pode encapsular qualquer consulta SQL válida, incluindo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aliases e expressões. O usuário final não precisa conhecer a complexidade interna — basta consultar a view.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949417"/>
            <a:ext cx="6310750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Exemplo: view com JOIN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9814" y="2274292"/>
            <a:ext cx="6310750" cy="2821087"/>
          </a:xfrm>
          <a:prstGeom prst="roundRect">
            <a:avLst>
              <a:gd name="adj" fmla="val 76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92550" y="2418259"/>
            <a:ext cx="5965279" cy="25331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dbo.vw_PedidosClientes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p.id          AS id_pedido,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c.nome        AS cliente,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c.cidade,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p.valor_total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dbo.Pedidos AS p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dbo.Clientes AS c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p.id_cliente = c.id;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814" y="5224959"/>
            <a:ext cx="6920335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consulta à view fica simples: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9814" y="5548809"/>
            <a:ext cx="6310750" cy="518220"/>
          </a:xfrm>
          <a:prstGeom prst="roundRect">
            <a:avLst>
              <a:gd name="adj" fmla="val 4168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92550" y="5692775"/>
            <a:ext cx="6574864" cy="230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2286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dbo.vw_PedidosClientes;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88139" y="1954709"/>
            <a:ext cx="287926" cy="28793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388139" y="2386608"/>
            <a:ext cx="4090091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JOIN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388139" y="2706191"/>
            <a:ext cx="4090091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Combina dados de múltiplas tabelas em um único resultado coerente.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8139" y="3325019"/>
            <a:ext cx="287926" cy="28793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88139" y="3756918"/>
            <a:ext cx="4090091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Aliases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388139" y="4076502"/>
            <a:ext cx="4090091" cy="194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Renomeia colunas para nomes mais claros e adequados à aplicação.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8139" y="4501059"/>
            <a:ext cx="287926" cy="28793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388139" y="4932958"/>
            <a:ext cx="4090091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Abstração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388139" y="5252541"/>
            <a:ext cx="4090091" cy="388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view oculta a complexidade da consulta, simplificando o acesso aos dados.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710356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10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Aliases e Colunas Calculadas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1446808"/>
            <a:ext cx="10752067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As views permitem renomear colunas com aliases mais descritivos e incluir expressões calculadas. Isso torna o resultado mais legível para aplicações e relatórios.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9814" y="2236391"/>
            <a:ext cx="5735792" cy="2656284"/>
          </a:xfrm>
          <a:prstGeom prst="roundRect">
            <a:avLst>
              <a:gd name="adj" fmla="val 91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179" y="2398316"/>
            <a:ext cx="5347062" cy="2332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dbo.vw_ClientesDetalhado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nome                   AS Nome_Cliente,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cidade                 AS Cidade,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limite_credito         AS Limite_de_Credito_R$,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limite_credito * 0.10  AS Reserva_10_Porcento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67205" y="2292052"/>
            <a:ext cx="4110927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Alias de coluna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67205" y="2667794"/>
            <a:ext cx="4110927" cy="474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 Nome_Cliente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substitui o nome técnico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por um rótulo mais amigável ao usuário final.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367205" y="3489424"/>
            <a:ext cx="4110927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Expressão calculada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67205" y="3865166"/>
            <a:ext cx="4110927" cy="7180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limite_credito * 0.10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cria uma coluna derivada. O alias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Reserva_10_Porcento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</a:t>
            </a:r>
            <a:r>
              <a:rPr lang="en-US" sz="125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obrigatório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colunas calculadas em views.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67205" y="4930378"/>
            <a:ext cx="4110927" cy="2299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Boa prática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67205" y="5306120"/>
            <a:ext cx="4110927" cy="6926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aliases em todas as colunas que precisem de identificação clara, especialmente em views usadas por relatórios.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65096"/>
            <a:ext cx="10752067" cy="421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kern="100" spc="-26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Modificando uma View: </a:t>
            </a:r>
            <a:r>
              <a:rPr lang="en-US" sz="2550" b="1" kern="100" spc="-26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VIEW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719814" y="1301849"/>
            <a:ext cx="10752067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Quando a definição de uma view precisa mudar — por exemplo, para incluir ou remover colunas — utilizamos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VIEW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O objeto existente é atualizado sem necessidade de excluí-lo e recriá-lo.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9814" y="1950607"/>
            <a:ext cx="5755536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Antes da alteração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9814" y="2275483"/>
            <a:ext cx="5755536" cy="1669653"/>
          </a:xfrm>
          <a:prstGeom prst="roundRect">
            <a:avLst>
              <a:gd name="adj" fmla="val 1294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892550" y="2419449"/>
            <a:ext cx="5410065" cy="138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View original: 4 colunas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dbo.vw_Clientes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nome, cidade, limite_credito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9814" y="4083909"/>
            <a:ext cx="5755536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Após a alteração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9814" y="4408785"/>
            <a:ext cx="5755536" cy="1669653"/>
          </a:xfrm>
          <a:prstGeom prst="roundRect">
            <a:avLst>
              <a:gd name="adj" fmla="val 1294"/>
            </a:avLst>
          </a:prstGeom>
          <a:solidFill>
            <a:srgbClr val="F2F2F2"/>
          </a:solidFill>
          <a:ln/>
        </p:spPr>
      </p:sp>
      <p:sp>
        <p:nvSpPr>
          <p:cNvPr id="9" name="Text 7"/>
          <p:cNvSpPr/>
          <p:nvPr/>
        </p:nvSpPr>
        <p:spPr>
          <a:xfrm>
            <a:off x="892550" y="4552752"/>
            <a:ext cx="5410065" cy="138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View modificada: apenas 3 colunas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VIEW dbo.vw_Clientes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nome, cidade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dbo.Clientes;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32925" y="1955899"/>
            <a:ext cx="2265008" cy="1384598"/>
          </a:xfrm>
          <a:prstGeom prst="roundRect">
            <a:avLst>
              <a:gd name="adj" fmla="val 1560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6976888" y="2099866"/>
            <a:ext cx="1977083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Mantém o objeto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976888" y="2419449"/>
            <a:ext cx="1977083" cy="777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nome e as permissões da view são preservados. Aplicações que a utilizam não precisam ser reconfiguradas.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13024" y="1955899"/>
            <a:ext cx="2265107" cy="1384598"/>
          </a:xfrm>
          <a:prstGeom prst="roundRect">
            <a:avLst>
              <a:gd name="adj" fmla="val 1560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9356987" y="2099866"/>
            <a:ext cx="1977182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Redefine a consulta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356987" y="2419449"/>
            <a:ext cx="1977182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Toda a cláusula </a:t>
            </a: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 SELECT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substituída pela nova definição.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32925" y="3455591"/>
            <a:ext cx="4645206" cy="1002407"/>
          </a:xfrm>
          <a:prstGeom prst="roundRect">
            <a:avLst>
              <a:gd name="adj" fmla="val 2155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6976888" y="3599557"/>
            <a:ext cx="4357281" cy="204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100" spc="-13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Não altera dados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76888" y="3919141"/>
            <a:ext cx="4357281" cy="3948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VIEW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modifica a </a:t>
            </a:r>
            <a:r>
              <a:rPr lang="en-US" sz="11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definição</a:t>
            </a:r>
            <a:r>
              <a:rPr lang="en-US" sz="11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do objeto, nunca os registros das tabelas de origem.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74662"/>
            <a:ext cx="10752067" cy="472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10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Excluindo uma View: </a:t>
            </a:r>
            <a:r>
              <a:rPr lang="en-US" sz="2850" b="1" kern="100" spc="-29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 VIEW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1682055"/>
            <a:ext cx="5788079" cy="2435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Para remover uma view do banco de dados, utilizamos </a:t>
            </a:r>
            <a:r>
              <a:rPr lang="en-US" sz="12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 VIEW</a:t>
            </a: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: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9814" y="2089547"/>
            <a:ext cx="5178494" cy="842169"/>
          </a:xfrm>
          <a:prstGeom prst="roundRect">
            <a:avLst>
              <a:gd name="adj" fmla="val 2885"/>
            </a:avLst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914179" y="2251472"/>
            <a:ext cx="4789765" cy="5183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 VIEW dbo.vw_ClientesLimiteAlto;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19814" y="3095625"/>
            <a:ext cx="5788079" cy="23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Também é possível verificar a existência antes de excluir (boa prática):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9814" y="3490416"/>
            <a:ext cx="5178494" cy="1360488"/>
          </a:xfrm>
          <a:prstGeom prst="roundRect">
            <a:avLst>
              <a:gd name="adj" fmla="val 1786"/>
            </a:avLst>
          </a:prstGeom>
          <a:solidFill>
            <a:srgbClr val="F2F2F2"/>
          </a:solidFill>
          <a:ln/>
        </p:spPr>
      </p:sp>
      <p:sp>
        <p:nvSpPr>
          <p:cNvPr id="8" name="Text 6"/>
          <p:cNvSpPr/>
          <p:nvPr/>
        </p:nvSpPr>
        <p:spPr>
          <a:xfrm>
            <a:off x="914179" y="3652341"/>
            <a:ext cx="4789765" cy="10366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OBJECT_ID('dbo.vw_ClientesLimiteAlto',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'V') IS NOT NULL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DROP VIEW dbo.vw_ClientesLimiteAlto;</a:t>
            </a:r>
            <a:endParaRPr lang="en-US" sz="12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5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25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737" y="1714798"/>
            <a:ext cx="4660585" cy="262155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19814" y="5178723"/>
            <a:ext cx="10752067" cy="819646"/>
          </a:xfrm>
          <a:prstGeom prst="roundRect">
            <a:avLst>
              <a:gd name="adj" fmla="val 2964"/>
            </a:avLst>
          </a:prstGeom>
          <a:solidFill>
            <a:srgbClr val="FCF2B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35" y="5382022"/>
            <a:ext cx="202401" cy="1619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46057" y="5364956"/>
            <a:ext cx="10063903" cy="461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Antes de excluir uma view, verifique se outros objetos (procedures, outras views, aplicações) dependem dela. A exclusão pode causar erros em cascata.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34114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Uma View Pode Alterar Dados?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719814" y="1426468"/>
            <a:ext cx="10752067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Em determinadas condições, o SQL Server permite executar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por meio de uma view. Quando isso ocorre, a operação afeta diretamente os dados da </a:t>
            </a:r>
            <a:r>
              <a:rPr lang="en-US" sz="13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tabela de origem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9814" y="2293247"/>
            <a:ext cx="5725870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View simples — permite atualização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9814" y="2709565"/>
            <a:ext cx="5725870" cy="3349823"/>
          </a:xfrm>
          <a:prstGeom prst="roundRect">
            <a:avLst>
              <a:gd name="adj" fmla="val 766"/>
            </a:avLst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924894" y="2880519"/>
            <a:ext cx="5315710" cy="300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dbo.vw_ClientesSimples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nome, cidade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Atualizando dados pela view: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dbo.vw_ClientesSimples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cidade = 'Sorocaba'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5;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 registro é alterado em dbo.Clientes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69139" y="2304355"/>
            <a:ext cx="2223238" cy="30528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135336" y="2494359"/>
            <a:ext cx="1767042" cy="485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 view é um "atalho"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135336" y="3142357"/>
            <a:ext cx="1767042" cy="1249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operação passa pela view, mas modifica os dados na tabela original. A view não possui dados próprios para alterar.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54794" y="2304355"/>
            <a:ext cx="2223337" cy="305286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520992" y="2494359"/>
            <a:ext cx="1767141" cy="485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Nem toda view permite isso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520992" y="3142357"/>
            <a:ext cx="1767141" cy="2024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atualizabilidade depende da estrutura da consulta. Views com agregações,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geralmente não permitem alteração direta.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016247"/>
            <a:ext cx="10752067" cy="4600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kern="100" spc="-29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Restrições para Atualização de Views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719814" y="1752699"/>
            <a:ext cx="11361652" cy="230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SQL Server impõe restrições às operações de escrita em views. Entender essas limitações evita erros e projeto inadequado de soluções.</a:t>
            </a:r>
            <a:endParaRPr lang="en-US" sz="12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/>
        </p:nvGraphicFramePr>
        <p:xfrm>
          <a:off x="719814" y="2147491"/>
          <a:ext cx="10752067" cy="3696500"/>
        </p:xfrm>
        <a:graphic>
          <a:graphicData uri="http://schemas.openxmlformats.org/drawingml/2006/table">
            <a:tbl>
              <a:tblPr/>
              <a:tblGrid>
                <a:gridCol w="35481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5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81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15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Estrutura da View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Restrição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Motivo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6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GROUP BY</a:t>
                      </a: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 + </a:t>
                      </a:r>
                      <a:r>
                        <a:rPr lang="en-US" sz="125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SUM</a:t>
                      </a: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, </a:t>
                      </a:r>
                      <a:r>
                        <a:rPr lang="en-US" sz="125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AVG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INSERT, UPDATE e DELETE não permitidos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Linhas do resultado não correspondem a linhas únicas da tabela de origem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6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DISTINCT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INSERT, UPDATE e DELETE não permitidos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Impossível determinar qual linha original deve ser alterada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6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Expressão calculada na coluna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INSERT/UPDATE nessa coluna não permitido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O valor é derivado; não existe coluna física correspondente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62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JOIN</a:t>
                      </a: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 entre tabelas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Depende da operação e da estrutura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O SQL Server pode não conseguir identificar unicamente a tabela de destino da alteração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24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View simples (1 tabela, sem agregação)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Geralmente permitido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3D3838"/>
                          </a:solidFill>
                          <a:latin typeface="Arial" panose="020B0604020202020204" pitchFamily="34" charset="0"/>
                          <a:ea typeface="Source Sans 3" pitchFamily="34" charset="-122"/>
                          <a:cs typeface="Arial" panose="020B0604020202020204" pitchFamily="34" charset="0"/>
                        </a:rPr>
                        <a:t>Há correspondência direta entre linha da view e linha da tabela de origem</a:t>
                      </a:r>
                      <a:endParaRPr lang="en-US" sz="1250" dirty="0">
                        <a:latin typeface="Arial" panose="020B0604020202020204" pitchFamily="34" charset="0"/>
                        <a:ea typeface="Source Sans 3" charset="0"/>
                        <a:cs typeface="Arial" panose="020B0604020202020204" pitchFamily="34" charset="0"/>
                      </a:endParaRPr>
                    </a:p>
                  </a:txBody>
                  <a:tcPr marL="161979" marR="16197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077110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10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Exercício de Análise: Atualizável ou Não?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9814" y="1756569"/>
            <a:ext cx="10752067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Analise as três definições de views abaixo e indique quais operações de atualização (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) podem ser possíveis em cada caso. Justifique sua resposta.</a:t>
            </a:r>
            <a:endParaRPr lang="en-US" sz="1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2339975"/>
            <a:ext cx="3497373" cy="3455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353807" y="2445048"/>
            <a:ext cx="229388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100" spc="-18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91756" y="2947888"/>
            <a:ext cx="31534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Caso A — View Simples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91756" y="3311426"/>
            <a:ext cx="3153490" cy="1040110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1075306" y="3464322"/>
            <a:ext cx="2786390" cy="734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vw_A AS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nome, cidade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dbo.Clientes;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91756" y="4497784"/>
            <a:ext cx="3153490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tabela, sem agregações, sem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O que você espera?</a:t>
            </a:r>
            <a:endParaRPr lang="en-US" sz="12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161" y="2339975"/>
            <a:ext cx="3497373" cy="34559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81153" y="2445048"/>
            <a:ext cx="229388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100" spc="-18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519103" y="2947888"/>
            <a:ext cx="31534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Caso B — Com Agregação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4519103" y="3311426"/>
            <a:ext cx="3153490" cy="1529655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/>
          <p:nvPr/>
        </p:nvSpPr>
        <p:spPr>
          <a:xfrm>
            <a:off x="4702653" y="3464322"/>
            <a:ext cx="2786390" cy="12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vw_B AS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cidade, SUM(limite_credito) AS Total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cidade;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19103" y="4987330"/>
            <a:ext cx="3153490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Há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Qual é a restrição esperada e por quê?</a:t>
            </a:r>
            <a:endParaRPr lang="en-US" sz="12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74508" y="2339975"/>
            <a:ext cx="3497373" cy="34559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8500" y="2445048"/>
            <a:ext cx="229388" cy="2868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kern="100" spc="-18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146449" y="2947888"/>
            <a:ext cx="3153490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Caso C — Com JOIN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8146449" y="3311426"/>
            <a:ext cx="3153490" cy="1529655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</p:sp>
      <p:sp>
        <p:nvSpPr>
          <p:cNvPr id="20" name="Text 15"/>
          <p:cNvSpPr/>
          <p:nvPr/>
        </p:nvSpPr>
        <p:spPr>
          <a:xfrm>
            <a:off x="8329999" y="3464322"/>
            <a:ext cx="2786390" cy="122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vw_C AS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c.nome, p.valor_total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 c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dbo.Pedidos p</a:t>
            </a:r>
            <a:endParaRPr lang="en-US" sz="12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2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c.id = p.id_cliente;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146449" y="4987330"/>
            <a:ext cx="3153490" cy="636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Duas tabelas combinadas. A resposta pode não ser absoluta — justifique considerando a operação e a estrutura.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282774"/>
            <a:ext cx="6180181" cy="38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-2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Views e Segurança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291700" y="1893888"/>
            <a:ext cx="3250920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view pode expor apenas as colunas e linhas necessárias para cada perfil de usuário, reduzindo a exposição de dados sensíveis.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291700" y="2532447"/>
            <a:ext cx="3250920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Exemplo: view sem dados financeiros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291700" y="2831902"/>
            <a:ext cx="3250920" cy="2644775"/>
          </a:xfrm>
          <a:prstGeom prst="roundRect">
            <a:avLst>
              <a:gd name="adj" fmla="val 766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5453621" y="2966839"/>
            <a:ext cx="2927078" cy="2374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Somente id, nome e cidade são expostos.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limite_credito fica oculto.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dbo.vw_ClientesPublico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id, nome, cidade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dbo.Clientes;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Concedendo acesso somente à view: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GRANT SELECT ON dbo.vw_ClientesPublico</a:t>
            </a:r>
            <a:endParaRPr lang="en-US" sz="10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usuario_suporte;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878169" y="1916609"/>
            <a:ext cx="2599962" cy="1094085"/>
          </a:xfrm>
          <a:prstGeom prst="roundRect">
            <a:avLst>
              <a:gd name="adj" fmla="val 1851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9013103" y="2051546"/>
            <a:ext cx="2330094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Restrição de Colunas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013103" y="2344440"/>
            <a:ext cx="2330094" cy="531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 usuário vê apenas as colunas permitidas. Dados como </a:t>
            </a:r>
            <a:r>
              <a:rPr lang="en-US" sz="1050" i="1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limite_credito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</a:t>
            </a:r>
            <a:r>
              <a:rPr lang="en-US" sz="1050" i="1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senha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ficam invisíveis.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878169" y="3111897"/>
            <a:ext cx="2599962" cy="929680"/>
          </a:xfrm>
          <a:prstGeom prst="roundRect">
            <a:avLst>
              <a:gd name="adj" fmla="val 2178"/>
            </a:avLst>
          </a:prstGeom>
          <a:solidFill>
            <a:srgbClr val="F2EEEE"/>
          </a:solidFill>
          <a:ln/>
        </p:spPr>
      </p:sp>
      <p:sp>
        <p:nvSpPr>
          <p:cNvPr id="12" name="Text 9"/>
          <p:cNvSpPr/>
          <p:nvPr/>
        </p:nvSpPr>
        <p:spPr>
          <a:xfrm>
            <a:off x="9013103" y="3246834"/>
            <a:ext cx="2330094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Restrição de Linhas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013103" y="3539728"/>
            <a:ext cx="2330094" cy="3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Com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na definição, é possível limitar quais registros o usuário enxerga.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878169" y="4142780"/>
            <a:ext cx="2599962" cy="1106785"/>
          </a:xfrm>
          <a:prstGeom prst="roundRect">
            <a:avLst>
              <a:gd name="adj" fmla="val 1829"/>
            </a:avLst>
          </a:prstGeom>
          <a:solidFill>
            <a:srgbClr val="F2EEEE"/>
          </a:solidFill>
          <a:ln/>
        </p:spPr>
      </p:sp>
      <p:sp>
        <p:nvSpPr>
          <p:cNvPr id="15" name="Text 12"/>
          <p:cNvSpPr/>
          <p:nvPr/>
        </p:nvSpPr>
        <p:spPr>
          <a:xfrm>
            <a:off x="9013103" y="4277717"/>
            <a:ext cx="2330094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Não é suficiente sozinha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013103" y="4570611"/>
            <a:ext cx="2330094" cy="544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 view restringe a visão, mas as permissões reais precisam ser configuradas com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GRANT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REVOKE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644731"/>
            <a:ext cx="10752067" cy="4857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kern="100" spc="-31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Boas Práticas e Cuidados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908" y="1442393"/>
            <a:ext cx="256375" cy="2563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75425" y="1437084"/>
            <a:ext cx="10196456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Nomenclatura clara e consistente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275425" y="1777305"/>
            <a:ext cx="10196456" cy="262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o prefixo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vw_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nomes descritivos. Ex.: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vw_ClientesLimiteAlto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é mais claro que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view1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908" y="2370088"/>
            <a:ext cx="256375" cy="25638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425" y="2364780"/>
            <a:ext cx="1019645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Evite </a:t>
            </a:r>
            <a:r>
              <a:rPr lang="en-US" sz="1500" b="1" kern="100" spc="-15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na definição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275425" y="2711351"/>
            <a:ext cx="10196456" cy="499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Se a tabela de origem ganhar novas colunas, a view não as refletirá automaticamente até ser recriada. Selecione explicitamente as colunas necessárias.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908" y="3541365"/>
            <a:ext cx="256375" cy="25638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75425" y="3536057"/>
            <a:ext cx="10196456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Considere dependências antes de alterar ou excluir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1275425" y="3876278"/>
            <a:ext cx="10196456" cy="262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sp_depends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ou o Pesquisador de Objetos do SSMS para identificar objetos que dependem da view.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908" y="4469061"/>
            <a:ext cx="256375" cy="25638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75425" y="4463752"/>
            <a:ext cx="10196456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Teste após mudanças nas tabelas de origem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1275425" y="4803973"/>
            <a:ext cx="10196456" cy="249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Alterações estruturais nas tabelas (renomear ou remover colunas) podem invalidar a definição de uma view.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3908" y="5384056"/>
            <a:ext cx="256375" cy="256381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75425" y="5378748"/>
            <a:ext cx="10196456" cy="242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b="1" kern="100" spc="-15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Não presuma melhoria de desempenho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1275425" y="5718969"/>
            <a:ext cx="10196456" cy="512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Uma view comum armazena apenas sua definição, não os resultados. Cada consulta reexecuta a </a:t>
            </a:r>
            <a:r>
              <a:rPr lang="en-US" sz="13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3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internamente. Para caching de resultados, existem outros recursos (ex.: indexed views).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074728"/>
            <a:ext cx="10752067" cy="434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b="1" kern="100" spc="-27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🖥</a:t>
            </a:r>
            <a:r>
              <a:rPr lang="en-US" sz="2700" b="1" kern="100" spc="-27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Desafio Prático: Views no Sistema de Vendas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19814" y="1754188"/>
            <a:ext cx="10752067" cy="622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Realize as atividades a seguir no </a:t>
            </a:r>
            <a:r>
              <a:rPr lang="en-US" sz="14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SQL Server Management Studio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utilizando a tabela </a:t>
            </a:r>
            <a:r>
              <a:rPr lang="en-US" sz="14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dbo.Clientes</a:t>
            </a:r>
            <a:r>
              <a:rPr lang="en-US" sz="14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Execute cada parte em sequência e verifique os resultados antes de prosseguir.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9814" y="2337594"/>
            <a:ext cx="30588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9814" y="2578497"/>
            <a:ext cx="3497373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6" name="Text 4"/>
          <p:cNvSpPr/>
          <p:nvPr/>
        </p:nvSpPr>
        <p:spPr>
          <a:xfrm>
            <a:off x="719814" y="2692995"/>
            <a:ext cx="3497373" cy="22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Criar </a:t>
            </a:r>
            <a:r>
              <a:rPr lang="en-US" sz="1350" b="1" kern="100" spc="-14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vw_ClientesResumo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9814" y="2994620"/>
            <a:ext cx="3497373" cy="6620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Crie uma view com as colunas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cidade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Consulte-a com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confirmar o funcionamento.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7161" y="2337594"/>
            <a:ext cx="30588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02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7161" y="2578497"/>
            <a:ext cx="3497373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0" name="Text 8"/>
          <p:cNvSpPr/>
          <p:nvPr/>
        </p:nvSpPr>
        <p:spPr>
          <a:xfrm>
            <a:off x="4347161" y="2692995"/>
            <a:ext cx="3497373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Filtrar por cidade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47161" y="2988270"/>
            <a:ext cx="3497373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Usando a view criada, escreva uma consulta que retorne apenas os clientes da cidade de </a:t>
            </a:r>
            <a:r>
              <a:rPr lang="en-US" sz="1200" b="1" dirty="0">
                <a:solidFill>
                  <a:srgbClr val="3D3838"/>
                </a:solidFill>
                <a:latin typeface="Arial Black" panose="020B0A04020102020204" pitchFamily="34" charset="0"/>
                <a:ea typeface="Source Sans 3 Bold" pitchFamily="34" charset="-122"/>
                <a:cs typeface="Source Sans 3 Bold" pitchFamily="34" charset="-120"/>
              </a:rPr>
              <a:t>Campinas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974508" y="2337594"/>
            <a:ext cx="30588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74508" y="2578497"/>
            <a:ext cx="3497373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4" name="Text 12"/>
          <p:cNvSpPr/>
          <p:nvPr/>
        </p:nvSpPr>
        <p:spPr>
          <a:xfrm>
            <a:off x="7974508" y="2692995"/>
            <a:ext cx="3497373" cy="22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Criar </a:t>
            </a:r>
            <a:r>
              <a:rPr lang="en-US" sz="1350" b="1" kern="100" spc="-14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vw_ClientesLimiteAlto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74508" y="2994620"/>
            <a:ext cx="3497373" cy="649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Crie uma view que retorne somente clientes com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limite_credito &gt;= 7000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incluindo as quatro colunas da tabela.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9814" y="3901380"/>
            <a:ext cx="30588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19814" y="4142284"/>
            <a:ext cx="5311047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18" name="Text 16"/>
          <p:cNvSpPr/>
          <p:nvPr/>
        </p:nvSpPr>
        <p:spPr>
          <a:xfrm>
            <a:off x="719814" y="4256782"/>
            <a:ext cx="5311047" cy="223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Alterar </a:t>
            </a:r>
            <a:r>
              <a:rPr lang="en-US" sz="1350" b="1" kern="100" spc="-14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vw_ClientesResumo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19814" y="4558407"/>
            <a:ext cx="5311047" cy="4371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Use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VIEW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para adicionar a coluna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limite_credito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à view. Consulte novamente para verificar a mudança.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60834" y="3901380"/>
            <a:ext cx="305884" cy="19119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60834" y="4142284"/>
            <a:ext cx="5311047" cy="19050"/>
          </a:xfrm>
          <a:prstGeom prst="rect">
            <a:avLst/>
          </a:prstGeom>
          <a:solidFill>
            <a:srgbClr val="2D2E34"/>
          </a:solidFill>
          <a:ln/>
        </p:spPr>
      </p:sp>
      <p:sp>
        <p:nvSpPr>
          <p:cNvPr id="22" name="Text 20"/>
          <p:cNvSpPr/>
          <p:nvPr/>
        </p:nvSpPr>
        <p:spPr>
          <a:xfrm>
            <a:off x="6160834" y="4256782"/>
            <a:ext cx="5311047" cy="217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100" spc="-14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Reflexão: DROP VIEW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160834" y="4552057"/>
            <a:ext cx="5311047" cy="449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Execute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 VIEW dbo.vw_ClientesLimiteAlto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O que acontece com os registros da tabela </a:t>
            </a:r>
            <a:r>
              <a:rPr lang="en-US" sz="120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Clientes</a:t>
            </a:r>
            <a:r>
              <a:rPr lang="en-US" sz="120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? Explique com suas palavras.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9814" y="5262860"/>
            <a:ext cx="10752067" cy="535583"/>
          </a:xfrm>
          <a:prstGeom prst="roundRect">
            <a:avLst>
              <a:gd name="adj" fmla="val 4285"/>
            </a:avLst>
          </a:prstGeom>
          <a:solidFill>
            <a:srgbClr val="E4E4E7"/>
          </a:solidFill>
          <a:ln/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06" y="5443240"/>
            <a:ext cx="191190" cy="15289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216788" y="5431036"/>
            <a:ext cx="10711785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Não há solução exibida aqui — o objetivo é que você escreva, execute e observe os resultados no SSMS.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842242"/>
            <a:ext cx="10752067" cy="383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100" spc="-24" dirty="0">
                <a:solidFill>
                  <a:srgbClr val="000000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Revisão e Encerramento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19814" y="1412875"/>
            <a:ext cx="5325433" cy="876498"/>
          </a:xfrm>
          <a:prstGeom prst="roundRect">
            <a:avLst>
              <a:gd name="adj" fmla="val 2310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54748" y="1547812"/>
            <a:ext cx="505556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 que é uma 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54748" y="1800225"/>
            <a:ext cx="50555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Objeto do banco que encapsula uma consulta SQL e se comporta como uma tabela virtual. Não armazena dados próprios.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146448" y="1412875"/>
            <a:ext cx="5325433" cy="876498"/>
          </a:xfrm>
          <a:prstGeom prst="roundRect">
            <a:avLst>
              <a:gd name="adj" fmla="val 2310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281382" y="1547812"/>
            <a:ext cx="505556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CREATE 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81382" y="1800225"/>
            <a:ext cx="5055565" cy="1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Cria a view com nome e definição baseada em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 Use prefixo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vw_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esquema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dbo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19814" y="2390577"/>
            <a:ext cx="5325433" cy="889198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54748" y="2525514"/>
            <a:ext cx="505556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Consultar com SELECT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4748" y="2777927"/>
            <a:ext cx="5055565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Consulta-se como uma tabela. Filtros adicionais podem ser aplicados na consulta externa.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146448" y="2390577"/>
            <a:ext cx="5325433" cy="889198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281382" y="2525514"/>
            <a:ext cx="505556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ALTER VIEW / DROP VIEW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81382" y="2777927"/>
            <a:ext cx="5055565" cy="3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redefine a consulta sem recriar o objeto.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remove a definição — os dados originais permanecem.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9814" y="3380978"/>
            <a:ext cx="5325433" cy="889198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854748" y="3515916"/>
            <a:ext cx="505556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Restrições de Atualização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54748" y="3768328"/>
            <a:ext cx="5055565" cy="366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Views simples podem ser atualizáveis.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, </a:t>
            </a:r>
            <a:r>
              <a:rPr lang="en-US" sz="1050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e agregações geralmente impedem escrita direta.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46448" y="3380978"/>
            <a:ext cx="5325433" cy="889198"/>
          </a:xfrm>
          <a:prstGeom prst="roundRect">
            <a:avLst>
              <a:gd name="adj" fmla="val 2277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6281382" y="3515916"/>
            <a:ext cx="5055565" cy="191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Organização e Segurança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81382" y="3768328"/>
            <a:ext cx="5055565" cy="354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3D3838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Views limitam colunas e linhas visíveis, padronizam consultas e facilitam manutenção — combinadas com permissões adequadas.</a:t>
            </a:r>
            <a:endParaRPr lang="en-US" sz="10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9814" y="4383980"/>
            <a:ext cx="3516522" cy="108991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2397015" y="4485184"/>
            <a:ext cx="16192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100" spc="-1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73798" y="4923830"/>
            <a:ext cx="3208555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Uma view comum armazena necessariamente uma cópia dos dados?</a:t>
            </a:r>
            <a:endParaRPr lang="en-US" sz="12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37537" y="4383980"/>
            <a:ext cx="3516522" cy="108991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014738" y="4485184"/>
            <a:ext cx="16192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100" spc="-1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4491520" y="4923830"/>
            <a:ext cx="3208555" cy="396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Qual é a diferença entre </a:t>
            </a:r>
            <a:r>
              <a:rPr lang="en-US" sz="1200" b="1" kern="100" spc="-12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VIEW</a:t>
            </a: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 e </a:t>
            </a:r>
            <a:r>
              <a:rPr lang="en-US" sz="1200" b="1" kern="100" spc="-12" dirty="0">
                <a:solidFill>
                  <a:srgbClr val="3D3838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DROP VIEW</a:t>
            </a: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?</a:t>
            </a:r>
            <a:endParaRPr lang="en-US" sz="12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260" y="4383980"/>
            <a:ext cx="3516522" cy="108991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632461" y="4485184"/>
            <a:ext cx="161921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kern="100" spc="-11" dirty="0">
                <a:solidFill>
                  <a:srgbClr val="FFFFFF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109243" y="4923830"/>
            <a:ext cx="3208555" cy="3833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100" spc="-12" dirty="0">
                <a:solidFill>
                  <a:srgbClr val="3D3838"/>
                </a:solidFill>
                <a:latin typeface="Arial Black" panose="020B0A04020102020204" pitchFamily="34" charset="0"/>
                <a:ea typeface="Montserrat Bold" pitchFamily="34" charset="-122"/>
                <a:cs typeface="Montserrat Bold" pitchFamily="34" charset="-120"/>
              </a:rPr>
              <a:t>Toda view permite alterar os dados da tabela de origem?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719814" y="5587702"/>
            <a:ext cx="11072136" cy="426046"/>
          </a:xfrm>
          <a:prstGeom prst="roundRect">
            <a:avLst>
              <a:gd name="adj" fmla="val 4568"/>
            </a:avLst>
          </a:prstGeom>
          <a:solidFill>
            <a:srgbClr val="B6FCB8"/>
          </a:solidFill>
          <a:ln/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748" y="5725220"/>
            <a:ext cx="168668" cy="13493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58350" y="5722640"/>
            <a:ext cx="10788182" cy="1834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Noto Color Emoji" pitchFamily="34" charset="-122"/>
                <a:cs typeface="Arial" panose="020B0604020202020204" pitchFamily="34" charset="0"/>
              </a:rPr>
              <a:t>💻</a:t>
            </a:r>
            <a:r>
              <a:rPr lang="en-US" sz="1050" dirty="0">
                <a:solidFill>
                  <a:srgbClr val="000000"/>
                </a:solidFill>
                <a:latin typeface="Arial" panose="020B0604020202020204" pitchFamily="34" charset="0"/>
                <a:ea typeface="Source Sans 3" pitchFamily="34" charset="-122"/>
                <a:cs typeface="Arial" panose="020B0604020202020204" pitchFamily="34" charset="0"/>
              </a:rPr>
              <a:t> Pratique! Teste todos os exemplos desta aula no SQL Server Management Studio. A melhor forma de fixar o conteúdo é escrevendo e executando os comandos você mesmo.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1198</TotalTime>
  <Words>2716</Words>
  <Application>Microsoft Office PowerPoint</Application>
  <PresentationFormat>Widescreen</PresentationFormat>
  <Paragraphs>334</Paragraphs>
  <Slides>21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7" baseType="lpstr">
      <vt:lpstr>Arial</vt:lpstr>
      <vt:lpstr>Arial Black</vt:lpstr>
      <vt:lpstr>Calibri</vt:lpstr>
      <vt:lpstr>Calibri Light</vt:lpstr>
      <vt:lpstr>Consolas</vt:lpstr>
      <vt:lpstr>Tema do Office</vt:lpstr>
      <vt:lpstr>Linguagem de Programação de Banco de Dados Prof. José Carlos Perini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User</dc:creator>
  <cp:lastModifiedBy>José Carlos Perini</cp:lastModifiedBy>
  <cp:revision>59</cp:revision>
  <dcterms:created xsi:type="dcterms:W3CDTF">2024-02-07T18:08:06Z</dcterms:created>
  <dcterms:modified xsi:type="dcterms:W3CDTF">2026-10-13T12:11:03Z</dcterms:modified>
</cp:coreProperties>
</file>