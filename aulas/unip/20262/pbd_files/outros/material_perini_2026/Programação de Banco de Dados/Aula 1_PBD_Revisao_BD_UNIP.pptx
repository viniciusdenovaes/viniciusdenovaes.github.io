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8" r:id="rId10"/>
    <p:sldId id="289" r:id="rId11"/>
    <p:sldId id="304" r:id="rId12"/>
    <p:sldId id="290" r:id="rId13"/>
    <p:sldId id="291" r:id="rId14"/>
    <p:sldId id="292" r:id="rId15"/>
    <p:sldId id="293" r:id="rId16"/>
    <p:sldId id="294" r:id="rId17"/>
    <p:sldId id="305" r:id="rId18"/>
    <p:sldId id="306" r:id="rId19"/>
    <p:sldId id="308" r:id="rId20"/>
    <p:sldId id="309" r:id="rId21"/>
    <p:sldId id="310" r:id="rId22"/>
    <p:sldId id="311" r:id="rId23"/>
    <p:sldId id="307" r:id="rId2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437FFB-D889-4E35-80D7-62282096ABD0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43DA8-3DF3-41E3-8439-B64B0FF63E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871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3506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58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99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97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91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901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694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4042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8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82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101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o do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21" name="Nível de Corpo Um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22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613560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40A59-C752-4765-B0CC-DA76ECD04D88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82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74981" y="3177196"/>
            <a:ext cx="9144000" cy="1496400"/>
          </a:xfrm>
        </p:spPr>
        <p:txBody>
          <a:bodyPr>
            <a:noAutofit/>
          </a:bodyPr>
          <a:lstStyle/>
          <a:p>
            <a:r>
              <a:rPr lang="pt-BR" sz="4800" dirty="0"/>
              <a:t>Linguagem de Programação de Banco de Dados</a:t>
            </a:r>
            <a:br>
              <a:rPr lang="pt-BR" sz="4800" dirty="0"/>
            </a:br>
            <a:r>
              <a:rPr lang="pt-BR" sz="2400" dirty="0"/>
              <a:t>Prof. José Carlos Perini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74981" y="4923127"/>
            <a:ext cx="9144000" cy="1655762"/>
          </a:xfrm>
        </p:spPr>
        <p:txBody>
          <a:bodyPr/>
          <a:lstStyle/>
          <a:p>
            <a:r>
              <a:rPr lang="pt-BR" dirty="0"/>
              <a:t>Aula 1 – Revisão de Banco de Dados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725" y="0"/>
            <a:ext cx="7340168" cy="248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8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650572" cy="1320800"/>
          </a:xfrm>
        </p:spPr>
        <p:txBody>
          <a:bodyPr>
            <a:normAutofit/>
          </a:bodyPr>
          <a:lstStyle/>
          <a:p>
            <a:r>
              <a:rPr lang="pt-BR" dirty="0"/>
              <a:t>Banco de Dados Relacional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975E60F-2F32-37A4-5524-AAEC0B0A2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041" y="1784144"/>
            <a:ext cx="4783912" cy="404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984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650572" cy="1320800"/>
          </a:xfrm>
        </p:spPr>
        <p:txBody>
          <a:bodyPr>
            <a:normAutofit/>
          </a:bodyPr>
          <a:lstStyle/>
          <a:p>
            <a:r>
              <a:rPr lang="pt-BR" dirty="0"/>
              <a:t>Projeto de Banco de Dados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097789F-68C6-A816-E0B5-C6289E42C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297" y="1527281"/>
            <a:ext cx="6466179" cy="4414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235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650572" cy="1320800"/>
          </a:xfrm>
        </p:spPr>
        <p:txBody>
          <a:bodyPr>
            <a:normAutofit/>
          </a:bodyPr>
          <a:lstStyle/>
          <a:p>
            <a:r>
              <a:rPr lang="pt-BR" dirty="0"/>
              <a:t>Projeto de Banco de Dados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D947BD6-4A01-1850-4A27-FB7391081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123" y="2020081"/>
            <a:ext cx="7952011" cy="2821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965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Importância do Levantamento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Levantamento de dados: dele depende o sucesso no desenvolvimento de um projeto ou software.</a:t>
            </a:r>
          </a:p>
          <a:p>
            <a:endParaRPr lang="pt-BR" dirty="0"/>
          </a:p>
          <a:p>
            <a:r>
              <a:rPr lang="pt-BR" dirty="0"/>
              <a:t>É a base do desenvolvimento, onde são tiradas conclusões de:</a:t>
            </a:r>
          </a:p>
          <a:p>
            <a:pPr lvl="1"/>
            <a:r>
              <a:rPr lang="pt-BR" dirty="0"/>
              <a:t>Situações</a:t>
            </a:r>
          </a:p>
          <a:p>
            <a:pPr lvl="1"/>
            <a:r>
              <a:rPr lang="pt-BR" dirty="0"/>
              <a:t>Problemas</a:t>
            </a:r>
          </a:p>
          <a:p>
            <a:pPr lvl="1"/>
            <a:r>
              <a:rPr lang="pt-BR" dirty="0"/>
              <a:t>Sugestão de propostas que contribuam para a solução de problemas</a:t>
            </a:r>
          </a:p>
        </p:txBody>
      </p:sp>
    </p:spTree>
    <p:extLst>
      <p:ext uri="{BB962C8B-B14F-4D97-AF65-F5344CB8AC3E}">
        <p14:creationId xmlns:p14="http://schemas.microsoft.com/office/powerpoint/2010/main" val="4135333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condição ou capacidade que um sistema deve apresentar:</a:t>
            </a:r>
          </a:p>
          <a:p>
            <a:pPr lvl="1"/>
            <a:r>
              <a:rPr lang="pt-BR" dirty="0"/>
              <a:t>Funcionalidades</a:t>
            </a:r>
          </a:p>
          <a:p>
            <a:pPr lvl="1"/>
            <a:r>
              <a:rPr lang="pt-BR" dirty="0"/>
              <a:t>Qualidades</a:t>
            </a:r>
          </a:p>
          <a:p>
            <a:pPr lvl="1"/>
            <a:r>
              <a:rPr lang="pt-BR" dirty="0"/>
              <a:t>Necessária ao usuário, para resolver um problema e alcançar um objetivo</a:t>
            </a:r>
          </a:p>
          <a:p>
            <a:pPr lvl="1"/>
            <a:r>
              <a:rPr lang="pt-BR" dirty="0"/>
              <a:t>Deve ser definido antes de começar a construir um sistema.</a:t>
            </a:r>
          </a:p>
        </p:txBody>
      </p:sp>
    </p:spTree>
    <p:extLst>
      <p:ext uri="{BB962C8B-B14F-4D97-AF65-F5344CB8AC3E}">
        <p14:creationId xmlns:p14="http://schemas.microsoft.com/office/powerpoint/2010/main" val="2833613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Requisito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Requisitos Funcionais (RF)</a:t>
            </a:r>
          </a:p>
          <a:p>
            <a:r>
              <a:rPr lang="pt-BR" dirty="0"/>
              <a:t>Requisitos não Funcionais (RNF)</a:t>
            </a:r>
          </a:p>
          <a:p>
            <a:r>
              <a:rPr lang="pt-BR" dirty="0"/>
              <a:t>Requisitos Inversos (RI) ou Escopo Negativo</a:t>
            </a:r>
          </a:p>
        </p:txBody>
      </p:sp>
    </p:spTree>
    <p:extLst>
      <p:ext uri="{BB962C8B-B14F-4D97-AF65-F5344CB8AC3E}">
        <p14:creationId xmlns:p14="http://schemas.microsoft.com/office/powerpoint/2010/main" val="1972104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Funcionais</a:t>
            </a: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Descreve funcionalidade e serviços do sistema</a:t>
            </a:r>
          </a:p>
          <a:p>
            <a:r>
              <a:rPr lang="pt-BR" dirty="0"/>
              <a:t>Depende do:</a:t>
            </a:r>
          </a:p>
          <a:p>
            <a:pPr lvl="1"/>
            <a:r>
              <a:rPr lang="pt-BR" dirty="0"/>
              <a:t>Tipo de software</a:t>
            </a:r>
          </a:p>
          <a:p>
            <a:pPr lvl="1"/>
            <a:r>
              <a:rPr lang="pt-BR" dirty="0"/>
              <a:t>Usuários esperados</a:t>
            </a:r>
          </a:p>
          <a:p>
            <a:pPr lvl="1"/>
            <a:r>
              <a:rPr lang="pt-BR" dirty="0"/>
              <a:t>Onde o software é usado</a:t>
            </a:r>
          </a:p>
          <a:p>
            <a:pPr lvl="1"/>
            <a:r>
              <a:rPr lang="pt-BR" dirty="0"/>
              <a:t>Cuidado com a redação dos requisitos.</a:t>
            </a:r>
          </a:p>
        </p:txBody>
      </p:sp>
    </p:spTree>
    <p:extLst>
      <p:ext uri="{BB962C8B-B14F-4D97-AF65-F5344CB8AC3E}">
        <p14:creationId xmlns:p14="http://schemas.microsoft.com/office/powerpoint/2010/main" val="3007976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040B3-1F00-2F8C-9677-2C256F212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692459"/>
          </a:xfrm>
        </p:spPr>
        <p:txBody>
          <a:bodyPr vert="horz" lIns="121920" tIns="60960" rIns="121920" bIns="60960" rtlCol="0" anchor="t">
            <a:normAutofit fontScale="90000"/>
          </a:bodyPr>
          <a:lstStyle/>
          <a:p>
            <a:r>
              <a:rPr lang="pt-BR" b="1" dirty="0"/>
              <a:t>Modelo Conceitual – Pequeno exemplo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0CCAE27-C91B-DBD5-156C-AB45203D2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350" y="2121024"/>
            <a:ext cx="8510345" cy="261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30588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D2F83D-8FD1-07E9-33FB-B5524C6E9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Exemplo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E1853DC-25C7-EDBB-AD89-8A0212EC7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72" y="2542976"/>
            <a:ext cx="9331229" cy="264788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8B8C0F2-B728-3A21-F83C-3910628D5B8A}"/>
              </a:ext>
            </a:extLst>
          </p:cNvPr>
          <p:cNvSpPr txBox="1"/>
          <p:nvPr/>
        </p:nvSpPr>
        <p:spPr>
          <a:xfrm>
            <a:off x="677335" y="1477203"/>
            <a:ext cx="10544040" cy="708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667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Em qual departamento o funcionário José de código 1002 trabalha?</a:t>
            </a:r>
          </a:p>
        </p:txBody>
      </p:sp>
    </p:spTree>
    <p:extLst>
      <p:ext uri="{BB962C8B-B14F-4D97-AF65-F5344CB8AC3E}">
        <p14:creationId xmlns:p14="http://schemas.microsoft.com/office/powerpoint/2010/main" val="895402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12" y="1461221"/>
            <a:ext cx="10772775" cy="277177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709612" y="4682761"/>
            <a:ext cx="60680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Um aluno faz no mínimo 1 matrícula e no máximo n matrículas.</a:t>
            </a:r>
          </a:p>
          <a:p>
            <a:r>
              <a:rPr lang="pt-BR" dirty="0"/>
              <a:t>Uma matrícula é de no mínimo 1 aluno e no máximo 1 aluno.</a:t>
            </a:r>
          </a:p>
        </p:txBody>
      </p:sp>
    </p:spTree>
    <p:extLst>
      <p:ext uri="{BB962C8B-B14F-4D97-AF65-F5344CB8AC3E}">
        <p14:creationId xmlns:p14="http://schemas.microsoft.com/office/powerpoint/2010/main" val="2561574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D0E041-0276-3EFF-F9B6-A9D1901A3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Cardinalidade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5F6AACC-D572-594A-48E7-A962937D4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605" y="1500249"/>
            <a:ext cx="8596668" cy="35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293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D0E041-0276-3EFF-F9B6-A9D1901A3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Cardinalidade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B32F153-EFE8-40FD-4086-FBC8A880C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5" y="1385905"/>
            <a:ext cx="9028917" cy="446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549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FC04AF-4326-551C-9A78-8393AA6D3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Estabelecendo o relacionamento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838199" y="5167311"/>
            <a:ext cx="108276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Note, no exemplo acima, que a função da chave estrangeira é fazer o relacionamento entre as tabelas, por isso é importante estabelecer corretamente a cardinalidade do relacionamento.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7" y="1966912"/>
            <a:ext cx="10106025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898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FA46F5-814A-1BDA-E530-A9123DCF4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Relacionamento 1:1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889F51F-A47F-BDAA-18BF-599B5D1C2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853" y="1460398"/>
            <a:ext cx="9094899" cy="428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530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D70324-F5A1-2650-483F-8D9060F34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Exemplo Modelo Conceitual no </a:t>
            </a:r>
            <a:r>
              <a:rPr lang="pt-BR" b="1" dirty="0" err="1"/>
              <a:t>BrModelo</a:t>
            </a:r>
            <a:endParaRPr lang="pt-BR" b="1" dirty="0"/>
          </a:p>
        </p:txBody>
      </p:sp>
      <p:pic>
        <p:nvPicPr>
          <p:cNvPr id="4" name="Imagem 3" descr="Diagrama&#10;&#10;Descrição gerada automaticamente">
            <a:extLst>
              <a:ext uri="{FF2B5EF4-FFF2-40B4-BE49-F238E27FC236}">
                <a16:creationId xmlns:a16="http://schemas.microsoft.com/office/drawing/2014/main" id="{3D52FFA5-8884-01AB-EFD6-38E13695E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5" y="1270000"/>
            <a:ext cx="10413835" cy="534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680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Conceitual - Escola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9810750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18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Lógico - Escola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12" y="1361205"/>
            <a:ext cx="8922761" cy="526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014781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650572" cy="1320800"/>
          </a:xfrm>
        </p:spPr>
        <p:txBody>
          <a:bodyPr>
            <a:normAutofit/>
          </a:bodyPr>
          <a:lstStyle/>
          <a:p>
            <a:r>
              <a:rPr lang="pt-BR" b="1" dirty="0"/>
              <a:t>Categorias </a:t>
            </a:r>
            <a:r>
              <a:rPr lang="pt-BR" b="1"/>
              <a:t>de Comandos </a:t>
            </a:r>
            <a:r>
              <a:rPr lang="pt-BR" b="1" dirty="0"/>
              <a:t>da Linguagem SQL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990" y="2167081"/>
            <a:ext cx="4633191" cy="393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157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25311-B713-74A1-E531-9DA0A4973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121920" tIns="60960" rIns="121920" bIns="60960" rtlCol="0" anchor="t">
            <a:normAutofit/>
          </a:bodyPr>
          <a:lstStyle/>
          <a:p>
            <a:r>
              <a:rPr lang="pt-BR" dirty="0">
                <a:solidFill>
                  <a:srgbClr val="007639"/>
                </a:solidFill>
              </a:rPr>
              <a:t>Criando uma tabela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500D8B-08A2-99F8-1D6E-2318513BB87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20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0A2A338-AD78-E781-C0C1-B145E9083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49" y="1213131"/>
            <a:ext cx="5814984" cy="507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692850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18CBB-87B7-39DE-17D0-B97C6B01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366487" cy="1320800"/>
          </a:xfrm>
        </p:spPr>
        <p:txBody>
          <a:bodyPr/>
          <a:lstStyle/>
          <a:p>
            <a:r>
              <a:rPr lang="pt-BR" dirty="0"/>
              <a:t>Restrições (</a:t>
            </a:r>
            <a:r>
              <a:rPr lang="pt-BR" dirty="0" err="1"/>
              <a:t>constraints</a:t>
            </a:r>
            <a:r>
              <a:rPr lang="pt-BR" dirty="0"/>
              <a:t>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D70280-4F71-7369-6DDC-3BB772C1B8E1}"/>
              </a:ext>
            </a:extLst>
          </p:cNvPr>
          <p:cNvSpPr txBox="1"/>
          <p:nvPr/>
        </p:nvSpPr>
        <p:spPr>
          <a:xfrm>
            <a:off x="693562" y="1751861"/>
            <a:ext cx="1018893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Impõem regras que podem ser no nível da coluna ou no nível da tabela:</a:t>
            </a: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NOT NULL 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Não aceita valor nulo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UNIQUE 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Valor deve ser único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PRIMARY KEY  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Chave primária (não nulo e único)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FOREIGN KEY 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Chave estrangeira (deve ter valor correspondente na tabela mãe)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CHECK 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Define uma condição de valor para a coluna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7208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D2F83D-8FD1-07E9-33FB-B5524C6E9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Inserindo registro nas tabelas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6CBC91B-AE20-FD93-02CC-FEBC5CD57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42" y="2130002"/>
            <a:ext cx="11481625" cy="292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33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475" y="967942"/>
            <a:ext cx="9163050" cy="5457825"/>
          </a:xfrm>
          <a:prstGeom prst="rect">
            <a:avLst/>
          </a:prstGeom>
        </p:spPr>
      </p:pic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38200" y="20320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Criar as tabelas a seguir e incluir alguns registros</a:t>
            </a:r>
            <a:br>
              <a:rPr lang="pt-BR" b="1" dirty="0"/>
            </a:b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3931157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976</TotalTime>
  <Words>353</Words>
  <Application>Microsoft Office PowerPoint</Application>
  <PresentationFormat>Widescreen</PresentationFormat>
  <Paragraphs>55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Tema do Office</vt:lpstr>
      <vt:lpstr>Linguagem de Programação de Banco de Dados Prof. José Carlos Perini</vt:lpstr>
      <vt:lpstr>Banco de Dados Relacional</vt:lpstr>
      <vt:lpstr>Projeto de Banco de Dados</vt:lpstr>
      <vt:lpstr>Projeto de Banco de Dados</vt:lpstr>
      <vt:lpstr>Importância do Levantamento de Dados</vt:lpstr>
      <vt:lpstr>Requisito</vt:lpstr>
      <vt:lpstr>Tipos de Requisito</vt:lpstr>
      <vt:lpstr>Requisitos Funcionais</vt:lpstr>
      <vt:lpstr>Modelo Conceitual – Pequeno exemplo</vt:lpstr>
      <vt:lpstr>Exemplo</vt:lpstr>
      <vt:lpstr>Exemplo</vt:lpstr>
      <vt:lpstr>Cardinalidade</vt:lpstr>
      <vt:lpstr>Cardinalidade</vt:lpstr>
      <vt:lpstr>Estabelecendo o relacionamento</vt:lpstr>
      <vt:lpstr>Relacionamento 1:1</vt:lpstr>
      <vt:lpstr>Exemplo Modelo Conceitual no BrModelo</vt:lpstr>
      <vt:lpstr>Modelo Conceitual - Escola</vt:lpstr>
      <vt:lpstr>Modelo Lógico - Escola</vt:lpstr>
      <vt:lpstr>Categorias de Comandos da Linguagem SQL</vt:lpstr>
      <vt:lpstr>Criando uma tabela</vt:lpstr>
      <vt:lpstr>Restrições (constraints)</vt:lpstr>
      <vt:lpstr>Inserindo registro nas tabelas </vt:lpstr>
      <vt:lpstr>Criar as tabelas a seguir e incluir alguns registros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Linguagem de Programação de Banco de Dados Prof. José Carlos Perini</dc:title>
  <dc:creator>User</dc:creator>
  <cp:lastModifiedBy>José Carlos Perini</cp:lastModifiedBy>
  <cp:revision>42</cp:revision>
  <dcterms:created xsi:type="dcterms:W3CDTF">2024-02-07T18:08:06Z</dcterms:created>
  <dcterms:modified xsi:type="dcterms:W3CDTF">2026-08-04T19:39:02Z</dcterms:modified>
</cp:coreProperties>
</file>