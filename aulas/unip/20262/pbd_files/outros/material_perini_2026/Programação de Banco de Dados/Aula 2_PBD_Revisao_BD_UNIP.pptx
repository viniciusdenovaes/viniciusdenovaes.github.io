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12" r:id="rId3"/>
    <p:sldId id="336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30" r:id="rId21"/>
    <p:sldId id="331" r:id="rId22"/>
    <p:sldId id="332" r:id="rId23"/>
    <p:sldId id="333" r:id="rId24"/>
    <p:sldId id="334" r:id="rId25"/>
    <p:sldId id="335" r:id="rId26"/>
    <p:sldId id="339" r:id="rId27"/>
    <p:sldId id="340" r:id="rId28"/>
    <p:sldId id="341" r:id="rId29"/>
    <p:sldId id="342" r:id="rId30"/>
    <p:sldId id="343" r:id="rId31"/>
    <p:sldId id="344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32254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309" name="Google Shape;309;p16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310" name="Google Shape;310;p1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6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12" name="Google Shape;312;p16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313" name="Google Shape;313;p16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>
              <a:buSzPts val="1200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699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51" name="Google Shape;151;p5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9104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63" name="Google Shape;163;p6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67" name="Google Shape;167;p6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8671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76" name="Google Shape;176;p7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9" name="Google Shape;179;p7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6180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87" name="Google Shape;187;p8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90" name="Google Shape;190;p8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91" name="Google Shape;191;p8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5890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99" name="Google Shape;199;p9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02" name="Google Shape;202;p9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03" name="Google Shape;203;p9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17456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14" name="Google Shape;214;p10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17" name="Google Shape;217;p10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18" name="Google Shape;218;p10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1262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25" name="Google Shape;225;p11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28" name="Google Shape;228;p11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29" name="Google Shape;229;p11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966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37" name="Google Shape;237;p12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0" name="Google Shape;240;p12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41" name="Google Shape;241;p12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7003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52" name="Google Shape;252;p13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55" name="Google Shape;255;p13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56" name="Google Shape;256;p13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4932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7001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0983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9305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7" name="Google Shape;3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8763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5" name="Google Shape;3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7255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5" name="Google Shape;42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9110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6" name="Google Shape;43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1038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8" name="Google Shape;4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40231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2" name="Google Shape;47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3512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3" name="Google Shape;48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41216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6" name="Google Shape;4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2314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88543c6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0" name="Google Shape;510;g3688543c6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1609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688543c68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3" name="Google Shape;523;g3688543c68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2578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68" name="Google Shape;168;p5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5233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32202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92" name="Google Shape;192;p7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96" name="Google Shape;196;p7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6497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24703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16" name="Google Shape;216;p9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19" name="Google Shape;219;p9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20" name="Google Shape;220;p9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02751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31" name="Google Shape;231;p10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32" name="Google Shape;232;p10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897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4981" y="3177196"/>
            <a:ext cx="9144000" cy="1496400"/>
          </a:xfrm>
        </p:spPr>
        <p:txBody>
          <a:bodyPr>
            <a:noAutofit/>
          </a:bodyPr>
          <a:lstStyle/>
          <a:p>
            <a:r>
              <a:rPr lang="pt-BR" sz="4800" dirty="0"/>
              <a:t>Programação de Banco de Dados</a:t>
            </a:r>
            <a:br>
              <a:rPr lang="pt-BR" sz="4800" dirty="0"/>
            </a:br>
            <a:r>
              <a:rPr lang="pt-BR" sz="24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4981" y="4923127"/>
            <a:ext cx="9144000" cy="1655762"/>
          </a:xfrm>
        </p:spPr>
        <p:txBody>
          <a:bodyPr/>
          <a:lstStyle/>
          <a:p>
            <a:r>
              <a:rPr lang="pt-BR" dirty="0"/>
              <a:t>Aula 2 – Criando tabelas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25" y="0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5534764" y="2728794"/>
            <a:ext cx="5971436" cy="3351469"/>
          </a:xfrm>
          <a:custGeom>
            <a:avLst/>
            <a:gdLst/>
            <a:ahLst/>
            <a:cxnLst/>
            <a:rect l="l" t="t" r="r" b="b"/>
            <a:pathLst>
              <a:path w="8957154" h="5027203" extrusionOk="0">
                <a:moveTo>
                  <a:pt x="0" y="0"/>
                </a:moveTo>
                <a:lnTo>
                  <a:pt x="8957154" y="0"/>
                </a:lnTo>
                <a:lnTo>
                  <a:pt x="8957154" y="5027202"/>
                </a:lnTo>
                <a:lnTo>
                  <a:pt x="0" y="5027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703905" y="3353924"/>
            <a:ext cx="2830859" cy="1779903"/>
          </a:xfrm>
          <a:custGeom>
            <a:avLst/>
            <a:gdLst/>
            <a:ahLst/>
            <a:cxnLst/>
            <a:rect l="l" t="t" r="r" b="b"/>
            <a:pathLst>
              <a:path w="4246288" h="2669854" extrusionOk="0">
                <a:moveTo>
                  <a:pt x="0" y="0"/>
                </a:moveTo>
                <a:lnTo>
                  <a:pt x="4246288" y="0"/>
                </a:lnTo>
                <a:lnTo>
                  <a:pt x="4246288" y="2669854"/>
                </a:lnTo>
                <a:lnTo>
                  <a:pt x="0" y="2669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65159" y="1578205"/>
            <a:ext cx="6295475" cy="156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Vamos compreender um pouco mais sobre os subconjuntos da linguagem SQL</a:t>
            </a:r>
            <a:endParaRPr sz="1200"/>
          </a:p>
          <a:p>
            <a:pPr>
              <a:lnSpc>
                <a:spcPct val="103384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384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6" descr="SQL: O que é e como usar os principais comandos básicos SQL – Insights para  te ajudar na carreira em tecnologia | Blog da Tryb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037" y="1041310"/>
            <a:ext cx="7010400" cy="39345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6"/>
          <p:cNvGrpSpPr/>
          <p:nvPr/>
        </p:nvGrpSpPr>
        <p:grpSpPr>
          <a:xfrm>
            <a:off x="8084643" y="2801758"/>
            <a:ext cx="3680867" cy="1810393"/>
            <a:chOff x="14427660" y="1677670"/>
            <a:chExt cx="3478642" cy="3388980"/>
          </a:xfrm>
        </p:grpSpPr>
        <p:sp>
          <p:nvSpPr>
            <p:cNvPr id="318" name="Google Shape;318;p16"/>
            <p:cNvSpPr txBox="1"/>
            <p:nvPr/>
          </p:nvSpPr>
          <p:spPr>
            <a:xfrm>
              <a:off x="14448502" y="3102872"/>
              <a:ext cx="3457800" cy="460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sz="1200" b="1">
                  <a:solidFill>
                    <a:srgbClr val="253A44"/>
                  </a:solidFill>
                  <a:latin typeface="Arial"/>
                  <a:ea typeface="Arial"/>
                  <a:cs typeface="Arial"/>
                  <a:sym typeface="Arial"/>
                </a:rPr>
                <a:t>DDL - Linguagem de Definição de Dados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6"/>
            <p:cNvSpPr txBox="1"/>
            <p:nvPr/>
          </p:nvSpPr>
          <p:spPr>
            <a:xfrm>
              <a:off x="14441128" y="3860712"/>
              <a:ext cx="3457800" cy="460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sz="1200" b="1">
                  <a:solidFill>
                    <a:srgbClr val="253A44"/>
                  </a:solidFill>
                  <a:latin typeface="Arial"/>
                  <a:ea typeface="Arial"/>
                  <a:cs typeface="Arial"/>
                  <a:sym typeface="Arial"/>
                </a:rPr>
                <a:t>DCL - Linguagem de Controle de Dados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0" name="Google Shape;320;p16"/>
            <p:cNvGrpSpPr/>
            <p:nvPr/>
          </p:nvGrpSpPr>
          <p:grpSpPr>
            <a:xfrm>
              <a:off x="14427660" y="1677670"/>
              <a:ext cx="3297442" cy="3388980"/>
              <a:chOff x="14427660" y="1677670"/>
              <a:chExt cx="3297442" cy="3388980"/>
            </a:xfrm>
          </p:grpSpPr>
          <p:sp>
            <p:nvSpPr>
              <p:cNvPr id="321" name="Google Shape;321;p16"/>
              <p:cNvSpPr txBox="1"/>
              <p:nvPr/>
            </p:nvSpPr>
            <p:spPr>
              <a:xfrm>
                <a:off x="14427660" y="1677670"/>
                <a:ext cx="3276600" cy="460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30467" rIns="60950" bIns="3046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r>
                  <a:rPr lang="en-US" sz="1200" b="1">
                    <a:solidFill>
                      <a:srgbClr val="253A44"/>
                    </a:solidFill>
                    <a:latin typeface="Arial"/>
                    <a:ea typeface="Arial"/>
                    <a:cs typeface="Arial"/>
                    <a:sym typeface="Arial"/>
                  </a:rPr>
                  <a:t>DQL - Linguagem de Consulta de Dados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6"/>
              <p:cNvSpPr txBox="1"/>
              <p:nvPr/>
            </p:nvSpPr>
            <p:spPr>
              <a:xfrm>
                <a:off x="14433754" y="2345036"/>
                <a:ext cx="3200400" cy="460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30467" rIns="60950" bIns="3046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r>
                  <a:rPr lang="en-US" sz="1200" b="1">
                    <a:solidFill>
                      <a:srgbClr val="253A44"/>
                    </a:solidFill>
                    <a:latin typeface="Arial"/>
                    <a:ea typeface="Arial"/>
                    <a:cs typeface="Arial"/>
                    <a:sym typeface="Arial"/>
                  </a:rPr>
                  <a:t>DML - Linguagem de Manipulação de Dados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6"/>
              <p:cNvSpPr txBox="1"/>
              <p:nvPr/>
            </p:nvSpPr>
            <p:spPr>
              <a:xfrm>
                <a:off x="14448502" y="4605783"/>
                <a:ext cx="3276600" cy="460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0950" tIns="30467" rIns="60950" bIns="30467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r>
                  <a:rPr lang="en-US" sz="1200" b="1">
                    <a:solidFill>
                      <a:srgbClr val="253A44"/>
                    </a:solidFill>
                    <a:latin typeface="Arial"/>
                    <a:ea typeface="Arial"/>
                    <a:cs typeface="Arial"/>
                    <a:sym typeface="Arial"/>
                  </a:rPr>
                  <a:t>DTL - Linguagem de Transação de Dados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4" name="Google Shape;324;p16"/>
          <p:cNvSpPr/>
          <p:nvPr/>
        </p:nvSpPr>
        <p:spPr>
          <a:xfrm rot="9268342">
            <a:off x="7359798" y="4885472"/>
            <a:ext cx="640557" cy="523757"/>
          </a:xfrm>
          <a:custGeom>
            <a:avLst/>
            <a:gdLst/>
            <a:ahLst/>
            <a:cxnLst/>
            <a:rect l="l" t="t" r="r" b="b"/>
            <a:pathLst>
              <a:path w="2560000" h="1619200" extrusionOk="0">
                <a:moveTo>
                  <a:pt x="0" y="0"/>
                </a:moveTo>
                <a:lnTo>
                  <a:pt x="2560000" y="0"/>
                </a:lnTo>
                <a:lnTo>
                  <a:pt x="2560000" y="1619200"/>
                </a:lnTo>
                <a:lnTo>
                  <a:pt x="0" y="16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7323928" y="1266952"/>
            <a:ext cx="632094" cy="612557"/>
          </a:xfrm>
          <a:custGeom>
            <a:avLst/>
            <a:gdLst/>
            <a:ahLst/>
            <a:cxnLst/>
            <a:rect l="l" t="t" r="r" b="b"/>
            <a:pathLst>
              <a:path w="948141" h="918835" extrusionOk="0">
                <a:moveTo>
                  <a:pt x="0" y="0"/>
                </a:moveTo>
                <a:lnTo>
                  <a:pt x="948141" y="0"/>
                </a:lnTo>
                <a:lnTo>
                  <a:pt x="948141" y="918835"/>
                </a:lnTo>
                <a:lnTo>
                  <a:pt x="0" y="918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8021606" y="1453345"/>
            <a:ext cx="3779642" cy="1033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6"/>
              </a:lnSpc>
              <a:buClr>
                <a:srgbClr val="000000"/>
              </a:buClr>
              <a:buSzPts val="2399"/>
            </a:pPr>
            <a:r>
              <a:rPr lang="en-US" sz="1599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linguagem SQL é organizada em subconjuntos, cada um com propósitos bem definidos.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 rot="4632377">
            <a:off x="10698296" y="2059363"/>
            <a:ext cx="640557" cy="523757"/>
          </a:xfrm>
          <a:custGeom>
            <a:avLst/>
            <a:gdLst/>
            <a:ahLst/>
            <a:cxnLst/>
            <a:rect l="l" t="t" r="r" b="b"/>
            <a:pathLst>
              <a:path w="2560000" h="1619200" extrusionOk="0">
                <a:moveTo>
                  <a:pt x="0" y="0"/>
                </a:moveTo>
                <a:lnTo>
                  <a:pt x="2560000" y="0"/>
                </a:lnTo>
                <a:lnTo>
                  <a:pt x="2560000" y="1619200"/>
                </a:lnTo>
                <a:lnTo>
                  <a:pt x="0" y="16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8155377" y="4817421"/>
            <a:ext cx="3779600" cy="172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6"/>
              </a:lnSpc>
              <a:buClr>
                <a:srgbClr val="000000"/>
              </a:buClr>
              <a:buSzPts val="2399"/>
            </a:pPr>
            <a:r>
              <a:rPr lang="en-US" sz="1599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subconjunto terá um conjunto de comandos específicos para atender determinadas ações tais como: consulta, manipulação, definição, controle e transação.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8391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/>
        </p:nvSpPr>
        <p:spPr>
          <a:xfrm>
            <a:off x="1065159" y="1597832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Query Language (DQL)</a:t>
            </a:r>
            <a:endParaRPr sz="1200"/>
          </a:p>
        </p:txBody>
      </p:sp>
      <p:sp>
        <p:nvSpPr>
          <p:cNvPr id="160" name="Google Shape;160;p5"/>
          <p:cNvSpPr txBox="1"/>
          <p:nvPr/>
        </p:nvSpPr>
        <p:spPr>
          <a:xfrm>
            <a:off x="1065159" y="2440604"/>
            <a:ext cx="8939791" cy="251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DQL é um subconjunto da linguagem SQL (Structured Query Language) usado exclusivamente para consultar dados de um banco de dados.</a:t>
            </a:r>
            <a:endParaRPr sz="1200"/>
          </a:p>
          <a:p>
            <a:pPr>
              <a:lnSpc>
                <a:spcPct val="144000"/>
              </a:lnSpc>
            </a:pPr>
            <a:endParaRPr sz="22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DQL é o subconjunto da linguagem SQL responsável por fazer perguntas ao banco de dados, sem alterar nada.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2289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1065159" y="1681275"/>
            <a:ext cx="9586555" cy="2228511"/>
          </a:xfrm>
          <a:custGeom>
            <a:avLst/>
            <a:gdLst/>
            <a:ahLst/>
            <a:cxnLst/>
            <a:rect l="l" t="t" r="r" b="b"/>
            <a:pathLst>
              <a:path w="14379832" h="3342767" extrusionOk="0">
                <a:moveTo>
                  <a:pt x="0" y="0"/>
                </a:moveTo>
                <a:lnTo>
                  <a:pt x="14379832" y="0"/>
                </a:lnTo>
                <a:lnTo>
                  <a:pt x="14379832" y="3342767"/>
                </a:lnTo>
                <a:lnTo>
                  <a:pt x="0" y="3342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496650" y="3680155"/>
            <a:ext cx="7155063" cy="2819004"/>
          </a:xfrm>
          <a:custGeom>
            <a:avLst/>
            <a:gdLst/>
            <a:ahLst/>
            <a:cxnLst/>
            <a:rect l="l" t="t" r="r" b="b"/>
            <a:pathLst>
              <a:path w="10732594" h="4228506" extrusionOk="0">
                <a:moveTo>
                  <a:pt x="0" y="0"/>
                </a:moveTo>
                <a:lnTo>
                  <a:pt x="10732595" y="0"/>
                </a:lnTo>
                <a:lnTo>
                  <a:pt x="10732595" y="4228506"/>
                </a:lnTo>
                <a:lnTo>
                  <a:pt x="0" y="422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 rot="-7782497" flipH="1">
            <a:off x="2068271" y="3279171"/>
            <a:ext cx="1656380" cy="1047660"/>
          </a:xfrm>
          <a:custGeom>
            <a:avLst/>
            <a:gdLst/>
            <a:ahLst/>
            <a:cxnLst/>
            <a:rect l="l" t="t" r="r" b="b"/>
            <a:pathLst>
              <a:path w="2484570" h="1571490" extrusionOk="0">
                <a:moveTo>
                  <a:pt x="0" y="1571491"/>
                </a:moveTo>
                <a:lnTo>
                  <a:pt x="2484570" y="1571491"/>
                </a:lnTo>
                <a:lnTo>
                  <a:pt x="2484570" y="0"/>
                </a:lnTo>
                <a:lnTo>
                  <a:pt x="0" y="0"/>
                </a:lnTo>
                <a:lnTo>
                  <a:pt x="0" y="157149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14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/>
        </p:nvSpPr>
        <p:spPr>
          <a:xfrm>
            <a:off x="1065159" y="1861016"/>
            <a:ext cx="8939791" cy="5303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3133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 que a DQL é importante???</a:t>
            </a:r>
            <a:endParaRPr sz="1200"/>
          </a:p>
          <a:p>
            <a:pPr>
              <a:lnSpc>
                <a:spcPct val="144000"/>
              </a:lnSpc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Porque:</a:t>
            </a:r>
            <a:endParaRPr sz="1200"/>
          </a:p>
          <a:p>
            <a:pPr>
              <a:lnSpc>
                <a:spcPct val="144000"/>
              </a:lnSpc>
            </a:pP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Permite analisar informações salvas no banco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usada em relatórios, painéis, e sistemas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a parte mais usada do SQL no dia a dia</a:t>
            </a:r>
            <a:endParaRPr sz="1200"/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670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/>
        </p:nvSpPr>
        <p:spPr>
          <a:xfrm>
            <a:off x="1065159" y="1597832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 Manipulation Language (DML)</a:t>
            </a:r>
            <a:endParaRPr sz="1200"/>
          </a:p>
        </p:txBody>
      </p:sp>
      <p:sp>
        <p:nvSpPr>
          <p:cNvPr id="196" name="Google Shape;196;p8"/>
          <p:cNvSpPr txBox="1"/>
          <p:nvPr/>
        </p:nvSpPr>
        <p:spPr>
          <a:xfrm>
            <a:off x="1065159" y="2440604"/>
            <a:ext cx="8939791" cy="301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DML é o subconjunto da linguagem SQL responsável por manipular os dados armazenados nas tabelas de um banco de dados. Ou seja, a DML permite inserir, atualizar, apagar e consultar registros.</a:t>
            </a:r>
            <a:endParaRPr sz="1200"/>
          </a:p>
          <a:p>
            <a:pPr>
              <a:lnSpc>
                <a:spcPct val="144000"/>
              </a:lnSpc>
            </a:pPr>
            <a:endParaRPr sz="22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DML é o subconjunto da linguagem SQL responsável por manipular dados dentro das tabeles em uma instância de banco de dados.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379815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903921" y="2043360"/>
            <a:ext cx="6891887" cy="2348205"/>
          </a:xfrm>
          <a:custGeom>
            <a:avLst/>
            <a:gdLst/>
            <a:ahLst/>
            <a:cxnLst/>
            <a:rect l="l" t="t" r="r" b="b"/>
            <a:pathLst>
              <a:path w="10337831" h="3522308" extrusionOk="0">
                <a:moveTo>
                  <a:pt x="0" y="0"/>
                </a:moveTo>
                <a:lnTo>
                  <a:pt x="10337831" y="0"/>
                </a:lnTo>
                <a:lnTo>
                  <a:pt x="10337831" y="3522308"/>
                </a:lnTo>
                <a:lnTo>
                  <a:pt x="0" y="3522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638975" y="4294266"/>
            <a:ext cx="6849435" cy="2372430"/>
          </a:xfrm>
          <a:custGeom>
            <a:avLst/>
            <a:gdLst/>
            <a:ahLst/>
            <a:cxnLst/>
            <a:rect l="l" t="t" r="r" b="b"/>
            <a:pathLst>
              <a:path w="10274153" h="3558645" extrusionOk="0">
                <a:moveTo>
                  <a:pt x="0" y="0"/>
                </a:moveTo>
                <a:lnTo>
                  <a:pt x="10274153" y="0"/>
                </a:lnTo>
                <a:lnTo>
                  <a:pt x="10274153" y="3558645"/>
                </a:lnTo>
                <a:lnTo>
                  <a:pt x="0" y="3558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096001" y="1602395"/>
            <a:ext cx="6086559" cy="3468223"/>
          </a:xfrm>
          <a:custGeom>
            <a:avLst/>
            <a:gdLst/>
            <a:ahLst/>
            <a:cxnLst/>
            <a:rect l="l" t="t" r="r" b="b"/>
            <a:pathLst>
              <a:path w="9129839" h="5202334" extrusionOk="0">
                <a:moveTo>
                  <a:pt x="0" y="0"/>
                </a:moveTo>
                <a:lnTo>
                  <a:pt x="9129839" y="0"/>
                </a:lnTo>
                <a:lnTo>
                  <a:pt x="9129839" y="5202334"/>
                </a:lnTo>
                <a:lnTo>
                  <a:pt x="0" y="5202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 rot="-6092046" flipH="1">
            <a:off x="1224327" y="4311019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4"/>
                </a:moveTo>
                <a:lnTo>
                  <a:pt x="854189" y="540274"/>
                </a:lnTo>
                <a:lnTo>
                  <a:pt x="854189" y="0"/>
                </a:lnTo>
                <a:lnTo>
                  <a:pt x="0" y="0"/>
                </a:lnTo>
                <a:lnTo>
                  <a:pt x="0" y="54027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 rot="9634751" flipH="1">
            <a:off x="8532091" y="5155045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5"/>
                </a:moveTo>
                <a:lnTo>
                  <a:pt x="854190" y="540275"/>
                </a:lnTo>
                <a:lnTo>
                  <a:pt x="854190" y="0"/>
                </a:lnTo>
                <a:lnTo>
                  <a:pt x="0" y="0"/>
                </a:lnTo>
                <a:lnTo>
                  <a:pt x="0" y="5402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6000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/>
        </p:nvSpPr>
        <p:spPr>
          <a:xfrm>
            <a:off x="1065159" y="1880066"/>
            <a:ext cx="8939791" cy="518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Curiosidades e dicas sobre DML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200"/>
          </a:p>
          <a:p>
            <a:pPr>
              <a:lnSpc>
                <a:spcPct val="144000"/>
              </a:lnSpc>
            </a:pP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Todos os comandos DML afetam os dados, mas não a estrutura das tabelas (isso é papel da DDL).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sempre recomendado usar WHERE com UPDATE e DELETE para evitar alterar ou apagar tudo por engano!</a:t>
            </a:r>
            <a:endParaRPr sz="1200"/>
          </a:p>
          <a:p>
            <a:pPr marL="561373" lvl="1" indent="-280687">
              <a:lnSpc>
                <a:spcPct val="144000"/>
              </a:lnSpc>
              <a:buClr>
                <a:srgbClr val="000000"/>
              </a:buClr>
              <a:buSzPts val="39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muitos bancos, as operações DML podem ser revertidas com ROLLBACK (se estiver em transação).</a:t>
            </a:r>
            <a:endParaRPr sz="1200"/>
          </a:p>
          <a:p>
            <a:pPr>
              <a:lnSpc>
                <a:spcPct val="144000"/>
              </a:lnSpc>
            </a:pP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3549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 txBox="1"/>
          <p:nvPr/>
        </p:nvSpPr>
        <p:spPr>
          <a:xfrm>
            <a:off x="1065159" y="1597832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Definition Language (DDL)</a:t>
            </a:r>
            <a:endParaRPr sz="1200"/>
          </a:p>
        </p:txBody>
      </p:sp>
      <p:sp>
        <p:nvSpPr>
          <p:cNvPr id="234" name="Google Shape;234;p11"/>
          <p:cNvSpPr txBox="1"/>
          <p:nvPr/>
        </p:nvSpPr>
        <p:spPr>
          <a:xfrm>
            <a:off x="1065159" y="2440604"/>
            <a:ext cx="8939791" cy="251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DDL é o subconjunto da linguagem SQL usado para criar, alterar e excluir estruturas do banco de dados, como tabelas, colunas, índices e relacionamentos.</a:t>
            </a:r>
            <a:endParaRPr sz="1200"/>
          </a:p>
          <a:p>
            <a:pPr>
              <a:lnSpc>
                <a:spcPct val="144000"/>
              </a:lnSpc>
            </a:pPr>
            <a:endParaRPr sz="22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r>
              <a:rPr lang="en-US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DDL define a arquitetura do banco, ou seja, seu esqueleto técnico.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12157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1065159" y="1731594"/>
            <a:ext cx="5857773" cy="2248681"/>
          </a:xfrm>
          <a:custGeom>
            <a:avLst/>
            <a:gdLst/>
            <a:ahLst/>
            <a:cxnLst/>
            <a:rect l="l" t="t" r="r" b="b"/>
            <a:pathLst>
              <a:path w="8786660" h="3373021" extrusionOk="0">
                <a:moveTo>
                  <a:pt x="0" y="0"/>
                </a:moveTo>
                <a:lnTo>
                  <a:pt x="8786660" y="0"/>
                </a:lnTo>
                <a:lnTo>
                  <a:pt x="8786660" y="3373021"/>
                </a:lnTo>
                <a:lnTo>
                  <a:pt x="0" y="3373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249972" y="4189824"/>
            <a:ext cx="4672961" cy="2359845"/>
          </a:xfrm>
          <a:custGeom>
            <a:avLst/>
            <a:gdLst/>
            <a:ahLst/>
            <a:cxnLst/>
            <a:rect l="l" t="t" r="r" b="b"/>
            <a:pathLst>
              <a:path w="7009441" h="3539768" extrusionOk="0">
                <a:moveTo>
                  <a:pt x="0" y="0"/>
                </a:moveTo>
                <a:lnTo>
                  <a:pt x="7009441" y="0"/>
                </a:lnTo>
                <a:lnTo>
                  <a:pt x="7009441" y="3539767"/>
                </a:lnTo>
                <a:lnTo>
                  <a:pt x="0" y="3539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666819" y="1633666"/>
            <a:ext cx="4610630" cy="4718692"/>
          </a:xfrm>
          <a:custGeom>
            <a:avLst/>
            <a:gdLst/>
            <a:ahLst/>
            <a:cxnLst/>
            <a:rect l="l" t="t" r="r" b="b"/>
            <a:pathLst>
              <a:path w="6915945" h="7078038" extrusionOk="0">
                <a:moveTo>
                  <a:pt x="0" y="0"/>
                </a:moveTo>
                <a:lnTo>
                  <a:pt x="6915945" y="0"/>
                </a:lnTo>
                <a:lnTo>
                  <a:pt x="6915945" y="7078038"/>
                </a:lnTo>
                <a:lnTo>
                  <a:pt x="0" y="7078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 rot="-7038643" flipH="1">
            <a:off x="1674587" y="4009733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5"/>
                </a:moveTo>
                <a:lnTo>
                  <a:pt x="854189" y="540275"/>
                </a:lnTo>
                <a:lnTo>
                  <a:pt x="854189" y="0"/>
                </a:lnTo>
                <a:lnTo>
                  <a:pt x="0" y="0"/>
                </a:lnTo>
                <a:lnTo>
                  <a:pt x="0" y="5402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 rot="9634751" flipH="1">
            <a:off x="6139681" y="4169153"/>
            <a:ext cx="569459" cy="360183"/>
          </a:xfrm>
          <a:custGeom>
            <a:avLst/>
            <a:gdLst/>
            <a:ahLst/>
            <a:cxnLst/>
            <a:rect l="l" t="t" r="r" b="b"/>
            <a:pathLst>
              <a:path w="854189" h="540275" extrusionOk="0">
                <a:moveTo>
                  <a:pt x="0" y="540274"/>
                </a:moveTo>
                <a:lnTo>
                  <a:pt x="854189" y="540274"/>
                </a:lnTo>
                <a:lnTo>
                  <a:pt x="854189" y="0"/>
                </a:lnTo>
                <a:lnTo>
                  <a:pt x="0" y="0"/>
                </a:lnTo>
                <a:lnTo>
                  <a:pt x="0" y="54027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271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1065159" y="2854917"/>
            <a:ext cx="10105505" cy="2345524"/>
          </a:xfrm>
          <a:custGeom>
            <a:avLst/>
            <a:gdLst/>
            <a:ahLst/>
            <a:cxnLst/>
            <a:rect l="l" t="t" r="r" b="b"/>
            <a:pathLst>
              <a:path w="15158258" h="3518286" extrusionOk="0">
                <a:moveTo>
                  <a:pt x="0" y="0"/>
                </a:moveTo>
                <a:lnTo>
                  <a:pt x="15158258" y="0"/>
                </a:lnTo>
                <a:lnTo>
                  <a:pt x="15158258" y="3518286"/>
                </a:lnTo>
                <a:lnTo>
                  <a:pt x="0" y="3518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663" b="-7663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1065159" y="1880066"/>
            <a:ext cx="8939791" cy="115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2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Resumo Comparativo entre DDL vs. DML vs. DQL</a:t>
            </a:r>
            <a:endParaRPr sz="1200"/>
          </a:p>
          <a:p>
            <a:pPr>
              <a:lnSpc>
                <a:spcPct val="144000"/>
              </a:lnSpc>
            </a:pPr>
            <a:endParaRPr sz="2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597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/>
          <p:nvPr/>
        </p:nvSpPr>
        <p:spPr>
          <a:xfrm>
            <a:off x="699067" y="3296318"/>
            <a:ext cx="7424867" cy="912845"/>
          </a:xfrm>
          <a:custGeom>
            <a:avLst/>
            <a:gdLst/>
            <a:ahLst/>
            <a:cxnLst/>
            <a:rect l="l" t="t" r="r" b="b"/>
            <a:pathLst>
              <a:path w="11137301" h="1369267" extrusionOk="0">
                <a:moveTo>
                  <a:pt x="0" y="0"/>
                </a:moveTo>
                <a:lnTo>
                  <a:pt x="11137301" y="0"/>
                </a:lnTo>
                <a:lnTo>
                  <a:pt x="11137301" y="1369267"/>
                </a:lnTo>
                <a:lnTo>
                  <a:pt x="0" y="1369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623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 txBox="1"/>
          <p:nvPr/>
        </p:nvSpPr>
        <p:spPr>
          <a:xfrm>
            <a:off x="699067" y="1893264"/>
            <a:ext cx="975959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criar um banco de dados para você, dono de uma pequena loja online.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699067" y="2852667"/>
            <a:ext cx="839186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 como aprendemos dentro do Workbench na aula passada: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" name="Google Shape;314;p15"/>
          <p:cNvGrpSpPr/>
          <p:nvPr/>
        </p:nvGrpSpPr>
        <p:grpSpPr>
          <a:xfrm>
            <a:off x="685800" y="4396740"/>
            <a:ext cx="9772865" cy="1844849"/>
            <a:chOff x="0" y="-104775"/>
            <a:chExt cx="19545729" cy="3689698"/>
          </a:xfrm>
        </p:grpSpPr>
        <p:sp>
          <p:nvSpPr>
            <p:cNvPr id="315" name="Google Shape;315;p15"/>
            <p:cNvSpPr/>
            <p:nvPr/>
          </p:nvSpPr>
          <p:spPr>
            <a:xfrm>
              <a:off x="0" y="1689100"/>
              <a:ext cx="14801304" cy="1895823"/>
            </a:xfrm>
            <a:custGeom>
              <a:avLst/>
              <a:gdLst/>
              <a:ahLst/>
              <a:cxnLst/>
              <a:rect l="l" t="t" r="r" b="b"/>
              <a:pathLst>
                <a:path w="14801304" h="1895823" extrusionOk="0">
                  <a:moveTo>
                    <a:pt x="0" y="0"/>
                  </a:moveTo>
                  <a:lnTo>
                    <a:pt x="14801304" y="0"/>
                  </a:lnTo>
                  <a:lnTo>
                    <a:pt x="14801304" y="1895823"/>
                  </a:lnTo>
                  <a:lnTo>
                    <a:pt x="0" y="18958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6365"/>
              </a:stretch>
            </a:blip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5"/>
            <p:cNvSpPr txBox="1"/>
            <p:nvPr/>
          </p:nvSpPr>
          <p:spPr>
            <a:xfrm>
              <a:off x="0" y="-104775"/>
              <a:ext cx="19545729" cy="1723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Mesmo que ela esteja criada, ela não é selecionada automaticamente, por isso devemos usar o seguinte comando: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p15"/>
          <p:cNvSpPr txBox="1"/>
          <p:nvPr/>
        </p:nvSpPr>
        <p:spPr>
          <a:xfrm>
            <a:off x="685800" y="2382214"/>
            <a:ext cx="7106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Digamos que ela se </a:t>
            </a:r>
            <a:r>
              <a:rPr lang="en-US" sz="2000"/>
              <a:t>chama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Amazon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987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/>
          <p:nvPr/>
        </p:nvSpPr>
        <p:spPr>
          <a:xfrm>
            <a:off x="685800" y="2644287"/>
            <a:ext cx="7534173" cy="1516252"/>
          </a:xfrm>
          <a:custGeom>
            <a:avLst/>
            <a:gdLst/>
            <a:ahLst/>
            <a:cxnLst/>
            <a:rect l="l" t="t" r="r" b="b"/>
            <a:pathLst>
              <a:path w="11301259" h="2274378" extrusionOk="0">
                <a:moveTo>
                  <a:pt x="0" y="0"/>
                </a:moveTo>
                <a:lnTo>
                  <a:pt x="11301259" y="0"/>
                </a:lnTo>
                <a:lnTo>
                  <a:pt x="11301259" y="2274379"/>
                </a:lnTo>
                <a:lnTo>
                  <a:pt x="0" y="2274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 rot="10236918">
            <a:off x="1721471" y="2718023"/>
            <a:ext cx="925858" cy="261555"/>
          </a:xfrm>
          <a:custGeom>
            <a:avLst/>
            <a:gdLst/>
            <a:ahLst/>
            <a:cxnLst/>
            <a:rect l="l" t="t" r="r" b="b"/>
            <a:pathLst>
              <a:path w="1388787" h="392332" extrusionOk="0">
                <a:moveTo>
                  <a:pt x="0" y="0"/>
                </a:moveTo>
                <a:lnTo>
                  <a:pt x="1388788" y="0"/>
                </a:lnTo>
                <a:lnTo>
                  <a:pt x="1388788" y="392333"/>
                </a:lnTo>
                <a:lnTo>
                  <a:pt x="0" y="392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1448734" y="2898264"/>
            <a:ext cx="187192" cy="310100"/>
          </a:xfrm>
          <a:custGeom>
            <a:avLst/>
            <a:gdLst/>
            <a:ahLst/>
            <a:cxnLst/>
            <a:rect l="l" t="t" r="r" b="b"/>
            <a:pathLst>
              <a:path w="280788" h="465150" extrusionOk="0">
                <a:moveTo>
                  <a:pt x="0" y="0"/>
                </a:moveTo>
                <a:lnTo>
                  <a:pt x="280788" y="0"/>
                </a:lnTo>
                <a:lnTo>
                  <a:pt x="280788" y="465149"/>
                </a:lnTo>
                <a:lnTo>
                  <a:pt x="0" y="465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685800" y="1559202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menu lateral é possível </a:t>
            </a: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visualizar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banco criado.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16"/>
          <p:cNvGrpSpPr/>
          <p:nvPr/>
        </p:nvGrpSpPr>
        <p:grpSpPr>
          <a:xfrm>
            <a:off x="685800" y="4339736"/>
            <a:ext cx="7534173" cy="2303660"/>
            <a:chOff x="0" y="-104775"/>
            <a:chExt cx="15068345" cy="4607320"/>
          </a:xfrm>
        </p:grpSpPr>
        <p:sp>
          <p:nvSpPr>
            <p:cNvPr id="330" name="Google Shape;330;p16"/>
            <p:cNvSpPr/>
            <p:nvPr/>
          </p:nvSpPr>
          <p:spPr>
            <a:xfrm>
              <a:off x="0" y="1072768"/>
              <a:ext cx="15068345" cy="3429777"/>
            </a:xfrm>
            <a:custGeom>
              <a:avLst/>
              <a:gdLst/>
              <a:ahLst/>
              <a:cxnLst/>
              <a:rect l="l" t="t" r="r" b="b"/>
              <a:pathLst>
                <a:path w="15068345" h="3429777" extrusionOk="0">
                  <a:moveTo>
                    <a:pt x="0" y="0"/>
                  </a:moveTo>
                  <a:lnTo>
                    <a:pt x="15068345" y="0"/>
                  </a:lnTo>
                  <a:lnTo>
                    <a:pt x="15068345" y="3429777"/>
                  </a:lnTo>
                  <a:lnTo>
                    <a:pt x="0" y="342977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9052"/>
              </a:stretch>
            </a:blip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1" name="Google Shape;331;p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200696">
              <a:off x="3180072" y="1310723"/>
              <a:ext cx="1546489" cy="16994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2" name="Google Shape;332;p16"/>
            <p:cNvGrpSpPr/>
            <p:nvPr/>
          </p:nvGrpSpPr>
          <p:grpSpPr>
            <a:xfrm>
              <a:off x="0" y="2198865"/>
              <a:ext cx="3800504" cy="1770375"/>
              <a:chOff x="0" y="-38100"/>
              <a:chExt cx="750717" cy="349703"/>
            </a:xfrm>
          </p:grpSpPr>
          <p:sp>
            <p:nvSpPr>
              <p:cNvPr id="333" name="Google Shape;333;p16"/>
              <p:cNvSpPr/>
              <p:nvPr/>
            </p:nvSpPr>
            <p:spPr>
              <a:xfrm>
                <a:off x="0" y="0"/>
                <a:ext cx="750717" cy="311603"/>
              </a:xfrm>
              <a:custGeom>
                <a:avLst/>
                <a:gdLst/>
                <a:ahLst/>
                <a:cxnLst/>
                <a:rect l="l" t="t" r="r" b="b"/>
                <a:pathLst>
                  <a:path w="750717" h="311603" extrusionOk="0">
                    <a:moveTo>
                      <a:pt x="0" y="0"/>
                    </a:moveTo>
                    <a:lnTo>
                      <a:pt x="750717" y="0"/>
                    </a:lnTo>
                    <a:lnTo>
                      <a:pt x="750717" y="311603"/>
                    </a:lnTo>
                    <a:lnTo>
                      <a:pt x="0" y="31160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 cmpd="sng">
                <a:solidFill>
                  <a:srgbClr val="E3061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6"/>
              <p:cNvSpPr txBox="1"/>
              <p:nvPr/>
            </p:nvSpPr>
            <p:spPr>
              <a:xfrm>
                <a:off x="0" y="-38100"/>
                <a:ext cx="750717" cy="3497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5" name="Google Shape;335;p16"/>
            <p:cNvSpPr txBox="1"/>
            <p:nvPr/>
          </p:nvSpPr>
          <p:spPr>
            <a:xfrm>
              <a:off x="0" y="-104775"/>
              <a:ext cx="14211817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isso, clique em </a:t>
              </a:r>
              <a:r>
                <a:rPr lang="en-US" sz="2000" b="1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refresh </a:t>
              </a: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 ele vai aparecer.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p16"/>
          <p:cNvSpPr txBox="1"/>
          <p:nvPr/>
        </p:nvSpPr>
        <p:spPr>
          <a:xfrm>
            <a:off x="685800" y="2066437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 logo quando criamos o banco, ele </a:t>
            </a: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não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aparece </a:t>
            </a: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automaticamente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702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/>
          <p:nvPr/>
        </p:nvSpPr>
        <p:spPr>
          <a:xfrm rot="3615192">
            <a:off x="-101565" y="3755850"/>
            <a:ext cx="1574730" cy="444861"/>
          </a:xfrm>
          <a:custGeom>
            <a:avLst/>
            <a:gdLst/>
            <a:ahLst/>
            <a:cxnLst/>
            <a:rect l="l" t="t" r="r" b="b"/>
            <a:pathLst>
              <a:path w="2362095" h="667292" extrusionOk="0">
                <a:moveTo>
                  <a:pt x="0" y="0"/>
                </a:moveTo>
                <a:lnTo>
                  <a:pt x="2362096" y="0"/>
                </a:lnTo>
                <a:lnTo>
                  <a:pt x="2362096" y="667292"/>
                </a:lnTo>
                <a:lnTo>
                  <a:pt x="0" y="66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1414787" y="3606801"/>
            <a:ext cx="6883757" cy="2842087"/>
          </a:xfrm>
          <a:custGeom>
            <a:avLst/>
            <a:gdLst/>
            <a:ahLst/>
            <a:cxnLst/>
            <a:rect l="l" t="t" r="r" b="b"/>
            <a:pathLst>
              <a:path w="10325635" h="4263131" extrusionOk="0">
                <a:moveTo>
                  <a:pt x="0" y="0"/>
                </a:moveTo>
                <a:lnTo>
                  <a:pt x="10325635" y="0"/>
                </a:lnTo>
                <a:lnTo>
                  <a:pt x="10325635" y="4263131"/>
                </a:lnTo>
                <a:lnTo>
                  <a:pt x="0" y="4263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788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685800" y="1558833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Criando a tabela "clientes"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8552551" y="2548252"/>
            <a:ext cx="2698246" cy="3835333"/>
            <a:chOff x="0" y="0"/>
            <a:chExt cx="5396492" cy="7670666"/>
          </a:xfrm>
        </p:grpSpPr>
        <p:sp>
          <p:nvSpPr>
            <p:cNvPr id="348" name="Google Shape;348;p17"/>
            <p:cNvSpPr/>
            <p:nvPr/>
          </p:nvSpPr>
          <p:spPr>
            <a:xfrm>
              <a:off x="235982" y="0"/>
              <a:ext cx="5160510" cy="5508138"/>
            </a:xfrm>
            <a:custGeom>
              <a:avLst/>
              <a:gdLst/>
              <a:ahLst/>
              <a:cxnLst/>
              <a:rect l="l" t="t" r="r" b="b"/>
              <a:pathLst>
                <a:path w="5160510" h="5508138" extrusionOk="0">
                  <a:moveTo>
                    <a:pt x="0" y="0"/>
                  </a:moveTo>
                  <a:lnTo>
                    <a:pt x="5160510" y="0"/>
                  </a:lnTo>
                  <a:lnTo>
                    <a:pt x="5160510" y="5508138"/>
                  </a:lnTo>
                  <a:lnTo>
                    <a:pt x="0" y="5508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r="-30176"/>
              </a:stretch>
            </a:blip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 rot="-1903597">
              <a:off x="1777353" y="6825129"/>
              <a:ext cx="2993052" cy="845537"/>
            </a:xfrm>
            <a:custGeom>
              <a:avLst/>
              <a:gdLst/>
              <a:ahLst/>
              <a:cxnLst/>
              <a:rect l="l" t="t" r="r" b="b"/>
              <a:pathLst>
                <a:path w="2993052" h="845537" extrusionOk="0">
                  <a:moveTo>
                    <a:pt x="0" y="0"/>
                  </a:moveTo>
                  <a:lnTo>
                    <a:pt x="2993052" y="0"/>
                  </a:lnTo>
                  <a:lnTo>
                    <a:pt x="2993052" y="845537"/>
                  </a:lnTo>
                  <a:lnTo>
                    <a:pt x="0" y="8455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7"/>
            <p:cNvSpPr txBox="1"/>
            <p:nvPr/>
          </p:nvSpPr>
          <p:spPr>
            <a:xfrm>
              <a:off x="0" y="5822324"/>
              <a:ext cx="4616224" cy="1723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Podemos ver ela em Schemas: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1" name="Google Shape;351;p17"/>
            <p:cNvGrpSpPr/>
            <p:nvPr/>
          </p:nvGrpSpPr>
          <p:grpSpPr>
            <a:xfrm>
              <a:off x="968591" y="2561188"/>
              <a:ext cx="4196371" cy="1308529"/>
              <a:chOff x="0" y="-38100"/>
              <a:chExt cx="828913" cy="258475"/>
            </a:xfrm>
          </p:grpSpPr>
          <p:sp>
            <p:nvSpPr>
              <p:cNvPr id="352" name="Google Shape;352;p17"/>
              <p:cNvSpPr/>
              <p:nvPr/>
            </p:nvSpPr>
            <p:spPr>
              <a:xfrm>
                <a:off x="0" y="0"/>
                <a:ext cx="828913" cy="220375"/>
              </a:xfrm>
              <a:custGeom>
                <a:avLst/>
                <a:gdLst/>
                <a:ahLst/>
                <a:cxnLst/>
                <a:rect l="l" t="t" r="r" b="b"/>
                <a:pathLst>
                  <a:path w="828913" h="220375" extrusionOk="0">
                    <a:moveTo>
                      <a:pt x="0" y="0"/>
                    </a:moveTo>
                    <a:lnTo>
                      <a:pt x="828913" y="0"/>
                    </a:lnTo>
                    <a:lnTo>
                      <a:pt x="828913" y="220375"/>
                    </a:lnTo>
                    <a:lnTo>
                      <a:pt x="0" y="22037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 cmpd="sng">
                <a:solidFill>
                  <a:srgbClr val="E3061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7"/>
              <p:cNvSpPr txBox="1"/>
              <p:nvPr/>
            </p:nvSpPr>
            <p:spPr>
              <a:xfrm>
                <a:off x="0" y="-38100"/>
                <a:ext cx="828913" cy="258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aphicFrame>
        <p:nvGraphicFramePr>
          <p:cNvPr id="354" name="Google Shape;354;p17"/>
          <p:cNvGraphicFramePr/>
          <p:nvPr/>
        </p:nvGraphicFramePr>
        <p:xfrm>
          <a:off x="688975" y="2292892"/>
          <a:ext cx="7609585" cy="94809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2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033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clientes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E306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nome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telefone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data_nasc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45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"/>
          <p:cNvSpPr/>
          <p:nvPr/>
        </p:nvSpPr>
        <p:spPr>
          <a:xfrm>
            <a:off x="858984" y="2441338"/>
            <a:ext cx="3913173" cy="3260977"/>
          </a:xfrm>
          <a:custGeom>
            <a:avLst/>
            <a:gdLst/>
            <a:ahLst/>
            <a:cxnLst/>
            <a:rect l="l" t="t" r="r" b="b"/>
            <a:pathLst>
              <a:path w="5869759" h="4891466" extrusionOk="0">
                <a:moveTo>
                  <a:pt x="0" y="0"/>
                </a:moveTo>
                <a:lnTo>
                  <a:pt x="5869759" y="0"/>
                </a:lnTo>
                <a:lnTo>
                  <a:pt x="5869759" y="4891465"/>
                </a:lnTo>
                <a:lnTo>
                  <a:pt x="0" y="48914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 txBox="1"/>
          <p:nvPr/>
        </p:nvSpPr>
        <p:spPr>
          <a:xfrm>
            <a:off x="685800" y="1558833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Entendendo o CREATE TABLE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18"/>
          <p:cNvGrpSpPr/>
          <p:nvPr/>
        </p:nvGrpSpPr>
        <p:grpSpPr>
          <a:xfrm>
            <a:off x="1342716" y="2661415"/>
            <a:ext cx="3978055" cy="913080"/>
            <a:chOff x="-158450" y="-360236"/>
            <a:chExt cx="7956108" cy="1826160"/>
          </a:xfrm>
        </p:grpSpPr>
        <p:grpSp>
          <p:nvGrpSpPr>
            <p:cNvPr id="365" name="Google Shape;365;p18"/>
            <p:cNvGrpSpPr/>
            <p:nvPr/>
          </p:nvGrpSpPr>
          <p:grpSpPr>
            <a:xfrm>
              <a:off x="-158450" y="-360236"/>
              <a:ext cx="5356889" cy="1467116"/>
              <a:chOff x="-31299" y="-74971"/>
              <a:chExt cx="1058151" cy="289800"/>
            </a:xfrm>
          </p:grpSpPr>
          <p:sp>
            <p:nvSpPr>
              <p:cNvPr id="366" name="Google Shape;366;p18"/>
              <p:cNvSpPr/>
              <p:nvPr/>
            </p:nvSpPr>
            <p:spPr>
              <a:xfrm>
                <a:off x="0" y="0"/>
                <a:ext cx="1026852" cy="185037"/>
              </a:xfrm>
              <a:custGeom>
                <a:avLst/>
                <a:gdLst/>
                <a:ahLst/>
                <a:cxnLst/>
                <a:rect l="l" t="t" r="r" b="b"/>
                <a:pathLst>
                  <a:path w="1026852" h="185037" extrusionOk="0">
                    <a:moveTo>
                      <a:pt x="0" y="0"/>
                    </a:moveTo>
                    <a:lnTo>
                      <a:pt x="1026852" y="0"/>
                    </a:lnTo>
                    <a:lnTo>
                      <a:pt x="1026852" y="185037"/>
                    </a:lnTo>
                    <a:lnTo>
                      <a:pt x="0" y="185037"/>
                    </a:lnTo>
                    <a:close/>
                  </a:path>
                </a:pathLst>
              </a:custGeom>
              <a:solidFill>
                <a:srgbClr val="E30613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8"/>
              <p:cNvSpPr txBox="1"/>
              <p:nvPr/>
            </p:nvSpPr>
            <p:spPr>
              <a:xfrm>
                <a:off x="-31299" y="-74971"/>
                <a:ext cx="1026900" cy="2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40000"/>
                  </a:lnSpc>
                  <a:buClr>
                    <a:srgbClr val="000000"/>
                  </a:buClr>
                  <a:buSzPts val="3000"/>
                </a:pPr>
                <a:r>
                  <a:rPr lang="en-US" sz="2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Coluna 1</a:t>
                </a:r>
                <a:endParaRPr sz="93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8" name="Google Shape;368;p18"/>
            <p:cNvSpPr txBox="1"/>
            <p:nvPr/>
          </p:nvSpPr>
          <p:spPr>
            <a:xfrm>
              <a:off x="5198439" y="-171448"/>
              <a:ext cx="2599219" cy="16373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7"/>
                </a:lnSpc>
                <a:buClr>
                  <a:srgbClr val="000000"/>
                </a:buClr>
                <a:buSzPts val="5699"/>
              </a:pPr>
              <a:r>
                <a:rPr lang="en-US" sz="3800" b="1">
                  <a:solidFill>
                    <a:srgbClr val="529FCC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18"/>
          <p:cNvGrpSpPr/>
          <p:nvPr/>
        </p:nvGrpSpPr>
        <p:grpSpPr>
          <a:xfrm>
            <a:off x="1342725" y="3247373"/>
            <a:ext cx="3978046" cy="914588"/>
            <a:chOff x="-158433" y="-363253"/>
            <a:chExt cx="7956091" cy="1829174"/>
          </a:xfrm>
        </p:grpSpPr>
        <p:grpSp>
          <p:nvGrpSpPr>
            <p:cNvPr id="370" name="Google Shape;370;p18"/>
            <p:cNvGrpSpPr/>
            <p:nvPr/>
          </p:nvGrpSpPr>
          <p:grpSpPr>
            <a:xfrm>
              <a:off x="-158433" y="-363253"/>
              <a:ext cx="5356872" cy="1467116"/>
              <a:chOff x="-31295" y="-75567"/>
              <a:chExt cx="1058147" cy="289800"/>
            </a:xfrm>
          </p:grpSpPr>
          <p:sp>
            <p:nvSpPr>
              <p:cNvPr id="371" name="Google Shape;371;p18"/>
              <p:cNvSpPr/>
              <p:nvPr/>
            </p:nvSpPr>
            <p:spPr>
              <a:xfrm>
                <a:off x="0" y="0"/>
                <a:ext cx="1026852" cy="185037"/>
              </a:xfrm>
              <a:custGeom>
                <a:avLst/>
                <a:gdLst/>
                <a:ahLst/>
                <a:cxnLst/>
                <a:rect l="l" t="t" r="r" b="b"/>
                <a:pathLst>
                  <a:path w="1026852" h="185037" extrusionOk="0">
                    <a:moveTo>
                      <a:pt x="0" y="0"/>
                    </a:moveTo>
                    <a:lnTo>
                      <a:pt x="1026852" y="0"/>
                    </a:lnTo>
                    <a:lnTo>
                      <a:pt x="1026852" y="185037"/>
                    </a:lnTo>
                    <a:lnTo>
                      <a:pt x="0" y="185037"/>
                    </a:lnTo>
                    <a:close/>
                  </a:path>
                </a:pathLst>
              </a:custGeom>
              <a:solidFill>
                <a:srgbClr val="E30613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8"/>
              <p:cNvSpPr txBox="1"/>
              <p:nvPr/>
            </p:nvSpPr>
            <p:spPr>
              <a:xfrm>
                <a:off x="-31295" y="-75567"/>
                <a:ext cx="1026900" cy="2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40000"/>
                  </a:lnSpc>
                  <a:buClr>
                    <a:srgbClr val="000000"/>
                  </a:buClr>
                  <a:buSzPts val="3000"/>
                </a:pPr>
                <a:r>
                  <a:rPr lang="en-US" sz="2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Coluna 2</a:t>
                </a:r>
                <a:endParaRPr sz="93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3" name="Google Shape;373;p18"/>
            <p:cNvSpPr txBox="1"/>
            <p:nvPr/>
          </p:nvSpPr>
          <p:spPr>
            <a:xfrm>
              <a:off x="5198440" y="-171449"/>
              <a:ext cx="2599218" cy="1637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7"/>
                </a:lnSpc>
                <a:buClr>
                  <a:srgbClr val="000000"/>
                </a:buClr>
                <a:buSzPts val="5699"/>
              </a:pPr>
              <a:r>
                <a:rPr lang="en-US" sz="3800" b="1">
                  <a:solidFill>
                    <a:srgbClr val="529FCC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18"/>
          <p:cNvGrpSpPr/>
          <p:nvPr/>
        </p:nvGrpSpPr>
        <p:grpSpPr>
          <a:xfrm>
            <a:off x="1342767" y="3871279"/>
            <a:ext cx="2678411" cy="733561"/>
            <a:chOff x="-31279" y="-61888"/>
            <a:chExt cx="1058131" cy="289800"/>
          </a:xfrm>
        </p:grpSpPr>
        <p:sp>
          <p:nvSpPr>
            <p:cNvPr id="375" name="Google Shape;375;p18"/>
            <p:cNvSpPr/>
            <p:nvPr/>
          </p:nvSpPr>
          <p:spPr>
            <a:xfrm>
              <a:off x="0" y="0"/>
              <a:ext cx="1026852" cy="185037"/>
            </a:xfrm>
            <a:custGeom>
              <a:avLst/>
              <a:gdLst/>
              <a:ahLst/>
              <a:cxnLst/>
              <a:rect l="l" t="t" r="r" b="b"/>
              <a:pathLst>
                <a:path w="1026852" h="185037" extrusionOk="0">
                  <a:moveTo>
                    <a:pt x="0" y="0"/>
                  </a:moveTo>
                  <a:lnTo>
                    <a:pt x="1026852" y="0"/>
                  </a:lnTo>
                  <a:lnTo>
                    <a:pt x="1026852" y="185037"/>
                  </a:lnTo>
                  <a:lnTo>
                    <a:pt x="0" y="185037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8"/>
            <p:cNvSpPr txBox="1"/>
            <p:nvPr/>
          </p:nvSpPr>
          <p:spPr>
            <a:xfrm>
              <a:off x="-31279" y="-61888"/>
              <a:ext cx="10269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Coluna 3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18"/>
          <p:cNvGrpSpPr/>
          <p:nvPr/>
        </p:nvGrpSpPr>
        <p:grpSpPr>
          <a:xfrm>
            <a:off x="3686231" y="2671798"/>
            <a:ext cx="5768863" cy="861774"/>
            <a:chOff x="0" y="-104775"/>
            <a:chExt cx="11537726" cy="1723550"/>
          </a:xfrm>
        </p:grpSpPr>
        <p:sp>
          <p:nvSpPr>
            <p:cNvPr id="378" name="Google Shape;378;p18"/>
            <p:cNvSpPr txBox="1"/>
            <p:nvPr/>
          </p:nvSpPr>
          <p:spPr>
            <a:xfrm>
              <a:off x="4510478" y="-104775"/>
              <a:ext cx="7027248" cy="172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Cada linha aqui representa a coluna da tabela.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9" name="Google Shape;379;p18"/>
            <p:cNvCxnSpPr/>
            <p:nvPr/>
          </p:nvCxnSpPr>
          <p:spPr>
            <a:xfrm>
              <a:off x="0" y="660400"/>
              <a:ext cx="4006705" cy="0"/>
            </a:xfrm>
            <a:prstGeom prst="straightConnector1">
              <a:avLst/>
            </a:prstGeom>
            <a:noFill/>
            <a:ln w="101600" cap="flat" cmpd="sng">
              <a:solidFill>
                <a:srgbClr val="E30613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80" name="Google Shape;380;p18"/>
          <p:cNvGrpSpPr/>
          <p:nvPr/>
        </p:nvGrpSpPr>
        <p:grpSpPr>
          <a:xfrm>
            <a:off x="4171112" y="3549335"/>
            <a:ext cx="5669377" cy="861774"/>
            <a:chOff x="0" y="-104775"/>
            <a:chExt cx="11338753" cy="1723548"/>
          </a:xfrm>
        </p:grpSpPr>
        <p:sp>
          <p:nvSpPr>
            <p:cNvPr id="381" name="Google Shape;381;p18"/>
            <p:cNvSpPr txBox="1"/>
            <p:nvPr/>
          </p:nvSpPr>
          <p:spPr>
            <a:xfrm>
              <a:off x="4311506" y="-104775"/>
              <a:ext cx="7027247" cy="1723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Devem ser separados por vígulas.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18"/>
            <p:cNvCxnSpPr/>
            <p:nvPr/>
          </p:nvCxnSpPr>
          <p:spPr>
            <a:xfrm>
              <a:off x="0" y="433135"/>
              <a:ext cx="4006705" cy="0"/>
            </a:xfrm>
            <a:prstGeom prst="straightConnector1">
              <a:avLst/>
            </a:prstGeom>
            <a:noFill/>
            <a:ln w="101600" cap="flat" cmpd="sng">
              <a:solidFill>
                <a:srgbClr val="529F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93577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9"/>
          <p:cNvGrpSpPr/>
          <p:nvPr/>
        </p:nvGrpSpPr>
        <p:grpSpPr>
          <a:xfrm>
            <a:off x="685800" y="2773011"/>
            <a:ext cx="8850729" cy="945205"/>
            <a:chOff x="0" y="-104775"/>
            <a:chExt cx="3496585" cy="373414"/>
          </a:xfrm>
        </p:grpSpPr>
        <p:sp>
          <p:nvSpPr>
            <p:cNvPr id="390" name="Google Shape;390;p19"/>
            <p:cNvSpPr/>
            <p:nvPr/>
          </p:nvSpPr>
          <p:spPr>
            <a:xfrm>
              <a:off x="0" y="0"/>
              <a:ext cx="3496585" cy="268639"/>
            </a:xfrm>
            <a:custGeom>
              <a:avLst/>
              <a:gdLst/>
              <a:ahLst/>
              <a:cxnLst/>
              <a:rect l="l" t="t" r="r" b="b"/>
              <a:pathLst>
                <a:path w="3496585" h="268639" extrusionOk="0">
                  <a:moveTo>
                    <a:pt x="0" y="0"/>
                  </a:moveTo>
                  <a:lnTo>
                    <a:pt x="3496585" y="0"/>
                  </a:lnTo>
                  <a:lnTo>
                    <a:pt x="3496585" y="268639"/>
                  </a:lnTo>
                  <a:lnTo>
                    <a:pt x="0" y="268639"/>
                  </a:lnTo>
                  <a:close/>
                </a:path>
              </a:pathLst>
            </a:custGeom>
            <a:solidFill>
              <a:srgbClr val="B9B8BF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9"/>
            <p:cNvSpPr txBox="1"/>
            <p:nvPr/>
          </p:nvSpPr>
          <p:spPr>
            <a:xfrm>
              <a:off x="0" y="-104775"/>
              <a:ext cx="3496585" cy="373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233333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19"/>
          <p:cNvGrpSpPr/>
          <p:nvPr/>
        </p:nvGrpSpPr>
        <p:grpSpPr>
          <a:xfrm>
            <a:off x="749054" y="2989453"/>
            <a:ext cx="2323495" cy="733589"/>
            <a:chOff x="-13944" y="-63569"/>
            <a:chExt cx="917924" cy="289812"/>
          </a:xfrm>
        </p:grpSpPr>
        <p:sp>
          <p:nvSpPr>
            <p:cNvPr id="393" name="Google Shape;393;p19"/>
            <p:cNvSpPr/>
            <p:nvPr/>
          </p:nvSpPr>
          <p:spPr>
            <a:xfrm>
              <a:off x="0" y="0"/>
              <a:ext cx="903980" cy="185037"/>
            </a:xfrm>
            <a:custGeom>
              <a:avLst/>
              <a:gdLst/>
              <a:ahLst/>
              <a:cxnLst/>
              <a:rect l="l" t="t" r="r" b="b"/>
              <a:pathLst>
                <a:path w="903980" h="185037" extrusionOk="0">
                  <a:moveTo>
                    <a:pt x="0" y="0"/>
                  </a:moveTo>
                  <a:lnTo>
                    <a:pt x="903980" y="0"/>
                  </a:lnTo>
                  <a:lnTo>
                    <a:pt x="903980" y="185037"/>
                  </a:lnTo>
                  <a:lnTo>
                    <a:pt x="0" y="185037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9"/>
            <p:cNvSpPr txBox="1"/>
            <p:nvPr/>
          </p:nvSpPr>
          <p:spPr>
            <a:xfrm>
              <a:off x="-13944" y="-63569"/>
              <a:ext cx="903980" cy="289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nome_da_coluna 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19"/>
          <p:cNvGrpSpPr/>
          <p:nvPr/>
        </p:nvGrpSpPr>
        <p:grpSpPr>
          <a:xfrm>
            <a:off x="3533235" y="2989453"/>
            <a:ext cx="2307373" cy="733589"/>
            <a:chOff x="-7575" y="-63569"/>
            <a:chExt cx="911555" cy="289812"/>
          </a:xfrm>
        </p:grpSpPr>
        <p:sp>
          <p:nvSpPr>
            <p:cNvPr id="396" name="Google Shape;396;p19"/>
            <p:cNvSpPr/>
            <p:nvPr/>
          </p:nvSpPr>
          <p:spPr>
            <a:xfrm>
              <a:off x="0" y="0"/>
              <a:ext cx="903980" cy="185037"/>
            </a:xfrm>
            <a:custGeom>
              <a:avLst/>
              <a:gdLst/>
              <a:ahLst/>
              <a:cxnLst/>
              <a:rect l="l" t="t" r="r" b="b"/>
              <a:pathLst>
                <a:path w="903980" h="185037" extrusionOk="0">
                  <a:moveTo>
                    <a:pt x="0" y="0"/>
                  </a:moveTo>
                  <a:lnTo>
                    <a:pt x="903980" y="0"/>
                  </a:lnTo>
                  <a:lnTo>
                    <a:pt x="903980" y="185037"/>
                  </a:lnTo>
                  <a:lnTo>
                    <a:pt x="0" y="185037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9"/>
            <p:cNvSpPr txBox="1"/>
            <p:nvPr/>
          </p:nvSpPr>
          <p:spPr>
            <a:xfrm>
              <a:off x="-7575" y="-63569"/>
              <a:ext cx="903980" cy="289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tipo_de_dado</a:t>
              </a:r>
              <a:endPara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19"/>
          <p:cNvGrpSpPr/>
          <p:nvPr/>
        </p:nvGrpSpPr>
        <p:grpSpPr>
          <a:xfrm>
            <a:off x="6336590" y="2989453"/>
            <a:ext cx="3053822" cy="733589"/>
            <a:chOff x="-7575" y="-63569"/>
            <a:chExt cx="1206448" cy="289812"/>
          </a:xfrm>
        </p:grpSpPr>
        <p:sp>
          <p:nvSpPr>
            <p:cNvPr id="399" name="Google Shape;399;p19"/>
            <p:cNvSpPr/>
            <p:nvPr/>
          </p:nvSpPr>
          <p:spPr>
            <a:xfrm>
              <a:off x="0" y="0"/>
              <a:ext cx="1198873" cy="185037"/>
            </a:xfrm>
            <a:custGeom>
              <a:avLst/>
              <a:gdLst/>
              <a:ahLst/>
              <a:cxnLst/>
              <a:rect l="l" t="t" r="r" b="b"/>
              <a:pathLst>
                <a:path w="1198873" h="185037" extrusionOk="0">
                  <a:moveTo>
                    <a:pt x="0" y="0"/>
                  </a:moveTo>
                  <a:lnTo>
                    <a:pt x="1198873" y="0"/>
                  </a:lnTo>
                  <a:lnTo>
                    <a:pt x="1198873" y="185037"/>
                  </a:lnTo>
                  <a:lnTo>
                    <a:pt x="0" y="185037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9"/>
            <p:cNvSpPr txBox="1"/>
            <p:nvPr/>
          </p:nvSpPr>
          <p:spPr>
            <a:xfrm>
              <a:off x="-7575" y="-63569"/>
              <a:ext cx="1198873" cy="289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restrições/descrições</a:t>
              </a:r>
              <a:endPara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19"/>
          <p:cNvSpPr/>
          <p:nvPr/>
        </p:nvSpPr>
        <p:spPr>
          <a:xfrm>
            <a:off x="1308240" y="5082892"/>
            <a:ext cx="6016939" cy="748997"/>
          </a:xfrm>
          <a:custGeom>
            <a:avLst/>
            <a:gdLst/>
            <a:ahLst/>
            <a:cxnLst/>
            <a:rect l="l" t="t" r="r" b="b"/>
            <a:pathLst>
              <a:path w="9025409" h="1123495" extrusionOk="0">
                <a:moveTo>
                  <a:pt x="0" y="0"/>
                </a:moveTo>
                <a:lnTo>
                  <a:pt x="9025410" y="0"/>
                </a:lnTo>
                <a:lnTo>
                  <a:pt x="9025410" y="1123495"/>
                </a:lnTo>
                <a:lnTo>
                  <a:pt x="0" y="1123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685800" y="1558833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Entendendo cada atributo na criação da tabela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685801" y="2187323"/>
            <a:ext cx="66393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linha que define a coluna segue essa estrutura: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3246949" y="3162300"/>
            <a:ext cx="2168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6050057" y="3162300"/>
            <a:ext cx="2168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685800" y="4124616"/>
            <a:ext cx="716811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usando a coluna que representa o nome do cliente: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" name="Google Shape;408;p19"/>
          <p:cNvGrpSpPr/>
          <p:nvPr/>
        </p:nvGrpSpPr>
        <p:grpSpPr>
          <a:xfrm>
            <a:off x="686323" y="4852183"/>
            <a:ext cx="2259003" cy="1604846"/>
            <a:chOff x="1029484" y="7278272"/>
            <a:chExt cx="3388504" cy="2407268"/>
          </a:xfrm>
        </p:grpSpPr>
        <p:grpSp>
          <p:nvGrpSpPr>
            <p:cNvPr id="409" name="Google Shape;409;p19"/>
            <p:cNvGrpSpPr/>
            <p:nvPr/>
          </p:nvGrpSpPr>
          <p:grpSpPr>
            <a:xfrm>
              <a:off x="1962359" y="7278272"/>
              <a:ext cx="1631386" cy="1417807"/>
              <a:chOff x="0" y="-104775"/>
              <a:chExt cx="429665" cy="373414"/>
            </a:xfrm>
          </p:grpSpPr>
          <p:sp>
            <p:nvSpPr>
              <p:cNvPr id="410" name="Google Shape;410;p19"/>
              <p:cNvSpPr/>
              <p:nvPr/>
            </p:nvSpPr>
            <p:spPr>
              <a:xfrm>
                <a:off x="0" y="0"/>
                <a:ext cx="429665" cy="268639"/>
              </a:xfrm>
              <a:custGeom>
                <a:avLst/>
                <a:gdLst/>
                <a:ahLst/>
                <a:cxnLst/>
                <a:rect l="l" t="t" r="r" b="b"/>
                <a:pathLst>
                  <a:path w="429665" h="268639" extrusionOk="0">
                    <a:moveTo>
                      <a:pt x="0" y="0"/>
                    </a:moveTo>
                    <a:lnTo>
                      <a:pt x="429665" y="0"/>
                    </a:lnTo>
                    <a:lnTo>
                      <a:pt x="429665" y="268639"/>
                    </a:lnTo>
                    <a:lnTo>
                      <a:pt x="0" y="26863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 cmpd="sng">
                <a:solidFill>
                  <a:srgbClr val="E3061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9"/>
              <p:cNvSpPr txBox="1"/>
              <p:nvPr/>
            </p:nvSpPr>
            <p:spPr>
              <a:xfrm>
                <a:off x="0" y="-104775"/>
                <a:ext cx="429665" cy="373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233333"/>
                  </a:lnSpc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2" name="Google Shape;412;p19"/>
            <p:cNvSpPr txBox="1"/>
            <p:nvPr/>
          </p:nvSpPr>
          <p:spPr>
            <a:xfrm>
              <a:off x="1029484" y="9039210"/>
              <a:ext cx="3388504" cy="646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nome_da_coluna 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19"/>
          <p:cNvGrpSpPr/>
          <p:nvPr/>
        </p:nvGrpSpPr>
        <p:grpSpPr>
          <a:xfrm>
            <a:off x="2461214" y="4568828"/>
            <a:ext cx="2519501" cy="1228558"/>
            <a:chOff x="3691821" y="6853242"/>
            <a:chExt cx="3779252" cy="1842837"/>
          </a:xfrm>
        </p:grpSpPr>
        <p:grpSp>
          <p:nvGrpSpPr>
            <p:cNvPr id="414" name="Google Shape;414;p19"/>
            <p:cNvGrpSpPr/>
            <p:nvPr/>
          </p:nvGrpSpPr>
          <p:grpSpPr>
            <a:xfrm>
              <a:off x="3691821" y="7278272"/>
              <a:ext cx="3779252" cy="1417807"/>
              <a:chOff x="0" y="-104775"/>
              <a:chExt cx="995358" cy="373414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0" y="0"/>
                <a:ext cx="995358" cy="268639"/>
              </a:xfrm>
              <a:custGeom>
                <a:avLst/>
                <a:gdLst/>
                <a:ahLst/>
                <a:cxnLst/>
                <a:rect l="l" t="t" r="r" b="b"/>
                <a:pathLst>
                  <a:path w="995358" h="268639" extrusionOk="0">
                    <a:moveTo>
                      <a:pt x="0" y="0"/>
                    </a:moveTo>
                    <a:lnTo>
                      <a:pt x="995358" y="0"/>
                    </a:lnTo>
                    <a:lnTo>
                      <a:pt x="995358" y="268639"/>
                    </a:lnTo>
                    <a:lnTo>
                      <a:pt x="0" y="26863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 cmpd="sng">
                <a:solidFill>
                  <a:srgbClr val="E3061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9"/>
              <p:cNvSpPr txBox="1"/>
              <p:nvPr/>
            </p:nvSpPr>
            <p:spPr>
              <a:xfrm>
                <a:off x="0" y="-104775"/>
                <a:ext cx="995358" cy="373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233333"/>
                  </a:lnSpc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" name="Google Shape;417;p19"/>
            <p:cNvSpPr txBox="1"/>
            <p:nvPr/>
          </p:nvSpPr>
          <p:spPr>
            <a:xfrm>
              <a:off x="3887195" y="6853242"/>
              <a:ext cx="33885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tipo_de_dado</a:t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19"/>
          <p:cNvGrpSpPr/>
          <p:nvPr/>
        </p:nvGrpSpPr>
        <p:grpSpPr>
          <a:xfrm>
            <a:off x="4860621" y="4852181"/>
            <a:ext cx="2259003" cy="1563364"/>
            <a:chOff x="7290931" y="7278272"/>
            <a:chExt cx="3388504" cy="2345047"/>
          </a:xfrm>
        </p:grpSpPr>
        <p:grpSp>
          <p:nvGrpSpPr>
            <p:cNvPr id="419" name="Google Shape;419;p19"/>
            <p:cNvGrpSpPr/>
            <p:nvPr/>
          </p:nvGrpSpPr>
          <p:grpSpPr>
            <a:xfrm>
              <a:off x="7566322" y="7278272"/>
              <a:ext cx="2837721" cy="1417807"/>
              <a:chOff x="0" y="-104775"/>
              <a:chExt cx="747383" cy="373414"/>
            </a:xfrm>
          </p:grpSpPr>
          <p:sp>
            <p:nvSpPr>
              <p:cNvPr id="420" name="Google Shape;420;p19"/>
              <p:cNvSpPr/>
              <p:nvPr/>
            </p:nvSpPr>
            <p:spPr>
              <a:xfrm>
                <a:off x="0" y="0"/>
                <a:ext cx="747383" cy="268639"/>
              </a:xfrm>
              <a:custGeom>
                <a:avLst/>
                <a:gdLst/>
                <a:ahLst/>
                <a:cxnLst/>
                <a:rect l="l" t="t" r="r" b="b"/>
                <a:pathLst>
                  <a:path w="747383" h="268639" extrusionOk="0">
                    <a:moveTo>
                      <a:pt x="0" y="0"/>
                    </a:moveTo>
                    <a:lnTo>
                      <a:pt x="747383" y="0"/>
                    </a:lnTo>
                    <a:lnTo>
                      <a:pt x="747383" y="268639"/>
                    </a:lnTo>
                    <a:lnTo>
                      <a:pt x="0" y="26863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 cmpd="sng">
                <a:solidFill>
                  <a:srgbClr val="E3061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9"/>
              <p:cNvSpPr txBox="1"/>
              <p:nvPr/>
            </p:nvSpPr>
            <p:spPr>
              <a:xfrm>
                <a:off x="0" y="-104775"/>
                <a:ext cx="747383" cy="373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233333"/>
                  </a:lnSpc>
                  <a:buClr>
                    <a:srgbClr val="000000"/>
                  </a:buCl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2" name="Google Shape;422;p19"/>
            <p:cNvSpPr txBox="1"/>
            <p:nvPr/>
          </p:nvSpPr>
          <p:spPr>
            <a:xfrm>
              <a:off x="7290931" y="8976988"/>
              <a:ext cx="338850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restrição</a:t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926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0"/>
          <p:cNvSpPr txBox="1"/>
          <p:nvPr/>
        </p:nvSpPr>
        <p:spPr>
          <a:xfrm>
            <a:off x="685800" y="1558833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Principais tipos de dados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0"/>
          <p:cNvSpPr txBox="1"/>
          <p:nvPr/>
        </p:nvSpPr>
        <p:spPr>
          <a:xfrm>
            <a:off x="9042400" y="4918168"/>
            <a:ext cx="295859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Existem muitos outros, por isso é bom pesquisar.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3" name="Google Shape;433;p20"/>
          <p:cNvGraphicFramePr/>
          <p:nvPr/>
        </p:nvGraphicFramePr>
        <p:xfrm>
          <a:off x="673100" y="2328880"/>
          <a:ext cx="8127999" cy="371860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Dado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Categoria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Exemplo de uso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06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Numérico inteiro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Id, número de matrícula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FLOAT / DOUBLE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Numérico real (com ponto flutuante)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Preço, salário, notas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VARCHAR(n)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Texto variável. </a:t>
                      </a:r>
                      <a:r>
                        <a:rPr lang="en-US" sz="2000" b="1" i="0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é o tamanho do texto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Nome, e-mail, endereço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de nascimento, registro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Hora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Duração, horários específicos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085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"/>
          <p:cNvSpPr txBox="1"/>
          <p:nvPr/>
        </p:nvSpPr>
        <p:spPr>
          <a:xfrm>
            <a:off x="685800" y="1558833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Principais Restrições (Constraints) no MySQL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10015279" y="4412075"/>
            <a:ext cx="198163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Existem muitos outros, por isso é bom pesquisar.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4" name="Google Shape;444;p21"/>
          <p:cNvGraphicFramePr/>
          <p:nvPr/>
        </p:nvGraphicFramePr>
        <p:xfrm>
          <a:off x="692150" y="2183706"/>
          <a:ext cx="9163050" cy="371860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0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Restrição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Descrição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06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KEY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Garante que o valor da coluna seja </a:t>
                      </a:r>
                      <a:r>
                        <a:rPr lang="en-US" sz="2000" b="1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único e não nulo</a:t>
                      </a: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en-US" sz="2000" b="1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Identifica</a:t>
                      </a: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unicamente cada registro da tabela.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AUTO_INCREMENT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Usada </a:t>
                      </a:r>
                      <a:r>
                        <a:rPr lang="en-US" sz="2000" b="1" i="0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 PRIMARY KEY</a:t>
                      </a: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faz o valor aumentar automaticamente </a:t>
                      </a:r>
                      <a:r>
                        <a:rPr lang="en-US" sz="2000" b="1" i="0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cada novo registro.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NOT NULL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Não permite que o campo fique vazio. </a:t>
                      </a:r>
                      <a:r>
                        <a:rPr lang="en-US" sz="2000" b="1" i="0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valor é obrigatório.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UNIQUE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Garante que todos os valores da coluna sejam </a:t>
                      </a:r>
                      <a:r>
                        <a:rPr lang="en-US" sz="2000" b="1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diferentes</a:t>
                      </a: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2000" b="1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 repetições</a:t>
                      </a: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).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valor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Define um </a:t>
                      </a:r>
                      <a:r>
                        <a:rPr lang="en-US" sz="2000" b="1" u="none" strike="noStrike" cap="none">
                          <a:solidFill>
                            <a:srgbClr val="E306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padrão automático </a:t>
                      </a: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para o campo caso ele não seja informado.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140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"/>
          <p:cNvSpPr/>
          <p:nvPr/>
        </p:nvSpPr>
        <p:spPr>
          <a:xfrm>
            <a:off x="706258" y="2408205"/>
            <a:ext cx="2302782" cy="413320"/>
          </a:xfrm>
          <a:custGeom>
            <a:avLst/>
            <a:gdLst/>
            <a:ahLst/>
            <a:cxnLst/>
            <a:rect l="l" t="t" r="r" b="b"/>
            <a:pathLst>
              <a:path w="3454173" h="619980" extrusionOk="0">
                <a:moveTo>
                  <a:pt x="0" y="0"/>
                </a:moveTo>
                <a:lnTo>
                  <a:pt x="3454173" y="0"/>
                </a:lnTo>
                <a:lnTo>
                  <a:pt x="3454173" y="619980"/>
                </a:lnTo>
                <a:lnTo>
                  <a:pt x="0" y="619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>
            <a:off x="685800" y="1894608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Listando uma tabela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3"/>
          <p:cNvSpPr txBox="1"/>
          <p:nvPr/>
        </p:nvSpPr>
        <p:spPr>
          <a:xfrm>
            <a:off x="685800" y="2978205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 comando mostra todas as tabelas presentes no banco de dados atual.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23"/>
          <p:cNvGrpSpPr/>
          <p:nvPr/>
        </p:nvGrpSpPr>
        <p:grpSpPr>
          <a:xfrm>
            <a:off x="706258" y="3987262"/>
            <a:ext cx="8614359" cy="2076382"/>
            <a:chOff x="40915" y="-886447"/>
            <a:chExt cx="17228717" cy="4152764"/>
          </a:xfrm>
        </p:grpSpPr>
        <p:sp>
          <p:nvSpPr>
            <p:cNvPr id="467" name="Google Shape;467;p23"/>
            <p:cNvSpPr/>
            <p:nvPr/>
          </p:nvSpPr>
          <p:spPr>
            <a:xfrm>
              <a:off x="40931" y="218089"/>
              <a:ext cx="6081706" cy="826640"/>
            </a:xfrm>
            <a:custGeom>
              <a:avLst/>
              <a:gdLst/>
              <a:ahLst/>
              <a:cxnLst/>
              <a:rect l="l" t="t" r="r" b="b"/>
              <a:pathLst>
                <a:path w="6081706" h="826640" extrusionOk="0">
                  <a:moveTo>
                    <a:pt x="0" y="0"/>
                  </a:moveTo>
                  <a:lnTo>
                    <a:pt x="6081706" y="0"/>
                  </a:lnTo>
                  <a:lnTo>
                    <a:pt x="6081706" y="826640"/>
                  </a:lnTo>
                  <a:lnTo>
                    <a:pt x="0" y="8266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3"/>
            <p:cNvSpPr txBox="1"/>
            <p:nvPr/>
          </p:nvSpPr>
          <p:spPr>
            <a:xfrm>
              <a:off x="40915" y="1542769"/>
              <a:ext cx="17228717" cy="1723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Esse comando apaga completamente a tabela. Cuidado: todos os dados serão perdidos.</a:t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3"/>
            <p:cNvSpPr txBox="1"/>
            <p:nvPr/>
          </p:nvSpPr>
          <p:spPr>
            <a:xfrm>
              <a:off x="40915" y="-886447"/>
              <a:ext cx="17228717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40000"/>
                </a:lnSpc>
                <a:buClr>
                  <a:srgbClr val="000000"/>
                </a:buClr>
                <a:buSzPts val="3000"/>
              </a:pPr>
              <a:r>
                <a:rPr lang="en-US" sz="2000" b="1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Removendo uma tabela</a:t>
              </a:r>
              <a:endParaRPr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65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4"/>
          <p:cNvSpPr txBox="1"/>
          <p:nvPr/>
        </p:nvSpPr>
        <p:spPr>
          <a:xfrm>
            <a:off x="685800" y="2667000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Queremos acrescentar um campo chamado “ativo” à tabela de contatos.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4"/>
          <p:cNvSpPr txBox="1"/>
          <p:nvPr/>
        </p:nvSpPr>
        <p:spPr>
          <a:xfrm>
            <a:off x="685800" y="2006600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Alterando uma tabela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685800" y="3327400"/>
            <a:ext cx="861435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Muitas pessoas pensam em excluir a tabela com DROP TABLE e recriá-la com o novo campo, mas isso apaga todos os dados e pode ser inviável.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4"/>
          <p:cNvSpPr txBox="1"/>
          <p:nvPr/>
        </p:nvSpPr>
        <p:spPr>
          <a:xfrm>
            <a:off x="685800" y="4406900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Por isso, usamos o ALTER TABLE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229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/>
          <p:nvPr/>
        </p:nvSpPr>
        <p:spPr>
          <a:xfrm>
            <a:off x="685800" y="2369705"/>
            <a:ext cx="4819997" cy="801031"/>
          </a:xfrm>
          <a:custGeom>
            <a:avLst/>
            <a:gdLst/>
            <a:ahLst/>
            <a:cxnLst/>
            <a:rect l="l" t="t" r="r" b="b"/>
            <a:pathLst>
              <a:path w="7229995" h="1201546" extrusionOk="0">
                <a:moveTo>
                  <a:pt x="0" y="0"/>
                </a:moveTo>
                <a:lnTo>
                  <a:pt x="7229995" y="0"/>
                </a:lnTo>
                <a:lnTo>
                  <a:pt x="7229995" y="1201546"/>
                </a:lnTo>
                <a:lnTo>
                  <a:pt x="0" y="1201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685800" y="1711233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Adicionando colunas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5"/>
          <p:cNvSpPr txBox="1"/>
          <p:nvPr/>
        </p:nvSpPr>
        <p:spPr>
          <a:xfrm>
            <a:off x="8736478" y="5655274"/>
            <a:ext cx="288545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Agora, uma nova coluna foi criada na tabela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25"/>
          <p:cNvCxnSpPr/>
          <p:nvPr/>
        </p:nvCxnSpPr>
        <p:spPr>
          <a:xfrm>
            <a:off x="10363200" y="4749800"/>
            <a:ext cx="0" cy="905474"/>
          </a:xfrm>
          <a:prstGeom prst="straightConnector1">
            <a:avLst/>
          </a:prstGeom>
          <a:noFill/>
          <a:ln w="57150" cap="flat" cmpd="sng">
            <a:solidFill>
              <a:srgbClr val="E30613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92" name="Google Shape;492;p25"/>
          <p:cNvSpPr txBox="1"/>
          <p:nvPr/>
        </p:nvSpPr>
        <p:spPr>
          <a:xfrm>
            <a:off x="787400" y="3488236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 comando adiciona uma nova coluna “ativo” com valor padrão TRUE.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3" name="Google Shape;493;p25"/>
          <p:cNvGraphicFramePr/>
          <p:nvPr/>
        </p:nvGraphicFramePr>
        <p:xfrm>
          <a:off x="787399" y="4180385"/>
          <a:ext cx="10490202" cy="96639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8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83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133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clientes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E306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1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nome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telefone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data_nasc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ativo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1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753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"/>
          <p:cNvSpPr/>
          <p:nvPr/>
        </p:nvSpPr>
        <p:spPr>
          <a:xfrm>
            <a:off x="650089" y="2809846"/>
            <a:ext cx="3865667" cy="793614"/>
          </a:xfrm>
          <a:custGeom>
            <a:avLst/>
            <a:gdLst/>
            <a:ahLst/>
            <a:cxnLst/>
            <a:rect l="l" t="t" r="r" b="b"/>
            <a:pathLst>
              <a:path w="5798500" h="1190421" extrusionOk="0">
                <a:moveTo>
                  <a:pt x="0" y="0"/>
                </a:moveTo>
                <a:lnTo>
                  <a:pt x="5798501" y="0"/>
                </a:lnTo>
                <a:lnTo>
                  <a:pt x="5798501" y="1190421"/>
                </a:lnTo>
                <a:lnTo>
                  <a:pt x="0" y="1190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650090" y="4733759"/>
            <a:ext cx="4662933" cy="709324"/>
          </a:xfrm>
          <a:custGeom>
            <a:avLst/>
            <a:gdLst/>
            <a:ahLst/>
            <a:cxnLst/>
            <a:rect l="l" t="t" r="r" b="b"/>
            <a:pathLst>
              <a:path w="6994400" h="1063986" extrusionOk="0">
                <a:moveTo>
                  <a:pt x="0" y="0"/>
                </a:moveTo>
                <a:lnTo>
                  <a:pt x="6994400" y="0"/>
                </a:lnTo>
                <a:lnTo>
                  <a:pt x="6994400" y="1063986"/>
                </a:lnTo>
                <a:lnTo>
                  <a:pt x="0" y="1063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 txBox="1"/>
          <p:nvPr/>
        </p:nvSpPr>
        <p:spPr>
          <a:xfrm>
            <a:off x="685800" y="1774796"/>
            <a:ext cx="86143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Alterando atributos e nomes de colunas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6"/>
          <p:cNvSpPr txBox="1"/>
          <p:nvPr/>
        </p:nvSpPr>
        <p:spPr>
          <a:xfrm>
            <a:off x="6592856" y="4491521"/>
            <a:ext cx="440877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CHANGE COLUMN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altera o nome e o tipo de uma coluna ao mesmo tempo.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6"/>
          <p:cNvSpPr txBox="1"/>
          <p:nvPr/>
        </p:nvSpPr>
        <p:spPr>
          <a:xfrm>
            <a:off x="5952725" y="2739995"/>
            <a:ext cx="440877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MODIFY COLUMN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altera o tamanho ou o tipo de um campo existente.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26"/>
          <p:cNvCxnSpPr/>
          <p:nvPr/>
        </p:nvCxnSpPr>
        <p:spPr>
          <a:xfrm>
            <a:off x="4827911" y="3140045"/>
            <a:ext cx="848462" cy="0"/>
          </a:xfrm>
          <a:prstGeom prst="straightConnector1">
            <a:avLst/>
          </a:prstGeom>
          <a:noFill/>
          <a:ln w="57150" cap="flat" cmpd="sng">
            <a:solidFill>
              <a:srgbClr val="E30613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7" name="Google Shape;507;p26"/>
          <p:cNvCxnSpPr/>
          <p:nvPr/>
        </p:nvCxnSpPr>
        <p:spPr>
          <a:xfrm>
            <a:off x="5528494" y="5069371"/>
            <a:ext cx="848462" cy="0"/>
          </a:xfrm>
          <a:prstGeom prst="straightConnector1">
            <a:avLst/>
          </a:prstGeom>
          <a:noFill/>
          <a:ln w="57150" cap="flat" cmpd="sng">
            <a:solidFill>
              <a:srgbClr val="E30613"/>
            </a:solidFill>
            <a:prstDash val="solid"/>
            <a:round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811645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688543c688_0_0"/>
          <p:cNvSpPr txBox="1"/>
          <p:nvPr/>
        </p:nvSpPr>
        <p:spPr>
          <a:xfrm>
            <a:off x="685800" y="1774796"/>
            <a:ext cx="86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Chave estrangeira (Foreign Key)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688543c688_0_0"/>
          <p:cNvSpPr txBox="1"/>
          <p:nvPr/>
        </p:nvSpPr>
        <p:spPr>
          <a:xfrm>
            <a:off x="685799" y="2453350"/>
            <a:ext cx="44644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 campo (ou conjunto de campos) em uma tabela que faz </a:t>
            </a: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referência à chave primária de outra tabela.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688543c688_0_0"/>
          <p:cNvSpPr txBox="1"/>
          <p:nvPr/>
        </p:nvSpPr>
        <p:spPr>
          <a:xfrm>
            <a:off x="5992533" y="2453350"/>
            <a:ext cx="40798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serve para criar uma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relação entre tabelas</a:t>
            </a:r>
            <a:r>
              <a:rPr lang="en-US" sz="2000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garantir integridade dos dados.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8" name="Google Shape;518;g3688543c688_0_0"/>
          <p:cNvGraphicFramePr/>
          <p:nvPr/>
        </p:nvGraphicFramePr>
        <p:xfrm>
          <a:off x="790851" y="4142992"/>
          <a:ext cx="3885883" cy="126413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3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033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Usuários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E306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nome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Maria Souza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maria@gmail.com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João Pedro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joao@gmail.com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19" name="Google Shape;519;g3688543c688_0_0"/>
          <p:cNvGraphicFramePr/>
          <p:nvPr/>
        </p:nvGraphicFramePr>
        <p:xfrm>
          <a:off x="6695462" y="4146167"/>
          <a:ext cx="4222517" cy="121226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033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Usuários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E306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id_usuario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produto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900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Camiseta Preta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01/06/2025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Tênis Esportivo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02/06/2025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20" name="Google Shape;520;g3688543c688_0_0"/>
          <p:cNvCxnSpPr/>
          <p:nvPr/>
        </p:nvCxnSpPr>
        <p:spPr>
          <a:xfrm>
            <a:off x="4944715" y="4443550"/>
            <a:ext cx="1468000" cy="0"/>
          </a:xfrm>
          <a:prstGeom prst="straightConnector1">
            <a:avLst/>
          </a:prstGeom>
          <a:noFill/>
          <a:ln w="76200" cap="flat" cmpd="sng">
            <a:solidFill>
              <a:srgbClr val="E30613"/>
            </a:solidFill>
            <a:prstDash val="solid"/>
            <a:round/>
            <a:headEnd type="stealth" w="med" len="med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13382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88543c688_0_29"/>
          <p:cNvSpPr txBox="1"/>
          <p:nvPr/>
        </p:nvSpPr>
        <p:spPr>
          <a:xfrm>
            <a:off x="685800" y="1774796"/>
            <a:ext cx="86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  <a:buClr>
                <a:srgbClr val="000000"/>
              </a:buClr>
              <a:buSzPts val="3000"/>
            </a:pPr>
            <a:r>
              <a:rPr lang="en-US" sz="2000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Chave estrangeira (Foreign Key)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9" name="Google Shape;529;g3688543c688_0_29"/>
          <p:cNvGraphicFramePr/>
          <p:nvPr/>
        </p:nvGraphicFramePr>
        <p:xfrm>
          <a:off x="685801" y="2286008"/>
          <a:ext cx="3885883" cy="126413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3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033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Usuários</a:t>
                      </a:r>
                      <a:endParaRPr sz="900" b="1" u="none" strike="noStrike" cap="none"/>
                    </a:p>
                  </a:txBody>
                  <a:tcPr marL="60967" marR="60967" marT="30483" marB="30483">
                    <a:solidFill>
                      <a:srgbClr val="E306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/>
                        <a:t>id</a:t>
                      </a:r>
                      <a:endParaRPr sz="900" b="1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/>
                        <a:t>nome</a:t>
                      </a:r>
                      <a:endParaRPr sz="900" b="1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/>
                        <a:t>email</a:t>
                      </a:r>
                      <a:endParaRPr sz="1300" b="1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Maria Souza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maria@gmail.com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João Pedro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joao@gmail.com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30" name="Google Shape;530;g3688543c688_0_29"/>
          <p:cNvGraphicFramePr/>
          <p:nvPr/>
        </p:nvGraphicFramePr>
        <p:xfrm>
          <a:off x="6590412" y="2289183"/>
          <a:ext cx="4222517" cy="121226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033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Pedidos</a:t>
                      </a:r>
                      <a:endParaRPr sz="900" b="1" u="none" strike="noStrike" cap="none"/>
                    </a:p>
                  </a:txBody>
                  <a:tcPr marL="60967" marR="60967" marT="30483" marB="30483">
                    <a:solidFill>
                      <a:srgbClr val="E306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/>
                        <a:t>id</a:t>
                      </a:r>
                      <a:endParaRPr sz="900" b="1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/>
                        <a:t>id_usuario</a:t>
                      </a:r>
                      <a:endParaRPr sz="1300" b="1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/>
                        <a:t>produto</a:t>
                      </a:r>
                      <a:endParaRPr sz="900" b="1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b="1" u="none" strike="noStrike" cap="none"/>
                        <a:t>data</a:t>
                      </a:r>
                      <a:endParaRPr sz="900" b="1" u="none" strike="noStrike" cap="none"/>
                    </a:p>
                  </a:txBody>
                  <a:tcPr marL="60967" marR="60967" marT="30483" marB="30483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Camiseta Preta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01/06/2025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Tênis Esportivo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02/06/2025</a:t>
                      </a:r>
                      <a:endParaRPr sz="900" u="none" strike="noStrike" cap="none"/>
                    </a:p>
                  </a:txBody>
                  <a:tcPr marL="60967" marR="60967" marT="30483" marB="3048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31" name="Google Shape;531;g3688543c688_0_29"/>
          <p:cNvCxnSpPr/>
          <p:nvPr/>
        </p:nvCxnSpPr>
        <p:spPr>
          <a:xfrm>
            <a:off x="4839665" y="2586567"/>
            <a:ext cx="1468000" cy="0"/>
          </a:xfrm>
          <a:prstGeom prst="straightConnector1">
            <a:avLst/>
          </a:prstGeom>
          <a:noFill/>
          <a:ln w="76200" cap="flat" cmpd="sng">
            <a:solidFill>
              <a:srgbClr val="E30613"/>
            </a:solidFill>
            <a:prstDash val="solid"/>
            <a:round/>
            <a:headEnd type="stealth" w="med" len="med"/>
            <a:tailEnd type="none" w="sm" len="sm"/>
          </a:ln>
        </p:spPr>
      </p:cxnSp>
      <p:pic>
        <p:nvPicPr>
          <p:cNvPr id="532" name="Google Shape;532;g3688543c688_0_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484" y="4041901"/>
            <a:ext cx="4222517" cy="167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g3688543c688_0_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6825" y="3893600"/>
            <a:ext cx="4749700" cy="197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0478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/>
        </p:nvSpPr>
        <p:spPr>
          <a:xfrm>
            <a:off x="1065159" y="893845"/>
            <a:ext cx="7940059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6395"/>
              </a:lnSpc>
            </a:pPr>
            <a:r>
              <a:rPr lang="en-US" sz="3733" b="1" dirty="0" err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Exercício</a:t>
            </a:r>
            <a:r>
              <a:rPr lang="en-US" sz="3733" b="1" dirty="0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33" b="1" dirty="0" err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Prático</a:t>
            </a:r>
            <a:endParaRPr sz="1200" dirty="0"/>
          </a:p>
        </p:txBody>
      </p:sp>
      <p:sp>
        <p:nvSpPr>
          <p:cNvPr id="176" name="Google Shape;176;p5"/>
          <p:cNvSpPr txBox="1"/>
          <p:nvPr/>
        </p:nvSpPr>
        <p:spPr>
          <a:xfrm>
            <a:off x="1065159" y="1501089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Enunciado</a:t>
            </a:r>
            <a:endParaRPr sz="1200"/>
          </a:p>
        </p:txBody>
      </p:sp>
      <p:sp>
        <p:nvSpPr>
          <p:cNvPr id="177" name="Google Shape;177;p5"/>
          <p:cNvSpPr txBox="1"/>
          <p:nvPr/>
        </p:nvSpPr>
        <p:spPr>
          <a:xfrm>
            <a:off x="1065159" y="2316041"/>
            <a:ext cx="9659991" cy="212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Você foi contratado para criar um banco de dados para uma padaria que precisa organizar e manipular informações sobre seus produtos, fornecedores e vendas. 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411612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/>
        </p:nvSpPr>
        <p:spPr>
          <a:xfrm>
            <a:off x="1065159" y="893845"/>
            <a:ext cx="7940059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6395"/>
              </a:lnSpc>
            </a:pPr>
            <a:r>
              <a:rPr lang="en-US" sz="3733" b="1" dirty="0" err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Exercício</a:t>
            </a:r>
            <a:r>
              <a:rPr lang="en-US" sz="3733" b="1" dirty="0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33" b="1" dirty="0" err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Prático</a:t>
            </a:r>
            <a:endParaRPr sz="1200" dirty="0"/>
          </a:p>
        </p:txBody>
      </p:sp>
      <p:sp>
        <p:nvSpPr>
          <p:cNvPr id="188" name="Google Shape;188;p6"/>
          <p:cNvSpPr txBox="1"/>
          <p:nvPr/>
        </p:nvSpPr>
        <p:spPr>
          <a:xfrm>
            <a:off x="1065159" y="1501089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Tarefa a ser realizada:</a:t>
            </a:r>
            <a:endParaRPr sz="1200"/>
          </a:p>
        </p:txBody>
      </p:sp>
      <p:sp>
        <p:nvSpPr>
          <p:cNvPr id="189" name="Google Shape;189;p6"/>
          <p:cNvSpPr txBox="1"/>
          <p:nvPr/>
        </p:nvSpPr>
        <p:spPr>
          <a:xfrm>
            <a:off x="1065159" y="2502181"/>
            <a:ext cx="9960969" cy="398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8649" lvl="1" indent="-194324">
              <a:lnSpc>
                <a:spcPct val="144000"/>
              </a:lnSpc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Acessar o banco de dados de vocês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8649" lvl="1" indent="-194324">
              <a:lnSpc>
                <a:spcPct val="144000"/>
              </a:lnSpc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Criar as tabelas necessárias para armazenar as informações de produtos, vendas e fornecedores.</a:t>
            </a:r>
            <a:endParaRPr sz="1200"/>
          </a:p>
          <a:p>
            <a:pPr marL="388649" lvl="1" indent="-194324">
              <a:lnSpc>
                <a:spcPct val="144000"/>
              </a:lnSpc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Estabelecer um relacionamento entre as tabelas Produtos e Vendas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8649" lvl="1" indent="-194324">
              <a:lnSpc>
                <a:spcPct val="144000"/>
              </a:lnSpc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Inserir os dados fornecidos nas tabelas correspondentes.</a:t>
            </a:r>
            <a:endParaRPr sz="1200"/>
          </a:p>
          <a:p>
            <a:pPr marL="388649" lvl="1" indent="-194324">
              <a:lnSpc>
                <a:spcPct val="144000"/>
              </a:lnSpc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Realizar consultas SQL para responder a perguntas sobre os produtos e vendas.</a:t>
            </a:r>
            <a:endParaRPr sz="1200"/>
          </a:p>
          <a:p>
            <a:pPr>
              <a:lnSpc>
                <a:spcPct val="144000"/>
              </a:lnSpc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Observação:  O relacionamento entre as tabelas Produtos e Vendas servirá para que seja possível consultar quais produtos foram vendidos, em que data e em qual quantidade.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47730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1065159" y="2343861"/>
            <a:ext cx="9815207" cy="3362871"/>
          </a:xfrm>
          <a:custGeom>
            <a:avLst/>
            <a:gdLst/>
            <a:ahLst/>
            <a:cxnLst/>
            <a:rect l="l" t="t" r="r" b="b"/>
            <a:pathLst>
              <a:path w="14722811" h="5044306" extrusionOk="0">
                <a:moveTo>
                  <a:pt x="0" y="0"/>
                </a:moveTo>
                <a:lnTo>
                  <a:pt x="14722811" y="0"/>
                </a:lnTo>
                <a:lnTo>
                  <a:pt x="14722811" y="5044306"/>
                </a:lnTo>
                <a:lnTo>
                  <a:pt x="0" y="5044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065159" y="893845"/>
            <a:ext cx="7940059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6395"/>
              </a:lnSpc>
            </a:pPr>
            <a:r>
              <a:rPr lang="en-US" sz="3733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Estrutura das Tabelas</a:t>
            </a:r>
            <a:endParaRPr sz="1200"/>
          </a:p>
        </p:txBody>
      </p:sp>
      <p:sp>
        <p:nvSpPr>
          <p:cNvPr id="201" name="Google Shape;201;p7"/>
          <p:cNvSpPr txBox="1"/>
          <p:nvPr/>
        </p:nvSpPr>
        <p:spPr>
          <a:xfrm>
            <a:off x="1065159" y="1501089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da Tabela: PRODUTO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852964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1065159" y="2204161"/>
            <a:ext cx="9446293" cy="4084524"/>
          </a:xfrm>
          <a:custGeom>
            <a:avLst/>
            <a:gdLst/>
            <a:ahLst/>
            <a:cxnLst/>
            <a:rect l="l" t="t" r="r" b="b"/>
            <a:pathLst>
              <a:path w="14169440" h="6126786" extrusionOk="0">
                <a:moveTo>
                  <a:pt x="0" y="0"/>
                </a:moveTo>
                <a:lnTo>
                  <a:pt x="14169440" y="0"/>
                </a:lnTo>
                <a:lnTo>
                  <a:pt x="14169440" y="6126786"/>
                </a:lnTo>
                <a:lnTo>
                  <a:pt x="0" y="6126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1065159" y="893845"/>
            <a:ext cx="7940059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6395"/>
              </a:lnSpc>
            </a:pPr>
            <a:r>
              <a:rPr lang="en-US" sz="3733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Estrutura das Tabelas</a:t>
            </a:r>
            <a:endParaRPr sz="1200"/>
          </a:p>
        </p:txBody>
      </p:sp>
      <p:sp>
        <p:nvSpPr>
          <p:cNvPr id="213" name="Google Shape;213;p8"/>
          <p:cNvSpPr txBox="1"/>
          <p:nvPr/>
        </p:nvSpPr>
        <p:spPr>
          <a:xfrm>
            <a:off x="1065159" y="1501089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da Tabela: VENDAS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578234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1065159" y="2424240"/>
            <a:ext cx="9848235" cy="2747712"/>
          </a:xfrm>
          <a:custGeom>
            <a:avLst/>
            <a:gdLst/>
            <a:ahLst/>
            <a:cxnLst/>
            <a:rect l="l" t="t" r="r" b="b"/>
            <a:pathLst>
              <a:path w="14772352" h="4121568" extrusionOk="0">
                <a:moveTo>
                  <a:pt x="0" y="0"/>
                </a:moveTo>
                <a:lnTo>
                  <a:pt x="14772352" y="0"/>
                </a:lnTo>
                <a:lnTo>
                  <a:pt x="14772352" y="4121568"/>
                </a:lnTo>
                <a:lnTo>
                  <a:pt x="0" y="412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1065159" y="893845"/>
            <a:ext cx="7940059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6395"/>
              </a:lnSpc>
            </a:pPr>
            <a:r>
              <a:rPr lang="en-US" sz="3733" b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Estrutura das Tabelas</a:t>
            </a:r>
            <a:endParaRPr sz="1200"/>
          </a:p>
        </p:txBody>
      </p:sp>
      <p:sp>
        <p:nvSpPr>
          <p:cNvPr id="225" name="Google Shape;225;p9"/>
          <p:cNvSpPr txBox="1"/>
          <p:nvPr/>
        </p:nvSpPr>
        <p:spPr>
          <a:xfrm>
            <a:off x="1065159" y="1501089"/>
            <a:ext cx="9659991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3981"/>
              </a:lnSpc>
            </a:pPr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Estrutura da Tabela: FORNECEDOR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44005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/>
        </p:nvSpPr>
        <p:spPr>
          <a:xfrm>
            <a:off x="1065159" y="1302317"/>
            <a:ext cx="7940059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6395"/>
              </a:lnSpc>
            </a:pPr>
            <a:r>
              <a:rPr lang="en-US" sz="3733" b="1" dirty="0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Fazer as </a:t>
            </a:r>
            <a:r>
              <a:rPr lang="en-US" sz="3733" b="1" dirty="0" err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seguintes</a:t>
            </a:r>
            <a:r>
              <a:rPr lang="en-US" sz="3733" b="1" dirty="0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33" b="1" dirty="0" err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consultas</a:t>
            </a:r>
            <a:endParaRPr sz="1200" dirty="0"/>
          </a:p>
        </p:txBody>
      </p:sp>
      <p:sp>
        <p:nvSpPr>
          <p:cNvPr id="236" name="Google Shape;236;p10"/>
          <p:cNvSpPr txBox="1"/>
          <p:nvPr/>
        </p:nvSpPr>
        <p:spPr>
          <a:xfrm>
            <a:off x="1065159" y="2360491"/>
            <a:ext cx="9659991" cy="2363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60618" lvl="1" indent="-230309">
              <a:lnSpc>
                <a:spcPct val="144000"/>
              </a:lnSpc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Listar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produtos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cadastrados</a:t>
            </a:r>
            <a:endParaRPr sz="1200" dirty="0"/>
          </a:p>
          <a:p>
            <a:pPr marL="460618" lvl="1" indent="-230309">
              <a:lnSpc>
                <a:spcPct val="144000"/>
              </a:lnSpc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Listar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total de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vendidas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sz="1200" dirty="0"/>
          </a:p>
          <a:p>
            <a:pPr marL="460618" lvl="1" indent="-230309">
              <a:lnSpc>
                <a:spcPct val="144000"/>
              </a:lnSpc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Listar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 total de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vendas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Livro</a:t>
            </a:r>
            <a:endParaRPr sz="1200" dirty="0"/>
          </a:p>
          <a:p>
            <a:pPr marL="460618" lvl="1" indent="-230309">
              <a:lnSpc>
                <a:spcPct val="144000"/>
              </a:lnSpc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Listar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 total de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vendas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Caderno</a:t>
            </a:r>
            <a:endParaRPr sz="1200" dirty="0"/>
          </a:p>
          <a:p>
            <a:pPr marL="460618" lvl="1" indent="-230309">
              <a:lnSpc>
                <a:spcPct val="144000"/>
              </a:lnSpc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Produtos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vendidos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133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2025-08-12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4396518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1225</Words>
  <Application>Microsoft Office PowerPoint</Application>
  <PresentationFormat>Widescreen</PresentationFormat>
  <Paragraphs>234</Paragraphs>
  <Slides>31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Open Sans</vt:lpstr>
      <vt:lpstr>Tema do Office</vt:lpstr>
      <vt:lpstr>Programação de Banco de Dados Prof. José Carlos Perini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46</cp:revision>
  <dcterms:created xsi:type="dcterms:W3CDTF">2024-02-07T18:08:06Z</dcterms:created>
  <dcterms:modified xsi:type="dcterms:W3CDTF">2026-08-18T13:35:48Z</dcterms:modified>
</cp:coreProperties>
</file>