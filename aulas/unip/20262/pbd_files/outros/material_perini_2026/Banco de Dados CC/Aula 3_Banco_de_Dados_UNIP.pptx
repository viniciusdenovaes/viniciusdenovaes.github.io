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306" r:id="rId3"/>
    <p:sldId id="305" r:id="rId4"/>
    <p:sldId id="326" r:id="rId5"/>
    <p:sldId id="308" r:id="rId6"/>
    <p:sldId id="307" r:id="rId7"/>
    <p:sldId id="309" r:id="rId8"/>
    <p:sldId id="310" r:id="rId9"/>
    <p:sldId id="313" r:id="rId10"/>
    <p:sldId id="311" r:id="rId11"/>
    <p:sldId id="312" r:id="rId12"/>
    <p:sldId id="314" r:id="rId13"/>
    <p:sldId id="315" r:id="rId14"/>
    <p:sldId id="316" r:id="rId15"/>
    <p:sldId id="320" r:id="rId16"/>
    <p:sldId id="323" r:id="rId17"/>
    <p:sldId id="321" r:id="rId18"/>
    <p:sldId id="322" r:id="rId19"/>
    <p:sldId id="327" r:id="rId20"/>
  </p:sldIdLst>
  <p:sldSz cx="12192000" cy="6858000"/>
  <p:notesSz cx="6888163" cy="967105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485232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485232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r">
              <a:defRPr sz="1200"/>
            </a:lvl1pPr>
          </a:lstStyle>
          <a:p>
            <a:fld id="{64437FFB-D889-4E35-80D7-62282096ABD0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42925" y="1208088"/>
            <a:ext cx="5802313" cy="32654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22" tIns="47311" rIns="94622" bIns="47311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817" y="4654193"/>
            <a:ext cx="5510530" cy="3807976"/>
          </a:xfrm>
          <a:prstGeom prst="rect">
            <a:avLst/>
          </a:prstGeom>
        </p:spPr>
        <p:txBody>
          <a:bodyPr vert="horz" lIns="94622" tIns="47311" rIns="94622" bIns="47311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185820"/>
            <a:ext cx="2984871" cy="485231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1698" y="9185820"/>
            <a:ext cx="2984871" cy="485231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r">
              <a:defRPr sz="1200"/>
            </a:lvl1pPr>
          </a:lstStyle>
          <a:p>
            <a:fld id="{0B443DA8-3DF3-41E3-8439-B64B0FF63E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871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350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58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99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97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91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901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69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4042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8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82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101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o do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21" name="Nível de Corpo Um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22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613560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40A59-C752-4765-B0CC-DA76ECD04D88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82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73382" y="1510290"/>
            <a:ext cx="9144000" cy="2387600"/>
          </a:xfrm>
        </p:spPr>
        <p:txBody>
          <a:bodyPr/>
          <a:lstStyle/>
          <a:p>
            <a:r>
              <a:rPr lang="pt-BR" dirty="0"/>
              <a:t>Banco de Dados</a:t>
            </a:r>
            <a:br>
              <a:rPr lang="pt-BR" dirty="0"/>
            </a:br>
            <a:r>
              <a:rPr lang="pt-BR" sz="3200" dirty="0"/>
              <a:t>Prof. José Carlos Perini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11927" y="3897890"/>
            <a:ext cx="9144000" cy="1655762"/>
          </a:xfrm>
        </p:spPr>
        <p:txBody>
          <a:bodyPr/>
          <a:lstStyle/>
          <a:p>
            <a:r>
              <a:rPr lang="pt-BR" dirty="0"/>
              <a:t>Aula 3 – Modelo Lógico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416" y="69526"/>
            <a:ext cx="7340168" cy="248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8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25311-B713-74A1-E531-9DA0A4973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Prática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94FF92-ECA3-E209-3F05-C12EAA3CC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2160590"/>
            <a:ext cx="10177096" cy="3880773"/>
          </a:xfrm>
        </p:spPr>
        <p:txBody>
          <a:bodyPr>
            <a:normAutofit/>
          </a:bodyPr>
          <a:lstStyle/>
          <a:p>
            <a:r>
              <a:rPr lang="pt-BR" sz="2400" dirty="0"/>
              <a:t>Fazer no </a:t>
            </a:r>
            <a:r>
              <a:rPr lang="pt-BR" sz="2400" dirty="0" err="1"/>
              <a:t>BrModelo</a:t>
            </a:r>
            <a:r>
              <a:rPr lang="pt-BR" sz="2400" dirty="0"/>
              <a:t> os dois exemplos apresentados.</a:t>
            </a:r>
          </a:p>
          <a:p>
            <a:r>
              <a:rPr lang="pt-BR" sz="2400" dirty="0"/>
              <a:t>No modelo da escola, incluir:</a:t>
            </a:r>
          </a:p>
          <a:p>
            <a:pPr lvl="1"/>
            <a:r>
              <a:rPr lang="pt-BR" sz="2000" dirty="0"/>
              <a:t>Os atributos de Aluno: data de nascimento e gênero.</a:t>
            </a:r>
          </a:p>
          <a:p>
            <a:pPr lvl="1"/>
            <a:r>
              <a:rPr lang="pt-BR" sz="2000" dirty="0"/>
              <a:t>As entidades:</a:t>
            </a:r>
          </a:p>
          <a:p>
            <a:pPr lvl="1"/>
            <a:r>
              <a:rPr lang="pt-BR" sz="2000" dirty="0"/>
              <a:t>Professor: registro do professor, nome, data de nascimento, gênero e titulação.</a:t>
            </a:r>
          </a:p>
          <a:p>
            <a:pPr lvl="1"/>
            <a:r>
              <a:rPr lang="pt-BR" sz="2000" dirty="0"/>
              <a:t>Disciplina: código da disciplina, nome, carga horária.</a:t>
            </a:r>
          </a:p>
          <a:p>
            <a:pPr lvl="1"/>
            <a:r>
              <a:rPr lang="pt-BR" sz="2000" dirty="0"/>
              <a:t>Curso: código, nome, carga horária.</a:t>
            </a:r>
          </a:p>
          <a:p>
            <a:endParaRPr lang="pt-BR" sz="2400" dirty="0"/>
          </a:p>
          <a:p>
            <a:pPr lvl="1"/>
            <a:r>
              <a:rPr lang="pt-BR" sz="2000" dirty="0"/>
              <a:t>Fazer os relacionamentos entre as novas entidades.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500D8B-08A2-99F8-1D6E-2318513BB87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709472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Prática – possível solução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32" y="1339273"/>
            <a:ext cx="11925336" cy="463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18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Entidade Associativa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Note que o relacionamento entre as entidades DISCIPLINA e PROFESSOR é do tipo N:N, isso significa, que será necessário fazer um ajuste no modelo conceitual com a criação da entidade associativa.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844" y="123495"/>
            <a:ext cx="5326373" cy="1567193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61634"/>
            <a:ext cx="10288732" cy="364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559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25311-B713-74A1-E531-9DA0A4973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Relacionamentos e suas cardinalidades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94FF92-ECA3-E209-3F05-C12EAA3CC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2160590"/>
            <a:ext cx="10177096" cy="3880773"/>
          </a:xfrm>
        </p:spPr>
        <p:txBody>
          <a:bodyPr>
            <a:normAutofit/>
          </a:bodyPr>
          <a:lstStyle/>
          <a:p>
            <a:r>
              <a:rPr lang="pt-BR" sz="2400" dirty="0"/>
              <a:t>Chave Primária</a:t>
            </a:r>
          </a:p>
          <a:p>
            <a:pPr lvl="1"/>
            <a:r>
              <a:rPr lang="pt-BR" sz="2000" dirty="0"/>
              <a:t>Chave escolhida como identificação de entidades.</a:t>
            </a:r>
          </a:p>
          <a:p>
            <a:endParaRPr lang="pt-BR" sz="2400" dirty="0"/>
          </a:p>
          <a:p>
            <a:r>
              <a:rPr lang="pt-BR" sz="2400" dirty="0"/>
              <a:t>Chave primária composta ou </a:t>
            </a:r>
            <a:r>
              <a:rPr lang="pt-BR" sz="2400" dirty="0" err="1"/>
              <a:t>superchave</a:t>
            </a:r>
            <a:r>
              <a:rPr lang="pt-BR" sz="2400" dirty="0"/>
              <a:t>.</a:t>
            </a:r>
          </a:p>
          <a:p>
            <a:pPr lvl="1"/>
            <a:r>
              <a:rPr lang="pt-BR" sz="2000" dirty="0"/>
              <a:t>Conjunto de um ou mais atributos que permite identificar unicamente uma entidade.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Chave estrangeira</a:t>
            </a:r>
          </a:p>
          <a:p>
            <a:pPr lvl="1"/>
            <a:r>
              <a:rPr lang="pt-BR" sz="2000" dirty="0"/>
              <a:t>Atributo de uma entidade que é chave primária da entidade com a qual possui relacionamento.</a:t>
            </a:r>
          </a:p>
          <a:p>
            <a:pPr lvl="1"/>
            <a:r>
              <a:rPr lang="pt-BR" sz="2000" dirty="0"/>
              <a:t>A chave estrangeira sempre fica no lado do </a:t>
            </a:r>
            <a:r>
              <a:rPr lang="pt-BR" sz="2000" b="1" dirty="0"/>
              <a:t>n</a:t>
            </a:r>
            <a:r>
              <a:rPr lang="pt-BR" sz="2000" dirty="0"/>
              <a:t>, na cardinalidade.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500D8B-08A2-99F8-1D6E-2318513BB87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4491689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25311-B713-74A1-E531-9DA0A4973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Para que serve a chave primária?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94FF92-ECA3-E209-3F05-C12EAA3CC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24881"/>
            <a:ext cx="10177096" cy="38807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dirty="0"/>
              <a:t>Quanto ganha o José?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500D8B-08A2-99F8-1D6E-2318513BB87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6</a:t>
            </a:fld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275" y="2206510"/>
            <a:ext cx="6276975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93329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25311-B713-74A1-E531-9DA0A4973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Tabelas Empregado e Departamento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500D8B-08A2-99F8-1D6E-2318513BB87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7</a:t>
            </a:fld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" y="2541384"/>
            <a:ext cx="9848850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51106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Tabelas Empregado e Departamento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9700491" cy="4351338"/>
          </a:xfrm>
        </p:spPr>
        <p:txBody>
          <a:bodyPr>
            <a:normAutofit/>
          </a:bodyPr>
          <a:lstStyle/>
          <a:p>
            <a:r>
              <a:rPr lang="pt-BR" sz="3600" dirty="0"/>
              <a:t>Por força do negócio, podemos verificar que a tabela Empregado está relacionada com a tabela Departamento, ou seja, um empregado trabalha no departamento e o departamento possui empregados.</a:t>
            </a:r>
          </a:p>
        </p:txBody>
      </p:sp>
    </p:spTree>
    <p:extLst>
      <p:ext uri="{BB962C8B-B14F-4D97-AF65-F5344CB8AC3E}">
        <p14:creationId xmlns:p14="http://schemas.microsoft.com/office/powerpoint/2010/main" val="253337835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FC04AF-4326-551C-9A78-8393AA6D3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Estabelecendo o relacionamento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838199" y="5167311"/>
            <a:ext cx="108276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Note, no exemplo acima, que a função da chave estrangeira é fazer o relacionamento entre as tabelas, por isso é importante estabelecer corretamente a cardinalidade do relacionamento.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7" y="1966912"/>
            <a:ext cx="10106025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580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D0E041-0276-3EFF-F9B6-A9D1901A3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Cardinalidade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5F6AACC-D572-594A-48E7-A962937D4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605" y="1500249"/>
            <a:ext cx="8596668" cy="35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031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D0E041-0276-3EFF-F9B6-A9D1901A3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Cardinalidade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B32F153-EFE8-40FD-4086-FBC8A880C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5" y="1385905"/>
            <a:ext cx="9028917" cy="446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53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FA46F5-814A-1BDA-E530-A9123DCF4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Relacionamento 1:1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889F51F-A47F-BDAA-18BF-599B5D1C2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853" y="1460398"/>
            <a:ext cx="9094899" cy="428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67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FA46F5-814A-1BDA-E530-A9123DCF4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Relacionamento 1:N ou N:1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171" y="1866755"/>
            <a:ext cx="9117302" cy="442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590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FA46F5-814A-1BDA-E530-A9123DCF4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Relacionamento N:N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690688"/>
            <a:ext cx="9675974" cy="485281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51943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Desenvolvimento do MER Lógico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2329"/>
            <a:ext cx="8213436" cy="473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483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D2438B-6C50-80CA-FB99-A97ED2AC1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121920" tIns="60960" rIns="121920" bIns="60960" rtlCol="0" anchor="t">
            <a:normAutofit/>
          </a:bodyPr>
          <a:lstStyle/>
          <a:p>
            <a:r>
              <a:rPr lang="pt-BR" b="1" dirty="0"/>
              <a:t>Exemplo Modelo Lógico no </a:t>
            </a:r>
            <a:r>
              <a:rPr lang="pt-BR" b="1" dirty="0" err="1"/>
              <a:t>BrModelo</a:t>
            </a:r>
            <a:endParaRPr lang="pt-BR" b="1" dirty="0"/>
          </a:p>
        </p:txBody>
      </p:sp>
      <p:pic>
        <p:nvPicPr>
          <p:cNvPr id="7" name="Imagem 6" descr="Diagrama&#10;&#10;Descrição gerada automaticamente">
            <a:extLst>
              <a:ext uri="{FF2B5EF4-FFF2-40B4-BE49-F238E27FC236}">
                <a16:creationId xmlns:a16="http://schemas.microsoft.com/office/drawing/2014/main" id="{BDE91D7C-3657-136F-9382-6AEAAAACEC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16" y="1270001"/>
            <a:ext cx="10678461" cy="379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69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Modelo Lógico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21678"/>
            <a:ext cx="10096500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868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25311-B713-74A1-E531-9DA0A4973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Prática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94FF92-ECA3-E209-3F05-C12EAA3CC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2160590"/>
            <a:ext cx="9307174" cy="3880773"/>
          </a:xfrm>
        </p:spPr>
        <p:txBody>
          <a:bodyPr>
            <a:normAutofit/>
          </a:bodyPr>
          <a:lstStyle/>
          <a:p>
            <a:r>
              <a:rPr lang="pt-BR" sz="4000" dirty="0"/>
              <a:t>Desenvolver o Modelo Lógico completo do sistema de escola.</a:t>
            </a:r>
          </a:p>
          <a:p>
            <a:pPr lvl="1"/>
            <a:r>
              <a:rPr lang="pt-BR" sz="3600" dirty="0"/>
              <a:t>Desenvolver a partir do modelo conceitual.</a:t>
            </a:r>
          </a:p>
          <a:p>
            <a:endParaRPr lang="pt-BR" sz="4000" dirty="0"/>
          </a:p>
          <a:p>
            <a:endParaRPr lang="pt-BR" sz="4000" dirty="0"/>
          </a:p>
          <a:p>
            <a:endParaRPr lang="pt-BR" sz="40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500D8B-08A2-99F8-1D6E-2318513BB87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5214234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Possível solução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12" y="1361205"/>
            <a:ext cx="8922761" cy="526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4291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1194</TotalTime>
  <Words>331</Words>
  <Application>Microsoft Office PowerPoint</Application>
  <PresentationFormat>Widescreen</PresentationFormat>
  <Paragraphs>51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Tema do Office</vt:lpstr>
      <vt:lpstr>Banco de Dados Prof. José Carlos Perini</vt:lpstr>
      <vt:lpstr>Prática</vt:lpstr>
      <vt:lpstr>Prática – possível solução</vt:lpstr>
      <vt:lpstr>Entidade Associativa</vt:lpstr>
      <vt:lpstr>Relacionamentos e suas cardinalidades</vt:lpstr>
      <vt:lpstr>Para que serve a chave primária?</vt:lpstr>
      <vt:lpstr>Tabelas Empregado e Departamento</vt:lpstr>
      <vt:lpstr>Tabelas Empregado e Departamento</vt:lpstr>
      <vt:lpstr>Estabelecendo o relacionamento</vt:lpstr>
      <vt:lpstr>Cardinalidade</vt:lpstr>
      <vt:lpstr>Cardinalidade</vt:lpstr>
      <vt:lpstr>Relacionamento 1:1</vt:lpstr>
      <vt:lpstr>Relacionamento 1:N ou N:1</vt:lpstr>
      <vt:lpstr>Relacionamento N:N</vt:lpstr>
      <vt:lpstr>Desenvolvimento do MER Lógico</vt:lpstr>
      <vt:lpstr>Exemplo Modelo Lógico no BrModelo</vt:lpstr>
      <vt:lpstr>Modelo Lógico</vt:lpstr>
      <vt:lpstr>Prática</vt:lpstr>
      <vt:lpstr>Possível solução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</dc:title>
  <dc:creator>User</dc:creator>
  <cp:lastModifiedBy>José Carlos Perini</cp:lastModifiedBy>
  <cp:revision>58</cp:revision>
  <cp:lastPrinted>2024-03-20T00:15:49Z</cp:lastPrinted>
  <dcterms:created xsi:type="dcterms:W3CDTF">2024-02-07T18:08:06Z</dcterms:created>
  <dcterms:modified xsi:type="dcterms:W3CDTF">2026-02-25T17:05:33Z</dcterms:modified>
</cp:coreProperties>
</file>