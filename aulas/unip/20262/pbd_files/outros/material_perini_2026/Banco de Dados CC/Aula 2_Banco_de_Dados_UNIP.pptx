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7"/>
  </p:notesMasterIdLst>
  <p:sldIdLst>
    <p:sldId id="256" r:id="rId2"/>
    <p:sldId id="307" r:id="rId3"/>
    <p:sldId id="273" r:id="rId4"/>
    <p:sldId id="274" r:id="rId5"/>
    <p:sldId id="275" r:id="rId6"/>
    <p:sldId id="276" r:id="rId7"/>
    <p:sldId id="277" r:id="rId8"/>
    <p:sldId id="278" r:id="rId9"/>
    <p:sldId id="279" r:id="rId10"/>
    <p:sldId id="280" r:id="rId11"/>
    <p:sldId id="281" r:id="rId12"/>
    <p:sldId id="296" r:id="rId13"/>
    <p:sldId id="282" r:id="rId14"/>
    <p:sldId id="283" r:id="rId15"/>
    <p:sldId id="284" r:id="rId16"/>
    <p:sldId id="285" r:id="rId17"/>
    <p:sldId id="286" r:id="rId18"/>
    <p:sldId id="287" r:id="rId19"/>
    <p:sldId id="288" r:id="rId20"/>
    <p:sldId id="289" r:id="rId21"/>
    <p:sldId id="297" r:id="rId22"/>
    <p:sldId id="298" r:id="rId23"/>
    <p:sldId id="299" r:id="rId24"/>
    <p:sldId id="300" r:id="rId25"/>
    <p:sldId id="301" r:id="rId26"/>
    <p:sldId id="302" r:id="rId27"/>
    <p:sldId id="303" r:id="rId28"/>
    <p:sldId id="304" r:id="rId29"/>
    <p:sldId id="290" r:id="rId30"/>
    <p:sldId id="291" r:id="rId31"/>
    <p:sldId id="292" r:id="rId32"/>
    <p:sldId id="293" r:id="rId33"/>
    <p:sldId id="294" r:id="rId34"/>
    <p:sldId id="306" r:id="rId35"/>
    <p:sldId id="305" r:id="rId3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437FFB-D889-4E35-80D7-62282096ABD0}" type="datetimeFigureOut">
              <a:rPr lang="pt-BR" smtClean="0"/>
              <a:t>11/02/2026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443DA8-3DF3-41E3-8439-B64B0FF63E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848714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11/02/2026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235068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11/02/2026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665803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11/02/2026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079983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11/02/2026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69761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11/02/2026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40917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11/02/2026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859014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11/02/2026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446942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11/02/2026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44042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11/02/2026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54843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11/02/2026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518287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11/02/2026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211019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o do Título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Texto do Título</a:t>
            </a:r>
          </a:p>
        </p:txBody>
      </p:sp>
      <p:sp>
        <p:nvSpPr>
          <p:cNvPr id="21" name="Nível de Corpo Um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22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16135609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940A59-C752-4765-B0CC-DA76ECD04D88}" type="datetimeFigureOut">
              <a:rPr lang="pt-BR" smtClean="0"/>
              <a:t>11/02/2026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68297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drive.google.com/drive/folders/1kcdKf4L5CHn_5-o5Z5Ree9Gcy4kz-orE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773382" y="1510290"/>
            <a:ext cx="9144000" cy="2387600"/>
          </a:xfrm>
        </p:spPr>
        <p:txBody>
          <a:bodyPr/>
          <a:lstStyle/>
          <a:p>
            <a:r>
              <a:rPr lang="pt-BR" dirty="0"/>
              <a:t>Banco de Dados</a:t>
            </a:r>
            <a:br>
              <a:rPr lang="pt-BR" dirty="0"/>
            </a:br>
            <a:r>
              <a:rPr lang="pt-BR" sz="3200" dirty="0"/>
              <a:t>Prof. José Carlos Perini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911927" y="3897890"/>
            <a:ext cx="9144000" cy="1655762"/>
          </a:xfrm>
        </p:spPr>
        <p:txBody>
          <a:bodyPr/>
          <a:lstStyle/>
          <a:p>
            <a:r>
              <a:rPr lang="pt-BR" dirty="0"/>
              <a:t>Aula 2 – Banco de Dados Relacional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6416" y="69526"/>
            <a:ext cx="7340168" cy="2484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18814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FAA4B6-9FE1-0783-2574-4823E790F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Link da Apresentação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88C3ABF-90FD-EA68-BEF1-B52E4F3B76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5" y="2160590"/>
            <a:ext cx="10912983" cy="13255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2400" dirty="0">
                <a:hlinkClick r:id="rId2"/>
              </a:rPr>
              <a:t>https://drive.google.com/drive/folders/1kcdKf4L5CHn_5-o5Z5Ree9Gcy4kz-orE</a:t>
            </a:r>
            <a:endParaRPr lang="pt-BR" sz="2400" dirty="0"/>
          </a:p>
          <a:p>
            <a:pPr marL="0" indent="0">
              <a:buNone/>
            </a:pPr>
            <a:endParaRPr lang="pt-BR" sz="2400" dirty="0"/>
          </a:p>
          <a:p>
            <a:pPr marL="0" indent="0">
              <a:buNone/>
            </a:pP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28971381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0C755D-246C-87BA-40A9-1E417AD8C7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5" y="609600"/>
            <a:ext cx="10650572" cy="1320800"/>
          </a:xfrm>
        </p:spPr>
        <p:txBody>
          <a:bodyPr>
            <a:normAutofit/>
          </a:bodyPr>
          <a:lstStyle/>
          <a:p>
            <a:r>
              <a:rPr lang="pt-BR" dirty="0"/>
              <a:t>Banco de Dados Relacional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1975E60F-2F32-37A4-5524-AAEC0B0A22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5041" y="1784144"/>
            <a:ext cx="4783912" cy="4047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69842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0C755D-246C-87BA-40A9-1E417AD8C7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5" y="609600"/>
            <a:ext cx="10650572" cy="1320800"/>
          </a:xfrm>
        </p:spPr>
        <p:txBody>
          <a:bodyPr>
            <a:normAutofit/>
          </a:bodyPr>
          <a:lstStyle/>
          <a:p>
            <a:r>
              <a:rPr lang="pt-BR" dirty="0"/>
              <a:t>Projeto de Banco de Dados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3097789F-68C6-A816-E0B5-C6289E42CB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9297" y="1527281"/>
            <a:ext cx="6466179" cy="4414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22358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0C755D-246C-87BA-40A9-1E417AD8C7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5" y="609600"/>
            <a:ext cx="10650572" cy="1320800"/>
          </a:xfrm>
        </p:spPr>
        <p:txBody>
          <a:bodyPr>
            <a:normAutofit/>
          </a:bodyPr>
          <a:lstStyle/>
          <a:p>
            <a:r>
              <a:rPr lang="pt-BR" dirty="0"/>
              <a:t>Projeto de Banco de Dados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AD947BD6-4A01-1850-4A27-FB73910818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3123" y="2020081"/>
            <a:ext cx="7952011" cy="2821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69657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Importância do Levantamento de Dados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Levantamento de dados: dele depende o sucesso no desenvolvimento de um projeto ou software.</a:t>
            </a:r>
          </a:p>
          <a:p>
            <a:endParaRPr lang="pt-BR" dirty="0"/>
          </a:p>
          <a:p>
            <a:r>
              <a:rPr lang="pt-BR" dirty="0"/>
              <a:t>É a base do desenvolvimento, onde são tiradas conclusões de:</a:t>
            </a:r>
          </a:p>
          <a:p>
            <a:pPr lvl="1"/>
            <a:r>
              <a:rPr lang="pt-BR" dirty="0"/>
              <a:t>Situações</a:t>
            </a:r>
          </a:p>
          <a:p>
            <a:pPr lvl="1"/>
            <a:r>
              <a:rPr lang="pt-BR" dirty="0"/>
              <a:t>Problemas</a:t>
            </a:r>
          </a:p>
          <a:p>
            <a:pPr lvl="1"/>
            <a:r>
              <a:rPr lang="pt-BR" dirty="0"/>
              <a:t>Sugestão de propostas que contribuam para a solução de problemas</a:t>
            </a:r>
          </a:p>
        </p:txBody>
      </p:sp>
    </p:spTree>
    <p:extLst>
      <p:ext uri="{BB962C8B-B14F-4D97-AF65-F5344CB8AC3E}">
        <p14:creationId xmlns:p14="http://schemas.microsoft.com/office/powerpoint/2010/main" val="41353330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Requisito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Uma condição ou capacidade que um sistema deve apresentar:</a:t>
            </a:r>
          </a:p>
          <a:p>
            <a:pPr lvl="1"/>
            <a:r>
              <a:rPr lang="pt-BR" dirty="0"/>
              <a:t>Funcionalidades</a:t>
            </a:r>
          </a:p>
          <a:p>
            <a:pPr lvl="1"/>
            <a:r>
              <a:rPr lang="pt-BR" dirty="0"/>
              <a:t>Qualidades</a:t>
            </a:r>
          </a:p>
          <a:p>
            <a:pPr lvl="1"/>
            <a:r>
              <a:rPr lang="pt-BR" dirty="0"/>
              <a:t>Necessária ao usuário, para resolver um problema e alcançar um objetivo</a:t>
            </a:r>
          </a:p>
          <a:p>
            <a:pPr lvl="1"/>
            <a:r>
              <a:rPr lang="pt-BR" dirty="0"/>
              <a:t>Deve ser definido antes de começar a construir um sistema.</a:t>
            </a:r>
          </a:p>
        </p:txBody>
      </p:sp>
    </p:spTree>
    <p:extLst>
      <p:ext uri="{BB962C8B-B14F-4D97-AF65-F5344CB8AC3E}">
        <p14:creationId xmlns:p14="http://schemas.microsoft.com/office/powerpoint/2010/main" val="28336132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Tipos de Requisito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Requisitos Funcionais (RF)</a:t>
            </a:r>
          </a:p>
          <a:p>
            <a:r>
              <a:rPr lang="pt-BR" dirty="0"/>
              <a:t>Requisitos não Funcionais (RNF)</a:t>
            </a:r>
          </a:p>
          <a:p>
            <a:r>
              <a:rPr lang="pt-BR" dirty="0"/>
              <a:t>Requisitos Inversos (RI) ou Escopo Negativo</a:t>
            </a:r>
          </a:p>
        </p:txBody>
      </p:sp>
    </p:spTree>
    <p:extLst>
      <p:ext uri="{BB962C8B-B14F-4D97-AF65-F5344CB8AC3E}">
        <p14:creationId xmlns:p14="http://schemas.microsoft.com/office/powerpoint/2010/main" val="19721043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Requisitos Funcionais</a:t>
            </a:r>
          </a:p>
        </p:txBody>
      </p:sp>
      <p:sp>
        <p:nvSpPr>
          <p:cNvPr id="5" name="Espaço Reservado para Conteúdo 2"/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Descreve funcionalidade e serviços do sistema</a:t>
            </a:r>
          </a:p>
          <a:p>
            <a:r>
              <a:rPr lang="pt-BR" dirty="0"/>
              <a:t>Depende do:</a:t>
            </a:r>
          </a:p>
          <a:p>
            <a:pPr lvl="1"/>
            <a:r>
              <a:rPr lang="pt-BR" dirty="0"/>
              <a:t>Tipo de software</a:t>
            </a:r>
          </a:p>
          <a:p>
            <a:pPr lvl="1"/>
            <a:r>
              <a:rPr lang="pt-BR" dirty="0"/>
              <a:t>Usuários esperados</a:t>
            </a:r>
          </a:p>
          <a:p>
            <a:pPr lvl="1"/>
            <a:r>
              <a:rPr lang="pt-BR" dirty="0"/>
              <a:t>Onde o software é usado</a:t>
            </a:r>
          </a:p>
          <a:p>
            <a:pPr lvl="1"/>
            <a:r>
              <a:rPr lang="pt-BR" dirty="0"/>
              <a:t>Cuidado com a redação dos requisitos.</a:t>
            </a:r>
          </a:p>
        </p:txBody>
      </p:sp>
    </p:spTree>
    <p:extLst>
      <p:ext uri="{BB962C8B-B14F-4D97-AF65-F5344CB8AC3E}">
        <p14:creationId xmlns:p14="http://schemas.microsoft.com/office/powerpoint/2010/main" val="30079765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Estudo de Caso Escola – Requisitos Funcionais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RF01 – Manter dados do professor:</a:t>
            </a:r>
          </a:p>
          <a:p>
            <a:pPr lvl="1"/>
            <a:r>
              <a:rPr lang="pt-BR" dirty="0"/>
              <a:t>O sistema deve permitir a inclusão, alteração, exclusão e consulta dos dados dos professores. Sendo que estas operações serão realizadas pela secretaria.</a:t>
            </a:r>
          </a:p>
          <a:p>
            <a:pPr lvl="1"/>
            <a:endParaRPr lang="pt-BR" dirty="0"/>
          </a:p>
          <a:p>
            <a:r>
              <a:rPr lang="pt-BR" dirty="0"/>
              <a:t>RF02 – Manter dados do aluno:</a:t>
            </a:r>
          </a:p>
          <a:p>
            <a:pPr lvl="1"/>
            <a:r>
              <a:rPr lang="pt-BR" dirty="0"/>
              <a:t>O sistema deve permitir a inclusão, alteração, exclusão e consulta dos dados dos alunos. Sendo que estas operações serão realizadas pela secretaria.</a:t>
            </a:r>
          </a:p>
          <a:p>
            <a:pPr lvl="1"/>
            <a:endParaRPr lang="pt-BR" dirty="0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3565" y="4590472"/>
            <a:ext cx="4583820" cy="2172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18724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Estudo de Caso Escola – Requisitos Funcionais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/>
              <a:t>RF03 – Manter dados do curso:</a:t>
            </a:r>
          </a:p>
          <a:p>
            <a:pPr lvl="1"/>
            <a:r>
              <a:rPr lang="pt-BR" dirty="0"/>
              <a:t>O sistema deve permitir a inclusão, alteração, exclusão e consulta dos dados dos cursos. Sendo que estas operações serão realizadas pela secretaria.</a:t>
            </a:r>
          </a:p>
          <a:p>
            <a:pPr lvl="1"/>
            <a:endParaRPr lang="pt-BR" dirty="0"/>
          </a:p>
          <a:p>
            <a:r>
              <a:rPr lang="pt-BR" dirty="0"/>
              <a:t>RF04 – Manter dados da matrícula:</a:t>
            </a:r>
          </a:p>
          <a:p>
            <a:pPr lvl="1"/>
            <a:r>
              <a:rPr lang="pt-BR" dirty="0"/>
              <a:t>O sistema deve permitir a inclusão, alteração, exclusão e consulta dos dados das matrículas.</a:t>
            </a:r>
          </a:p>
          <a:p>
            <a:pPr lvl="1"/>
            <a:endParaRPr lang="pt-BR" dirty="0"/>
          </a:p>
          <a:p>
            <a:r>
              <a:rPr lang="pt-BR" dirty="0"/>
              <a:t>RF05 – Manter dados da disciplina:</a:t>
            </a:r>
          </a:p>
          <a:p>
            <a:pPr lvl="1"/>
            <a:r>
              <a:rPr lang="pt-BR" dirty="0"/>
              <a:t>O sistema deve permitir a inclusão, alteração, exclusão e consulta dos dados das disciplinas. Sendo que estas operações serão realizadas pela secretaria.</a:t>
            </a:r>
          </a:p>
          <a:p>
            <a:pPr marL="457200" lvl="1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468442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5040B3-1F00-2F8C-9677-2C256F212B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692459"/>
          </a:xfrm>
        </p:spPr>
        <p:txBody>
          <a:bodyPr vert="horz" lIns="121920" tIns="60960" rIns="121920" bIns="60960" rtlCol="0" anchor="t">
            <a:normAutofit fontScale="90000"/>
          </a:bodyPr>
          <a:lstStyle/>
          <a:p>
            <a:r>
              <a:rPr lang="pt-BR" b="1" dirty="0">
                <a:cs typeface="Arial" panose="020B0604020202020204" pitchFamily="34" charset="0"/>
              </a:rPr>
              <a:t>MER – Modelo Entidade Relacionamento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6291DC29-9391-B7EA-4FD2-71E4D0B0DC50}"/>
              </a:ext>
            </a:extLst>
          </p:cNvPr>
          <p:cNvSpPr txBox="1"/>
          <p:nvPr/>
        </p:nvSpPr>
        <p:spPr>
          <a:xfrm>
            <a:off x="693562" y="1751860"/>
            <a:ext cx="10188933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O MER – Modelo Entidade Relacionamento é a ferramenta usada para desenvolver um projeto de banco de dados.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Existem 3 níveis de modelagem: conceitual, lógico e físico.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Cada um desses níveis mostra uma parte de como o projeto de banco de dados deve ser desenvolvido.</a:t>
            </a:r>
          </a:p>
        </p:txBody>
      </p:sp>
    </p:spTree>
    <p:extLst>
      <p:ext uri="{BB962C8B-B14F-4D97-AF65-F5344CB8AC3E}">
        <p14:creationId xmlns:p14="http://schemas.microsoft.com/office/powerpoint/2010/main" val="948492994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5040B3-1F00-2F8C-9677-2C256F212B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692459"/>
          </a:xfrm>
        </p:spPr>
        <p:txBody>
          <a:bodyPr vert="horz" lIns="121920" tIns="60960" rIns="121920" bIns="60960" rtlCol="0" anchor="t">
            <a:normAutofit fontScale="90000"/>
          </a:bodyPr>
          <a:lstStyle/>
          <a:p>
            <a:r>
              <a:rPr lang="pt-BR" b="1" dirty="0"/>
              <a:t>Modelagem Conceitual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6291DC29-9391-B7EA-4FD2-71E4D0B0DC50}"/>
              </a:ext>
            </a:extLst>
          </p:cNvPr>
          <p:cNvSpPr txBox="1"/>
          <p:nvPr/>
        </p:nvSpPr>
        <p:spPr>
          <a:xfrm>
            <a:off x="693562" y="1751860"/>
            <a:ext cx="10188933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80990" indent="-38099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Ocorre após o levantamento preciso dos requisitos;</a:t>
            </a:r>
          </a:p>
          <a:p>
            <a:pPr marL="380990" indent="-38099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pt-BR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380990" indent="-38099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Ajuda na análise das entidades e seus atributos;</a:t>
            </a:r>
          </a:p>
          <a:p>
            <a:pPr marL="380990" indent="-38099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pt-BR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380990" indent="-38099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Mostra como cada entidade se relaciona com as demais;</a:t>
            </a:r>
          </a:p>
          <a:p>
            <a:pPr marL="380990" indent="-38099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pt-BR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380990" indent="-38099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Descreve o grau de relação entre as entidades.</a:t>
            </a:r>
          </a:p>
        </p:txBody>
      </p:sp>
    </p:spTree>
    <p:extLst>
      <p:ext uri="{BB962C8B-B14F-4D97-AF65-F5344CB8AC3E}">
        <p14:creationId xmlns:p14="http://schemas.microsoft.com/office/powerpoint/2010/main" val="2034213029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30BE51-3FEE-90D0-746D-02012673CD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Entidade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0BA24E4-F06B-69FE-6670-589F281378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335" y="2160590"/>
            <a:ext cx="9975869" cy="3880773"/>
          </a:xfrm>
        </p:spPr>
        <p:txBody>
          <a:bodyPr>
            <a:normAutofit/>
          </a:bodyPr>
          <a:lstStyle/>
          <a:p>
            <a:r>
              <a:rPr lang="pt-BR" sz="2133" dirty="0"/>
              <a:t>Representação de um conjunto de dados sobre determinado conceito do sistema. </a:t>
            </a:r>
          </a:p>
          <a:p>
            <a:r>
              <a:rPr lang="pt-BR" sz="2133" dirty="0"/>
              <a:t>Algo que seja relevante para o negócio e que tenho mais de uma ocorrência.</a:t>
            </a:r>
          </a:p>
          <a:p>
            <a:r>
              <a:rPr lang="pt-BR" sz="2133" dirty="0"/>
              <a:t>Toda entidade possui atributos, que são os dados que referenciam a entidade.</a:t>
            </a:r>
          </a:p>
          <a:p>
            <a:endParaRPr lang="pt-BR" sz="2133" dirty="0"/>
          </a:p>
          <a:p>
            <a:r>
              <a:rPr lang="pt-BR" sz="2133" dirty="0"/>
              <a:t>Exemplos de Entidades: Cliente, Professor, Aluno, Consulta, Paciente, Pedido, etc.</a:t>
            </a:r>
          </a:p>
          <a:p>
            <a:endParaRPr lang="pt-BR" sz="2133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1734AE6-A9D5-D80D-DDF3-D0239DEAA742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6331444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5040B3-1F00-2F8C-9677-2C256F212B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692459"/>
          </a:xfrm>
        </p:spPr>
        <p:txBody>
          <a:bodyPr vert="horz" lIns="121920" tIns="60960" rIns="121920" bIns="60960" rtlCol="0" anchor="t">
            <a:normAutofit fontScale="90000"/>
          </a:bodyPr>
          <a:lstStyle/>
          <a:p>
            <a:r>
              <a:rPr lang="pt-BR" b="1" dirty="0"/>
              <a:t>Modelo Conceitual - Notação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6291DC29-9391-B7EA-4FD2-71E4D0B0DC50}"/>
              </a:ext>
            </a:extLst>
          </p:cNvPr>
          <p:cNvSpPr txBox="1"/>
          <p:nvPr/>
        </p:nvSpPr>
        <p:spPr>
          <a:xfrm>
            <a:off x="693562" y="1751861"/>
            <a:ext cx="10188933" cy="1815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80990" indent="-38099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3733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Entidade</a:t>
            </a:r>
          </a:p>
          <a:p>
            <a:pPr marL="380990" indent="-38099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pt-BR" sz="3733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69BC5C8-670A-D71F-D245-7BFB5AA278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8306" y="3244445"/>
            <a:ext cx="4272055" cy="1253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9734825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025311-B713-74A1-E531-9DA0A4973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Atributos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B94FF92-ECA3-E209-3F05-C12EAA3CC8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335" y="2160590"/>
            <a:ext cx="10177096" cy="3880773"/>
          </a:xfrm>
        </p:spPr>
        <p:txBody>
          <a:bodyPr>
            <a:normAutofit/>
          </a:bodyPr>
          <a:lstStyle/>
          <a:p>
            <a:r>
              <a:rPr lang="pt-BR" sz="2400" dirty="0"/>
              <a:t>Atributos são características que descrevem, identificam, qualificam e/ou quantificam a entidade.</a:t>
            </a:r>
          </a:p>
          <a:p>
            <a:r>
              <a:rPr lang="pt-BR" sz="2400" dirty="0"/>
              <a:t>São os dados que precisam ser armazenados sobre a entidade.</a:t>
            </a:r>
          </a:p>
          <a:p>
            <a:endParaRPr lang="pt-BR" sz="2400" dirty="0"/>
          </a:p>
          <a:p>
            <a:r>
              <a:rPr lang="pt-BR" sz="2400" dirty="0"/>
              <a:t>Exemplos de atributos: código, nome, endereço, sexo, data de nascimento, CPF, RA, valor unitário, etc.</a:t>
            </a:r>
          </a:p>
          <a:p>
            <a:endParaRPr lang="pt-BR" sz="240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6500D8B-08A2-99F8-1D6E-2318513BB873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pt-BR" smtClean="0"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67909622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5040B3-1F00-2F8C-9677-2C256F212B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692459"/>
          </a:xfrm>
        </p:spPr>
        <p:txBody>
          <a:bodyPr vert="horz" lIns="121920" tIns="60960" rIns="121920" bIns="60960" rtlCol="0" anchor="t">
            <a:normAutofit fontScale="90000"/>
          </a:bodyPr>
          <a:lstStyle/>
          <a:p>
            <a:r>
              <a:rPr lang="pt-BR" b="1" dirty="0"/>
              <a:t>Modelo Conceitual - Notação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6291DC29-9391-B7EA-4FD2-71E4D0B0DC50}"/>
              </a:ext>
            </a:extLst>
          </p:cNvPr>
          <p:cNvSpPr txBox="1"/>
          <p:nvPr/>
        </p:nvSpPr>
        <p:spPr>
          <a:xfrm>
            <a:off x="693562" y="1751860"/>
            <a:ext cx="1018893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80990" indent="-38099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pt-BR" sz="3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380990" indent="-38099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Atributos</a:t>
            </a:r>
          </a:p>
          <a:p>
            <a:pPr marL="380990" indent="-38099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pt-BR" sz="3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D4AFDABB-AE20-0C4D-B1B8-7556162D01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1976" y="3429001"/>
            <a:ext cx="4047275" cy="1727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6503362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5040B3-1F00-2F8C-9677-2C256F212B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692459"/>
          </a:xfrm>
        </p:spPr>
        <p:txBody>
          <a:bodyPr vert="horz" lIns="121920" tIns="60960" rIns="121920" bIns="60960" rtlCol="0" anchor="t">
            <a:normAutofit fontScale="90000"/>
          </a:bodyPr>
          <a:lstStyle/>
          <a:p>
            <a:r>
              <a:rPr lang="pt-BR" b="1" dirty="0"/>
              <a:t>Modelo Conceitual - Notação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6291DC29-9391-B7EA-4FD2-71E4D0B0DC50}"/>
              </a:ext>
            </a:extLst>
          </p:cNvPr>
          <p:cNvSpPr txBox="1"/>
          <p:nvPr/>
        </p:nvSpPr>
        <p:spPr>
          <a:xfrm>
            <a:off x="693562" y="1751861"/>
            <a:ext cx="1018893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80990" indent="-38099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Relacionamento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49BB0481-BD11-C769-1C7B-CB968E0FDC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8249" y="2830942"/>
            <a:ext cx="2516459" cy="2649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935750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5040B3-1F00-2F8C-9677-2C256F212B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692459"/>
          </a:xfrm>
        </p:spPr>
        <p:txBody>
          <a:bodyPr vert="horz" lIns="121920" tIns="60960" rIns="121920" bIns="60960" rtlCol="0" anchor="t">
            <a:normAutofit fontScale="90000"/>
          </a:bodyPr>
          <a:lstStyle/>
          <a:p>
            <a:r>
              <a:rPr lang="pt-BR" b="1" dirty="0"/>
              <a:t>Modelo Conceitual – Pequeno exemplo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80CCAE27-C91B-DBD5-156C-AB45203D29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350" y="2121024"/>
            <a:ext cx="8510345" cy="2615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1305880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D2F83D-8FD1-07E9-33FB-B5524C6E9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Exemplo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7E1853DC-25C7-EDBB-AD89-8A0212EC7E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172" y="2542976"/>
            <a:ext cx="9331229" cy="2647880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F8B8C0F2-B728-3A21-F83C-3910628D5B8A}"/>
              </a:ext>
            </a:extLst>
          </p:cNvPr>
          <p:cNvSpPr txBox="1"/>
          <p:nvPr/>
        </p:nvSpPr>
        <p:spPr>
          <a:xfrm>
            <a:off x="677335" y="1477203"/>
            <a:ext cx="10544040" cy="7080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2667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Em qual departamento o funcionário José de código 1002 trabalha?</a:t>
            </a:r>
          </a:p>
        </p:txBody>
      </p:sp>
    </p:spTree>
    <p:extLst>
      <p:ext uri="{BB962C8B-B14F-4D97-AF65-F5344CB8AC3E}">
        <p14:creationId xmlns:p14="http://schemas.microsoft.com/office/powerpoint/2010/main" val="8954026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Identificando as entidades</a:t>
            </a:r>
          </a:p>
        </p:txBody>
      </p:sp>
      <p:pic>
        <p:nvPicPr>
          <p:cNvPr id="7" name="Imagem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8257" y="2143524"/>
            <a:ext cx="7608798" cy="3887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30786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Exemplos de Entidades</a:t>
            </a: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418" y="2336800"/>
            <a:ext cx="8833038" cy="1638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90135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Entidades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312" y="1926647"/>
            <a:ext cx="8574088" cy="3384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90788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Identificando os atributos</a:t>
            </a: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088717"/>
            <a:ext cx="9691121" cy="2132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93759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Identificando os atributos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5711" y="2070533"/>
            <a:ext cx="8871814" cy="1901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49717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Identificando os atributos</a:t>
            </a: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312" y="1838180"/>
            <a:ext cx="8898724" cy="2816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219431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Identificando os atributos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167101"/>
            <a:ext cx="9746014" cy="3106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634154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612" y="1461221"/>
            <a:ext cx="10772775" cy="2771775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709612" y="4682761"/>
            <a:ext cx="60680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Um aluno faz no mínimo 1 matrícula e no máximo n matrículas.</a:t>
            </a:r>
          </a:p>
          <a:p>
            <a:r>
              <a:rPr lang="pt-BR" dirty="0"/>
              <a:t>Uma matrícula é de no mínimo 1 aluno e no máximo 1 aluno.</a:t>
            </a:r>
          </a:p>
        </p:txBody>
      </p:sp>
    </p:spTree>
    <p:extLst>
      <p:ext uri="{BB962C8B-B14F-4D97-AF65-F5344CB8AC3E}">
        <p14:creationId xmlns:p14="http://schemas.microsoft.com/office/powerpoint/2010/main" val="256157419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D0E041-0276-3EFF-F9B6-A9D1901A3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Cardinalidade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85F6AACC-D572-594A-48E7-A962937D4E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605" y="1500249"/>
            <a:ext cx="8596668" cy="3542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629360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D0E041-0276-3EFF-F9B6-A9D1901A3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Cardinalidade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B32F153-EFE8-40FD-4086-FBC8A880CB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5" y="1385905"/>
            <a:ext cx="9028917" cy="4465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154953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FC04AF-4326-551C-9A78-8393AA6D34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Estabelecendo o relacionamento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838199" y="5167311"/>
            <a:ext cx="1082761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Note, no exemplo acima, que a função da chave estrangeira é fazer o relacionamento entre as tabelas, por isso é importante estabelecer corretamente a cardinalidade do relacionamento.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987" y="1966912"/>
            <a:ext cx="10106025" cy="2924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789849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FA46F5-814A-1BDA-E530-A9123DCF4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Relacionamento 1:1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8889F51F-A47F-BDAA-18BF-599B5D1C2F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853" y="1460398"/>
            <a:ext cx="9094899" cy="4280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553021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D70324-F5A1-2650-483F-8D9060F340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Exemplo Modelo Conceitual no </a:t>
            </a:r>
            <a:r>
              <a:rPr lang="pt-BR" b="1" dirty="0" err="1"/>
              <a:t>BrModelo</a:t>
            </a:r>
            <a:endParaRPr lang="pt-BR" b="1" dirty="0"/>
          </a:p>
        </p:txBody>
      </p:sp>
      <p:pic>
        <p:nvPicPr>
          <p:cNvPr id="4" name="Imagem 3" descr="Diagrama&#10;&#10;Descrição gerada automaticamente">
            <a:extLst>
              <a:ext uri="{FF2B5EF4-FFF2-40B4-BE49-F238E27FC236}">
                <a16:creationId xmlns:a16="http://schemas.microsoft.com/office/drawing/2014/main" id="{3D52FFA5-8884-01AB-EFD6-38E13695E3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335" y="1270000"/>
            <a:ext cx="10413835" cy="5344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968015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025311-B713-74A1-E531-9DA0A4973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Prática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B94FF92-ECA3-E209-3F05-C12EAA3CC8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335" y="2160590"/>
            <a:ext cx="10177096" cy="3880773"/>
          </a:xfrm>
        </p:spPr>
        <p:txBody>
          <a:bodyPr>
            <a:normAutofit/>
          </a:bodyPr>
          <a:lstStyle/>
          <a:p>
            <a:r>
              <a:rPr lang="pt-BR" sz="2400" dirty="0"/>
              <a:t>Fazer no </a:t>
            </a:r>
            <a:r>
              <a:rPr lang="pt-BR" sz="2400" dirty="0" err="1"/>
              <a:t>BrModelo</a:t>
            </a:r>
            <a:r>
              <a:rPr lang="pt-BR" sz="2400" dirty="0"/>
              <a:t> os dois exemplos apresentados.</a:t>
            </a:r>
          </a:p>
          <a:p>
            <a:r>
              <a:rPr lang="pt-BR" sz="2400" dirty="0"/>
              <a:t>No modelo da escola, incluir:</a:t>
            </a:r>
          </a:p>
          <a:p>
            <a:pPr lvl="1"/>
            <a:r>
              <a:rPr lang="pt-BR" sz="2000" dirty="0"/>
              <a:t>Os atributos de Aluno: data de nascimento e gênero.</a:t>
            </a:r>
          </a:p>
          <a:p>
            <a:pPr lvl="1"/>
            <a:r>
              <a:rPr lang="pt-BR" sz="2000" dirty="0"/>
              <a:t>As entidades:</a:t>
            </a:r>
          </a:p>
          <a:p>
            <a:pPr lvl="1"/>
            <a:r>
              <a:rPr lang="pt-BR" sz="2000" dirty="0"/>
              <a:t>Professor: registro do professor, nome, data de nascimento, gênero e titulação.</a:t>
            </a:r>
          </a:p>
          <a:p>
            <a:pPr lvl="1"/>
            <a:r>
              <a:rPr lang="pt-BR" sz="2000" dirty="0"/>
              <a:t>Disciplina: código da disciplina, nome, carga horária.</a:t>
            </a:r>
          </a:p>
          <a:p>
            <a:pPr lvl="1"/>
            <a:r>
              <a:rPr lang="pt-BR" sz="2000" dirty="0"/>
              <a:t>Curso: código, nome, carga horária.</a:t>
            </a:r>
          </a:p>
          <a:p>
            <a:endParaRPr lang="pt-BR" sz="2400" dirty="0"/>
          </a:p>
          <a:p>
            <a:pPr lvl="1"/>
            <a:r>
              <a:rPr lang="pt-BR" sz="2000" dirty="0"/>
              <a:t>Fazer os relacionamentos entre as novas entidades.</a:t>
            </a:r>
          </a:p>
          <a:p>
            <a:endParaRPr lang="pt-BR" sz="2400" dirty="0"/>
          </a:p>
          <a:p>
            <a:endParaRPr lang="pt-BR" sz="2400" dirty="0"/>
          </a:p>
          <a:p>
            <a:endParaRPr lang="pt-BR" sz="240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6500D8B-08A2-99F8-1D6E-2318513BB873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pt-BR" smtClean="0"/>
              <a:t>34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17094722"/>
      </p:ext>
    </p:extLst>
  </p:cSld>
  <p:clrMapOvr>
    <a:masterClrMapping/>
  </p:clrMapOvr>
  <p:transition spd="med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Prática – possível solução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9810750" cy="3762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91846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963</TotalTime>
  <Words>758</Words>
  <Application>Microsoft Office PowerPoint</Application>
  <PresentationFormat>Widescreen</PresentationFormat>
  <Paragraphs>112</Paragraphs>
  <Slides>35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35</vt:i4>
      </vt:variant>
    </vt:vector>
  </HeadingPairs>
  <TitlesOfParts>
    <vt:vector size="39" baseType="lpstr">
      <vt:lpstr>Arial</vt:lpstr>
      <vt:lpstr>Calibri</vt:lpstr>
      <vt:lpstr>Calibri Light</vt:lpstr>
      <vt:lpstr>Tema do Office</vt:lpstr>
      <vt:lpstr>Banco de Dados Prof. José Carlos Perini</vt:lpstr>
      <vt:lpstr>Link da Apresentação</vt:lpstr>
      <vt:lpstr>Banco de Dados Relacional</vt:lpstr>
      <vt:lpstr>Projeto de Banco de Dados</vt:lpstr>
      <vt:lpstr>Projeto de Banco de Dados</vt:lpstr>
      <vt:lpstr>Importância do Levantamento de Dados</vt:lpstr>
      <vt:lpstr>Requisito</vt:lpstr>
      <vt:lpstr>Tipos de Requisito</vt:lpstr>
      <vt:lpstr>Requisitos Funcionais</vt:lpstr>
      <vt:lpstr>Estudo de Caso Escola – Requisitos Funcionais</vt:lpstr>
      <vt:lpstr>Estudo de Caso Escola – Requisitos Funcionais</vt:lpstr>
      <vt:lpstr>MER – Modelo Entidade Relacionamento</vt:lpstr>
      <vt:lpstr>Modelagem Conceitual</vt:lpstr>
      <vt:lpstr>Entidade</vt:lpstr>
      <vt:lpstr>Modelo Conceitual - Notação</vt:lpstr>
      <vt:lpstr>Atributos</vt:lpstr>
      <vt:lpstr>Modelo Conceitual - Notação</vt:lpstr>
      <vt:lpstr>Modelo Conceitual - Notação</vt:lpstr>
      <vt:lpstr>Modelo Conceitual – Pequeno exemplo</vt:lpstr>
      <vt:lpstr>Exemplo</vt:lpstr>
      <vt:lpstr>Identificando as entidades</vt:lpstr>
      <vt:lpstr>Exemplos de Entidades</vt:lpstr>
      <vt:lpstr>Entidades</vt:lpstr>
      <vt:lpstr>Identificando os atributos</vt:lpstr>
      <vt:lpstr>Identificando os atributos</vt:lpstr>
      <vt:lpstr>Identificando os atributos</vt:lpstr>
      <vt:lpstr>Identificando os atributos</vt:lpstr>
      <vt:lpstr>Exemplo</vt:lpstr>
      <vt:lpstr>Cardinalidade</vt:lpstr>
      <vt:lpstr>Cardinalidade</vt:lpstr>
      <vt:lpstr>Estabelecendo o relacionamento</vt:lpstr>
      <vt:lpstr>Relacionamento 1:1</vt:lpstr>
      <vt:lpstr>Exemplo Modelo Conceitual no BrModelo</vt:lpstr>
      <vt:lpstr>Prática</vt:lpstr>
      <vt:lpstr>Prática – possível solução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Banco de Dados</dc:title>
  <dc:creator>User</dc:creator>
  <cp:lastModifiedBy>José Carlos Perini</cp:lastModifiedBy>
  <cp:revision>38</cp:revision>
  <dcterms:created xsi:type="dcterms:W3CDTF">2024-02-07T18:08:06Z</dcterms:created>
  <dcterms:modified xsi:type="dcterms:W3CDTF">2026-02-11T19:51:51Z</dcterms:modified>
</cp:coreProperties>
</file>