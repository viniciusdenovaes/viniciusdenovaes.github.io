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378" r:id="rId3"/>
    <p:sldId id="379" r:id="rId4"/>
    <p:sldId id="2746" r:id="rId5"/>
    <p:sldId id="2744" r:id="rId6"/>
    <p:sldId id="2745" r:id="rId7"/>
    <p:sldId id="2747" r:id="rId8"/>
    <p:sldId id="2749" r:id="rId9"/>
    <p:sldId id="2748" r:id="rId10"/>
    <p:sldId id="330" r:id="rId11"/>
    <p:sldId id="331" r:id="rId12"/>
    <p:sldId id="2750" r:id="rId13"/>
    <p:sldId id="332" r:id="rId14"/>
    <p:sldId id="333" r:id="rId15"/>
    <p:sldId id="334" r:id="rId16"/>
    <p:sldId id="335" r:id="rId17"/>
    <p:sldId id="259" r:id="rId18"/>
    <p:sldId id="260" r:id="rId19"/>
    <p:sldId id="336" r:id="rId20"/>
    <p:sldId id="337" r:id="rId21"/>
    <p:sldId id="338" r:id="rId22"/>
    <p:sldId id="339" r:id="rId23"/>
    <p:sldId id="340" r:id="rId24"/>
    <p:sldId id="341" r:id="rId25"/>
    <p:sldId id="342" r:id="rId26"/>
    <p:sldId id="343" r:id="rId27"/>
    <p:sldId id="344" r:id="rId28"/>
    <p:sldId id="345" r:id="rId29"/>
    <p:sldId id="346" r:id="rId30"/>
    <p:sldId id="320" r:id="rId31"/>
    <p:sldId id="2751" r:id="rId32"/>
  </p:sldIdLst>
  <p:sldSz cx="12192000" cy="6858000"/>
  <p:notesSz cx="6888163" cy="967105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r">
              <a:defRPr sz="1200"/>
            </a:lvl1pPr>
          </a:lstStyle>
          <a:p>
            <a:fld id="{64437FFB-D889-4E35-80D7-62282096ABD0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42925" y="1208088"/>
            <a:ext cx="5802313" cy="32654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22" tIns="47311" rIns="94622" bIns="47311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817" y="4654193"/>
            <a:ext cx="5510530" cy="3807976"/>
          </a:xfrm>
          <a:prstGeom prst="rect">
            <a:avLst/>
          </a:prstGeom>
        </p:spPr>
        <p:txBody>
          <a:bodyPr vert="horz" lIns="94622" tIns="47311" rIns="94622" bIns="47311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1698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r">
              <a:defRPr sz="1200"/>
            </a:lvl1pPr>
          </a:lstStyle>
          <a:p>
            <a:fld id="{0B443DA8-3DF3-41E3-8439-B64B0FF63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87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138" name="Google Shape;138;p4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41" name="Google Shape;141;p4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142" name="Google Shape;142;p4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>
              <a:buSzPts val="1200"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2" name="Google Shape;152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endParaRPr/>
          </a:p>
        </p:txBody>
      </p:sp>
      <p:sp>
        <p:nvSpPr>
          <p:cNvPr id="237" name="Google Shape;237;p12:notes"/>
          <p:cNvSpPr txBox="1">
            <a:spLocks noGrp="1"/>
          </p:cNvSpPr>
          <p:nvPr>
            <p:ph type="dt" idx="10"/>
          </p:nvPr>
        </p:nvSpPr>
        <p:spPr>
          <a:xfrm>
            <a:off x="5202796" y="0"/>
            <a:ext cx="3979828" cy="36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r>
              <a:rPr lang="en-US"/>
              <a:t>1.7.2013</a:t>
            </a:r>
            <a:endParaRPr/>
          </a:p>
        </p:txBody>
      </p:sp>
      <p:sp>
        <p:nvSpPr>
          <p:cNvPr id="238" name="Google Shape;238;p12:notes"/>
          <p:cNvSpPr>
            <a:spLocks noGrp="1" noRot="1" noChangeAspect="1"/>
          </p:cNvSpPr>
          <p:nvPr>
            <p:ph type="sldImg" idx="3"/>
          </p:nvPr>
        </p:nvSpPr>
        <p:spPr>
          <a:xfrm>
            <a:off x="2179638" y="542925"/>
            <a:ext cx="4824412" cy="2714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p12:notes"/>
          <p:cNvSpPr txBox="1">
            <a:spLocks noGrp="1"/>
          </p:cNvSpPr>
          <p:nvPr>
            <p:ph type="body" idx="1"/>
          </p:nvPr>
        </p:nvSpPr>
        <p:spPr>
          <a:xfrm>
            <a:off x="918422" y="3438596"/>
            <a:ext cx="7347374" cy="3258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40" name="Google Shape;240;p12:notes"/>
          <p:cNvSpPr txBox="1">
            <a:spLocks noGrp="1"/>
          </p:cNvSpPr>
          <p:nvPr>
            <p:ph type="ftr" idx="11"/>
          </p:nvPr>
        </p:nvSpPr>
        <p:spPr>
          <a:xfrm>
            <a:off x="0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endParaRPr/>
          </a:p>
        </p:txBody>
      </p:sp>
      <p:sp>
        <p:nvSpPr>
          <p:cNvPr id="241" name="Google Shape;241;p12:notes"/>
          <p:cNvSpPr txBox="1">
            <a:spLocks noGrp="1"/>
          </p:cNvSpPr>
          <p:nvPr>
            <p:ph type="sldNum" idx="12"/>
          </p:nvPr>
        </p:nvSpPr>
        <p:spPr>
          <a:xfrm>
            <a:off x="5202796" y="6877192"/>
            <a:ext cx="3979828" cy="360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607" tIns="47290" rIns="94607" bIns="47290" anchor="b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57003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97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0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9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4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2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01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o do Títu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21" name="Nível de Corpo U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22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253812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0A59-C752-4765-B0CC-DA76ECD04D88}" type="datetimeFigureOut">
              <a:rPr lang="pt-BR" smtClean="0"/>
              <a:t>19/03/2026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2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73382" y="1510290"/>
            <a:ext cx="9144000" cy="2387600"/>
          </a:xfrm>
        </p:spPr>
        <p:txBody>
          <a:bodyPr/>
          <a:lstStyle/>
          <a:p>
            <a:r>
              <a:rPr lang="pt-BR" dirty="0"/>
              <a:t>Banco de Dados</a:t>
            </a:r>
            <a:br>
              <a:rPr lang="pt-BR" dirty="0"/>
            </a:br>
            <a:r>
              <a:rPr lang="pt-BR" sz="3200" dirty="0"/>
              <a:t>Prof</a:t>
            </a:r>
            <a:r>
              <a:rPr lang="pt-BR" sz="3200"/>
              <a:t>. Perini</a:t>
            </a: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11927" y="4174115"/>
            <a:ext cx="9144000" cy="1655762"/>
          </a:xfrm>
        </p:spPr>
        <p:txBody>
          <a:bodyPr/>
          <a:lstStyle/>
          <a:p>
            <a:r>
              <a:rPr lang="pt-BR" dirty="0"/>
              <a:t>Linguagem SQL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416" y="69526"/>
            <a:ext cx="7340168" cy="24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1524001" y="1481118"/>
          <a:ext cx="9144001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9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36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pt-BR" noProof="0" dirty="0"/>
                        <a:t>UNIP</a:t>
                      </a:r>
                      <a:r>
                        <a:rPr lang="pt-BR" baseline="0" noProof="0" dirty="0"/>
                        <a:t> LIMEIRA</a:t>
                      </a:r>
                      <a:endParaRPr lang="pt-BR" noProof="0" dirty="0"/>
                    </a:p>
                    <a:p>
                      <a:pPr algn="l"/>
                      <a:r>
                        <a:rPr lang="pt-BR" noProof="0" dirty="0"/>
                        <a:t>Curso: Ciências da Computação                              Código do</a:t>
                      </a:r>
                      <a:r>
                        <a:rPr lang="pt-BR" baseline="0" noProof="0" dirty="0"/>
                        <a:t> Curso: CC14</a:t>
                      </a:r>
                    </a:p>
                    <a:p>
                      <a:pPr algn="l"/>
                      <a:r>
                        <a:rPr lang="pt-BR" baseline="0" noProof="0" dirty="0"/>
                        <a:t>Aluno: James Hetfield               RA: U14123            Status: Regular</a:t>
                      </a:r>
                      <a:endParaRPr lang="pt-BR" b="1" noProof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noProof="0"/>
                        <a:t>Disciplina</a:t>
                      </a:r>
                    </a:p>
                    <a:p>
                      <a:pPr algn="ctr"/>
                      <a:r>
                        <a:rPr lang="pt-BR" noProof="0"/>
                        <a:t> (codigo)</a:t>
                      </a:r>
                      <a:endParaRPr lang="pt-BR" b="1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noProof="0" dirty="0"/>
                        <a:t>Professor (código)</a:t>
                      </a:r>
                      <a:endParaRPr lang="pt-BR" b="1" noProof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noProof="0" dirty="0"/>
                        <a:t>Nota</a:t>
                      </a:r>
                      <a:endParaRPr lang="pt-BR" b="1" noProof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noProof="0"/>
                        <a:t>Faltas</a:t>
                      </a:r>
                      <a:endParaRPr lang="pt-BR" b="1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noProof="0"/>
                        <a:t>Situação</a:t>
                      </a:r>
                      <a:endParaRPr lang="pt-BR" b="1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noProof="0" dirty="0"/>
                        <a:t>Banco de dados (BD</a:t>
                      </a:r>
                      <a:r>
                        <a:rPr lang="pt-BR" baseline="0" noProof="0" dirty="0"/>
                        <a:t>14</a:t>
                      </a:r>
                      <a:r>
                        <a:rPr lang="pt-BR" noProof="0" dirty="0"/>
                        <a:t>)</a:t>
                      </a:r>
                      <a:endParaRPr lang="pt-BR" noProof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/>
                        <a:t>Sergio Nunes – SN14</a:t>
                      </a:r>
                      <a:endParaRPr lang="pt-BR" noProof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/>
                        <a:t>7.5</a:t>
                      </a:r>
                      <a:endParaRPr lang="pt-BR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/>
                        <a:t>7</a:t>
                      </a:r>
                      <a:endParaRPr lang="pt-BR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/>
                        <a:t>Aprovado</a:t>
                      </a:r>
                      <a:endParaRPr lang="pt-BR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noProof="0"/>
                        <a:t>Redes (RE14)</a:t>
                      </a:r>
                      <a:endParaRPr lang="pt-BR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/>
                        <a:t>Johnny</a:t>
                      </a:r>
                      <a:r>
                        <a:rPr lang="pt-BR" baseline="0" noProof="0" dirty="0"/>
                        <a:t> Silva - </a:t>
                      </a:r>
                      <a:r>
                        <a:rPr lang="pt-BR" noProof="0" dirty="0"/>
                        <a:t>JS14</a:t>
                      </a:r>
                      <a:endParaRPr lang="pt-BR" noProof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/>
                        <a:t>8.0</a:t>
                      </a:r>
                      <a:endParaRPr lang="pt-BR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/>
                        <a:t>4</a:t>
                      </a:r>
                      <a:endParaRPr lang="pt-BR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/>
                        <a:t>Aprovado</a:t>
                      </a:r>
                      <a:endParaRPr lang="pt-BR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noProof="0" dirty="0"/>
                        <a:t>Algoritmo (ALG14)</a:t>
                      </a:r>
                      <a:endParaRPr lang="pt-BR" noProof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/>
                        <a:t>Mary Tunes - MJ14</a:t>
                      </a:r>
                      <a:endParaRPr lang="pt-BR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/>
                        <a:t>4.5</a:t>
                      </a:r>
                      <a:endParaRPr lang="pt-BR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/>
                        <a:t>0</a:t>
                      </a:r>
                      <a:endParaRPr lang="pt-BR" noProof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noProof="0" dirty="0"/>
                        <a:t>Reprovado</a:t>
                      </a:r>
                      <a:endParaRPr lang="pt-BR" noProof="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CaixaDeTexto 5"/>
          <p:cNvSpPr txBox="1">
            <a:spLocks noChangeArrowheads="1"/>
          </p:cNvSpPr>
          <p:nvPr/>
        </p:nvSpPr>
        <p:spPr bwMode="auto">
          <a:xfrm>
            <a:off x="1774825" y="642918"/>
            <a:ext cx="8642350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1) Aplicar as 3 Formas Normais e modelar no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brModelo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4"/>
          <p:cNvSpPr txBox="1">
            <a:spLocks noChangeArrowheads="1"/>
          </p:cNvSpPr>
          <p:nvPr/>
        </p:nvSpPr>
        <p:spPr bwMode="auto">
          <a:xfrm>
            <a:off x="1847850" y="642918"/>
            <a:ext cx="8591550" cy="57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2) Coloque o formulário nas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FNs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e faça o DER no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brModelo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: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      </a:t>
            </a: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 l="33968" t="29167" r="29723" b="19792"/>
          <a:stretch>
            <a:fillRect/>
          </a:stretch>
        </p:blipFill>
        <p:spPr bwMode="auto">
          <a:xfrm>
            <a:off x="1991544" y="1484784"/>
            <a:ext cx="5976664" cy="4722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C30F7-0C36-4C0E-B35C-90C95FC5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375"/>
            <a:ext cx="10515600" cy="682625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Exercício 1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ECF28AE-6F7E-4F73-88FC-7164C661C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889000"/>
            <a:ext cx="4533900" cy="54006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58C4B63-38F1-4DA1-8964-722551025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938212"/>
            <a:ext cx="2571750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810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C30F7-0C36-4C0E-B35C-90C95FC5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9325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Exercício 1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99D225C-5CF2-466F-BF9B-136DCF1EB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625" y="1179053"/>
            <a:ext cx="6444850" cy="531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234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C30F7-0C36-4C0E-B35C-90C95FC5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575"/>
            <a:ext cx="10515600" cy="949325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Exercício 1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336494D-308E-4742-B825-13615C9B5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353" y="899188"/>
            <a:ext cx="6282972" cy="580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117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C30F7-0C36-4C0E-B35C-90C95FC5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375"/>
            <a:ext cx="10515600" cy="682625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Exercício 2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3E7893F-A93A-4404-ADAF-95F2F7CC2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107592"/>
            <a:ext cx="6515099" cy="489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563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C30F7-0C36-4C0E-B35C-90C95FC5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575"/>
            <a:ext cx="10515600" cy="949325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Exercício 2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9E7C95A-B0C3-46C7-96B5-230710699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45" y="975310"/>
            <a:ext cx="9885406" cy="559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024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C30F7-0C36-4C0E-B35C-90C95FC5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66775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Exercício 2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C14F29A-E52F-4139-8395-E1B071F07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685485"/>
            <a:ext cx="10515600" cy="5924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104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650572" cy="1320800"/>
          </a:xfrm>
        </p:spPr>
        <p:txBody>
          <a:bodyPr>
            <a:normAutofit/>
          </a:bodyPr>
          <a:lstStyle/>
          <a:p>
            <a:r>
              <a:rPr lang="pt-BR" b="1" dirty="0"/>
              <a:t>Linguagem 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2C12DF-BAC2-85E5-7EF3-4AFAE49C5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6" y="2160588"/>
            <a:ext cx="10572555" cy="4000067"/>
          </a:xfrm>
        </p:spPr>
        <p:txBody>
          <a:bodyPr>
            <a:normAutofit/>
          </a:bodyPr>
          <a:lstStyle/>
          <a:p>
            <a:r>
              <a:rPr lang="pt-BR" dirty="0"/>
              <a:t>SQL (</a:t>
            </a:r>
            <a:r>
              <a:rPr lang="pt-BR" dirty="0" err="1"/>
              <a:t>Structured</a:t>
            </a:r>
            <a:r>
              <a:rPr lang="pt-BR" dirty="0"/>
              <a:t> Query </a:t>
            </a:r>
            <a:r>
              <a:rPr lang="pt-BR" dirty="0" err="1"/>
              <a:t>Language</a:t>
            </a:r>
            <a:r>
              <a:rPr lang="pt-BR" dirty="0"/>
              <a:t> – Linguagem de Consulta Estruturada) á a linguagem padrão ANSI (American </a:t>
            </a:r>
            <a:r>
              <a:rPr lang="pt-BR" dirty="0" err="1"/>
              <a:t>National</a:t>
            </a:r>
            <a:r>
              <a:rPr lang="pt-BR" dirty="0"/>
              <a:t> Standards </a:t>
            </a:r>
            <a:r>
              <a:rPr lang="pt-BR" dirty="0" err="1"/>
              <a:t>Institute</a:t>
            </a:r>
            <a:r>
              <a:rPr lang="pt-BR" dirty="0"/>
              <a:t>) para a operação em bancos de dados relacionais. </a:t>
            </a:r>
          </a:p>
          <a:p>
            <a:r>
              <a:rPr lang="pt-BR" dirty="0"/>
              <a:t>A linguagem contém um grande conjunto de operadores para dividir e combinar relações. </a:t>
            </a:r>
          </a:p>
          <a:p>
            <a:r>
              <a:rPr lang="pt-BR" dirty="0"/>
              <a:t>É possível modificar o banco de dados usando as instruções SQL.</a:t>
            </a:r>
          </a:p>
        </p:txBody>
      </p:sp>
    </p:spTree>
    <p:extLst>
      <p:ext uri="{BB962C8B-B14F-4D97-AF65-F5344CB8AC3E}">
        <p14:creationId xmlns:p14="http://schemas.microsoft.com/office/powerpoint/2010/main" val="1711907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650572" cy="1320800"/>
          </a:xfrm>
        </p:spPr>
        <p:txBody>
          <a:bodyPr>
            <a:normAutofit/>
          </a:bodyPr>
          <a:lstStyle/>
          <a:p>
            <a:r>
              <a:rPr lang="pt-BR" b="1" dirty="0"/>
              <a:t>Categorias </a:t>
            </a:r>
            <a:r>
              <a:rPr lang="pt-BR" b="1"/>
              <a:t>de Comandos </a:t>
            </a:r>
            <a:r>
              <a:rPr lang="pt-BR" b="1" dirty="0"/>
              <a:t>da Linguagem SQL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301" y="2179781"/>
            <a:ext cx="4633191" cy="393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9790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/>
          <p:nvPr/>
        </p:nvSpPr>
        <p:spPr>
          <a:xfrm>
            <a:off x="2772514" y="966669"/>
            <a:ext cx="7190636" cy="4481631"/>
          </a:xfrm>
          <a:custGeom>
            <a:avLst/>
            <a:gdLst/>
            <a:ahLst/>
            <a:cxnLst/>
            <a:rect l="l" t="t" r="r" b="b"/>
            <a:pathLst>
              <a:path w="8957154" h="5027203" extrusionOk="0">
                <a:moveTo>
                  <a:pt x="0" y="0"/>
                </a:moveTo>
                <a:lnTo>
                  <a:pt x="8957154" y="0"/>
                </a:lnTo>
                <a:lnTo>
                  <a:pt x="8957154" y="5027202"/>
                </a:lnTo>
                <a:lnTo>
                  <a:pt x="0" y="50272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C755D-246C-87BA-40A9-1E417AD8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650572" cy="1320800"/>
          </a:xfrm>
        </p:spPr>
        <p:txBody>
          <a:bodyPr>
            <a:normAutofit/>
          </a:bodyPr>
          <a:lstStyle/>
          <a:p>
            <a:r>
              <a:rPr lang="pt-BR" b="1" dirty="0"/>
              <a:t>Instruções SQL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0F2C12DF-BAC2-85E5-7EF3-4AFAE49C5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6" y="2160588"/>
            <a:ext cx="10572555" cy="4000067"/>
          </a:xfrm>
        </p:spPr>
        <p:txBody>
          <a:bodyPr>
            <a:normAutofit/>
          </a:bodyPr>
          <a:lstStyle/>
          <a:p>
            <a:r>
              <a:rPr lang="pt-BR" dirty="0"/>
              <a:t>Instruções SQL não têm distinção entre maiúsculas e minúsculas.</a:t>
            </a:r>
          </a:p>
          <a:p>
            <a:r>
              <a:rPr lang="pt-BR" dirty="0"/>
              <a:t>Instruções SQL podem estar em uma ou mais linhas.</a:t>
            </a:r>
          </a:p>
          <a:p>
            <a:r>
              <a:rPr lang="pt-BR" dirty="0"/>
              <a:t>Palavras-chave não podem ser abreviadas ou divididas entre as linhas.</a:t>
            </a:r>
          </a:p>
          <a:p>
            <a:r>
              <a:rPr lang="pt-BR" dirty="0"/>
              <a:t>Normalmente, as cláusulas são colocadas em linhas separadas.</a:t>
            </a:r>
          </a:p>
          <a:p>
            <a:r>
              <a:rPr lang="pt-BR" dirty="0"/>
              <a:t>Guias e </a:t>
            </a:r>
            <a:r>
              <a:rPr lang="pt-BR" dirty="0" err="1"/>
              <a:t>indentações</a:t>
            </a:r>
            <a:r>
              <a:rPr lang="pt-BR" dirty="0"/>
              <a:t> são usadas para aperfeiçoar a legibilidade.</a:t>
            </a:r>
          </a:p>
        </p:txBody>
      </p:sp>
    </p:spTree>
    <p:extLst>
      <p:ext uri="{BB962C8B-B14F-4D97-AF65-F5344CB8AC3E}">
        <p14:creationId xmlns:p14="http://schemas.microsoft.com/office/powerpoint/2010/main" val="1779355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366487" cy="1320800"/>
          </a:xfrm>
        </p:spPr>
        <p:txBody>
          <a:bodyPr/>
          <a:lstStyle/>
          <a:p>
            <a:r>
              <a:rPr lang="pt-BR" dirty="0"/>
              <a:t>Criação de tabelas – Regras de Nomenclatura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D70280-4F71-7369-6DDC-3BB772C1B8E1}"/>
              </a:ext>
            </a:extLst>
          </p:cNvPr>
          <p:cNvSpPr txBox="1"/>
          <p:nvPr/>
        </p:nvSpPr>
        <p:spPr>
          <a:xfrm>
            <a:off x="693562" y="1751860"/>
            <a:ext cx="1018893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 começar com uma letra;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Pode ter de 1 a 128 caracteres;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Deve conter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somante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A-Z, </a:t>
            </a:r>
            <a:r>
              <a:rPr lang="pt-BR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a-z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_, $ e #;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Não deve duplicar o nome de outro objeto de propriedade do mesmo usuário;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Não deve ser uma palavra reservada.</a:t>
            </a:r>
          </a:p>
        </p:txBody>
      </p:sp>
    </p:spTree>
    <p:extLst>
      <p:ext uri="{BB962C8B-B14F-4D97-AF65-F5344CB8AC3E}">
        <p14:creationId xmlns:p14="http://schemas.microsoft.com/office/powerpoint/2010/main" val="867162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366487" cy="1320800"/>
          </a:xfrm>
        </p:spPr>
        <p:txBody>
          <a:bodyPr/>
          <a:lstStyle/>
          <a:p>
            <a:r>
              <a:rPr lang="pt-BR" dirty="0"/>
              <a:t>A instrução CREATE TABLE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D70280-4F71-7369-6DDC-3BB772C1B8E1}"/>
              </a:ext>
            </a:extLst>
          </p:cNvPr>
          <p:cNvSpPr txBox="1"/>
          <p:nvPr/>
        </p:nvSpPr>
        <p:spPr>
          <a:xfrm>
            <a:off x="677335" y="3640391"/>
            <a:ext cx="101889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Especifique:</a:t>
            </a:r>
          </a:p>
          <a:p>
            <a:pPr marL="990575" lvl="1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Nome da tabela</a:t>
            </a:r>
          </a:p>
          <a:p>
            <a:pPr marL="990575" lvl="1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Nome da coluna, tipo de dados da coluna e tamanho da coluna.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A798C00-2AEC-BB3F-36F0-0D221EAFE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900" y="1930400"/>
            <a:ext cx="8382899" cy="115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047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040B3-1F00-2F8C-9677-2C256F21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9428690" cy="692459"/>
          </a:xfrm>
        </p:spPr>
        <p:txBody>
          <a:bodyPr vert="horz" lIns="121920" tIns="60960" rIns="121920" bIns="60960" rtlCol="0" anchor="t">
            <a:normAutofit fontScale="90000"/>
          </a:bodyPr>
          <a:lstStyle/>
          <a:p>
            <a:pPr algn="ctr"/>
            <a:r>
              <a:rPr lang="pt-BR" dirty="0"/>
              <a:t>Tipos de dados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E3798AC-07D3-2542-8419-63CF8C010FCB}"/>
              </a:ext>
            </a:extLst>
          </p:cNvPr>
          <p:cNvSpPr txBox="1"/>
          <p:nvPr/>
        </p:nvSpPr>
        <p:spPr>
          <a:xfrm>
            <a:off x="797641" y="5262893"/>
            <a:ext cx="7865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Para SGBD Oracle:</a:t>
            </a:r>
          </a:p>
          <a:p>
            <a:r>
              <a:rPr lang="pt-BR" sz="2400" dirty="0" err="1"/>
              <a:t>Varchar</a:t>
            </a:r>
            <a:r>
              <a:rPr lang="pt-BR" sz="2400" dirty="0"/>
              <a:t>: armazena até 2000 caracteres.</a:t>
            </a:r>
          </a:p>
          <a:p>
            <a:r>
              <a:rPr lang="pt-BR" sz="2400" dirty="0"/>
              <a:t>Varchar2: dobra a capacidade (armazena até 4000 caracteres)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D97E988-6830-4D43-A3E4-E622DD864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1688792"/>
            <a:ext cx="10467975" cy="328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939043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/>
          <p:nvPr/>
        </p:nvSpPr>
        <p:spPr>
          <a:xfrm>
            <a:off x="1065159" y="1697329"/>
            <a:ext cx="8939791" cy="430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000"/>
              </a:lnSpc>
              <a:buClr>
                <a:srgbClr val="000000"/>
              </a:buClr>
              <a:buSzPts val="3900"/>
            </a:pPr>
            <a:r>
              <a:rPr lang="en-US" sz="26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(CRIAR)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comando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CREATE é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utilizado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criar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objetos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no banco de dados,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Bancos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dados,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Tabelas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Usuários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Visões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(views),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Procedimentos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armazenados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entre outros.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endParaRPr sz="1867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É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construir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fundação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um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sistema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definimos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onde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dados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serão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guardados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o que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será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armazenado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e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quem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poderá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interagir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com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essas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informações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endParaRPr sz="1867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Sintaxe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básica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do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comando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CREATE DATABASE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r>
              <a:rPr lang="en-US" sz="1867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DATABASE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nome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do banco de dados que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deverá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ser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criado</a:t>
            </a:r>
            <a:r>
              <a:rPr lang="en-US" sz="1867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endParaRPr sz="1867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123387" y="5675885"/>
            <a:ext cx="6304330" cy="886848"/>
          </a:xfrm>
          <a:custGeom>
            <a:avLst/>
            <a:gdLst/>
            <a:ahLst/>
            <a:cxnLst/>
            <a:rect l="l" t="t" r="r" b="b"/>
            <a:pathLst>
              <a:path w="9456495" h="1330272" extrusionOk="0">
                <a:moveTo>
                  <a:pt x="0" y="0"/>
                </a:moveTo>
                <a:lnTo>
                  <a:pt x="9456495" y="0"/>
                </a:lnTo>
                <a:lnTo>
                  <a:pt x="9456495" y="1330272"/>
                </a:lnTo>
                <a:lnTo>
                  <a:pt x="0" y="13302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1065159" y="893845"/>
            <a:ext cx="9021816" cy="66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6395"/>
              </a:lnSpc>
              <a:buClr>
                <a:srgbClr val="000000"/>
              </a:buClr>
              <a:buSzPts val="5599"/>
            </a:pPr>
            <a:r>
              <a:rPr lang="en-US" sz="3733" b="1" dirty="0" err="1">
                <a:latin typeface="Arial"/>
                <a:ea typeface="Arial"/>
                <a:cs typeface="Arial"/>
                <a:sym typeface="Arial"/>
              </a:rPr>
              <a:t>Comandos</a:t>
            </a:r>
            <a:r>
              <a:rPr lang="en-US" sz="3733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33" b="1" dirty="0" err="1">
                <a:latin typeface="Arial"/>
                <a:ea typeface="Arial"/>
                <a:cs typeface="Arial"/>
                <a:sym typeface="Arial"/>
              </a:rPr>
              <a:t>Iniciais</a:t>
            </a:r>
            <a:r>
              <a:rPr lang="en-US" sz="3733" b="1" dirty="0">
                <a:latin typeface="Arial"/>
                <a:ea typeface="Arial"/>
                <a:cs typeface="Arial"/>
                <a:sym typeface="Arial"/>
              </a:rPr>
              <a:t> SQL</a:t>
            </a:r>
            <a:endParaRPr sz="933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 rot="-7649932" flipH="1">
            <a:off x="2325020" y="5411080"/>
            <a:ext cx="1445968" cy="914575"/>
          </a:xfrm>
          <a:custGeom>
            <a:avLst/>
            <a:gdLst/>
            <a:ahLst/>
            <a:cxnLst/>
            <a:rect l="l" t="t" r="r" b="b"/>
            <a:pathLst>
              <a:path w="2164492" h="1369041" extrusionOk="0">
                <a:moveTo>
                  <a:pt x="0" y="1369041"/>
                </a:moveTo>
                <a:lnTo>
                  <a:pt x="2164491" y="1369041"/>
                </a:lnTo>
                <a:lnTo>
                  <a:pt x="2164491" y="0"/>
                </a:lnTo>
                <a:lnTo>
                  <a:pt x="0" y="0"/>
                </a:lnTo>
                <a:lnTo>
                  <a:pt x="0" y="136904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/>
          <p:nvPr/>
        </p:nvSpPr>
        <p:spPr>
          <a:xfrm>
            <a:off x="1065159" y="1735429"/>
            <a:ext cx="8939791" cy="4137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Sintaxe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Básica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comando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CREATE TABLE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endParaRPr sz="1867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r>
              <a:rPr lang="en-US" sz="1867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 TABLE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nome_da_tabela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nome_coluna1 tipo_dado1 [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restrições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],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nome_coluna2 tipo_dado2 [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restrições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],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...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[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restrições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867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tabela</a:t>
            </a: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r>
              <a:rPr lang="en-US" sz="1867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sz="933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endParaRPr sz="1867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44000"/>
              </a:lnSpc>
              <a:buClr>
                <a:srgbClr val="000000"/>
              </a:buClr>
              <a:buSzPts val="2800"/>
            </a:pPr>
            <a:endParaRPr sz="1867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104258" y="4303694"/>
            <a:ext cx="6696890" cy="1954500"/>
          </a:xfrm>
          <a:custGeom>
            <a:avLst/>
            <a:gdLst/>
            <a:ahLst/>
            <a:cxnLst/>
            <a:rect l="l" t="t" r="r" b="b"/>
            <a:pathLst>
              <a:path w="10045335" h="2931750" extrusionOk="0">
                <a:moveTo>
                  <a:pt x="0" y="0"/>
                </a:moveTo>
                <a:lnTo>
                  <a:pt x="10045335" y="0"/>
                </a:lnTo>
                <a:lnTo>
                  <a:pt x="10045335" y="2931750"/>
                </a:lnTo>
                <a:lnTo>
                  <a:pt x="0" y="2931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092059" y="3758916"/>
            <a:ext cx="1442995" cy="912694"/>
          </a:xfrm>
          <a:custGeom>
            <a:avLst/>
            <a:gdLst/>
            <a:ahLst/>
            <a:cxnLst/>
            <a:rect l="l" t="t" r="r" b="b"/>
            <a:pathLst>
              <a:path w="2164492" h="1369041" extrusionOk="0">
                <a:moveTo>
                  <a:pt x="0" y="0"/>
                </a:moveTo>
                <a:lnTo>
                  <a:pt x="2164492" y="0"/>
                </a:lnTo>
                <a:lnTo>
                  <a:pt x="2164492" y="1369041"/>
                </a:lnTo>
                <a:lnTo>
                  <a:pt x="0" y="13690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740190" y="1520517"/>
            <a:ext cx="4061887" cy="1736129"/>
          </a:xfrm>
          <a:custGeom>
            <a:avLst/>
            <a:gdLst/>
            <a:ahLst/>
            <a:cxnLst/>
            <a:rect l="l" t="t" r="r" b="b"/>
            <a:pathLst>
              <a:path w="6092830" h="2604194" extrusionOk="0">
                <a:moveTo>
                  <a:pt x="0" y="0"/>
                </a:moveTo>
                <a:lnTo>
                  <a:pt x="6092830" y="0"/>
                </a:lnTo>
                <a:lnTo>
                  <a:pt x="6092830" y="2604194"/>
                </a:lnTo>
                <a:lnTo>
                  <a:pt x="0" y="26041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1455684" y="545569"/>
            <a:ext cx="10079091" cy="66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16395"/>
              </a:lnSpc>
              <a:buClr>
                <a:srgbClr val="000000"/>
              </a:buClr>
              <a:buSzPts val="5599"/>
            </a:pPr>
            <a:r>
              <a:rPr lang="en-US" sz="3733" b="1" dirty="0" err="1">
                <a:latin typeface="Arial"/>
                <a:ea typeface="Arial"/>
                <a:cs typeface="Arial"/>
                <a:sym typeface="Arial"/>
              </a:rPr>
              <a:t>Comandos</a:t>
            </a:r>
            <a:r>
              <a:rPr lang="en-US" sz="3733" b="1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733" b="1" dirty="0" err="1">
                <a:latin typeface="Arial"/>
                <a:ea typeface="Arial"/>
                <a:cs typeface="Arial"/>
                <a:sym typeface="Arial"/>
              </a:rPr>
              <a:t>Iniciais</a:t>
            </a:r>
            <a:r>
              <a:rPr lang="en-US" sz="3733" b="1" dirty="0">
                <a:latin typeface="Arial"/>
                <a:ea typeface="Arial"/>
                <a:cs typeface="Arial"/>
                <a:sym typeface="Arial"/>
              </a:rPr>
              <a:t> SQL</a:t>
            </a:r>
            <a:endParaRPr sz="933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 rot="10800000" flipH="1">
            <a:off x="5179503" y="2258614"/>
            <a:ext cx="1442995" cy="912694"/>
          </a:xfrm>
          <a:custGeom>
            <a:avLst/>
            <a:gdLst/>
            <a:ahLst/>
            <a:cxnLst/>
            <a:rect l="l" t="t" r="r" b="b"/>
            <a:pathLst>
              <a:path w="2164492" h="1369041" extrusionOk="0">
                <a:moveTo>
                  <a:pt x="0" y="1369041"/>
                </a:moveTo>
                <a:lnTo>
                  <a:pt x="2164491" y="1369041"/>
                </a:lnTo>
                <a:lnTo>
                  <a:pt x="2164491" y="0"/>
                </a:lnTo>
                <a:lnTo>
                  <a:pt x="0" y="0"/>
                </a:lnTo>
                <a:lnTo>
                  <a:pt x="0" y="136904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25311-B713-74A1-E531-9DA0A4973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121920" tIns="60960" rIns="121920" bIns="60960" rtlCol="0" anchor="t">
            <a:normAutofit/>
          </a:bodyPr>
          <a:lstStyle/>
          <a:p>
            <a:r>
              <a:rPr lang="pt-BR" dirty="0">
                <a:solidFill>
                  <a:srgbClr val="007639"/>
                </a:solidFill>
              </a:rPr>
              <a:t>Criando uma tabela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500D8B-08A2-99F8-1D6E-2318513BB87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19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0A2A338-AD78-E781-C0C1-B145E9083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49" y="1213131"/>
            <a:ext cx="5814984" cy="507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45798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366487" cy="1320800"/>
          </a:xfrm>
        </p:spPr>
        <p:txBody>
          <a:bodyPr/>
          <a:lstStyle/>
          <a:p>
            <a:r>
              <a:rPr lang="pt-BR" dirty="0"/>
              <a:t>Restrições (</a:t>
            </a:r>
            <a:r>
              <a:rPr lang="pt-BR" dirty="0" err="1"/>
              <a:t>constraints</a:t>
            </a:r>
            <a:r>
              <a:rPr lang="pt-BR" dirty="0"/>
              <a:t>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D70280-4F71-7369-6DDC-3BB772C1B8E1}"/>
              </a:ext>
            </a:extLst>
          </p:cNvPr>
          <p:cNvSpPr txBox="1"/>
          <p:nvPr/>
        </p:nvSpPr>
        <p:spPr>
          <a:xfrm>
            <a:off x="693562" y="1751861"/>
            <a:ext cx="1018893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Impõem regras que podem ser no nível da coluna ou no nível da tabela:</a:t>
            </a: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 NULL 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Não aceita valor nulo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UNIQUE 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Valor deve ser único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PRIMARY KEY  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Chave primária (não nulo e único)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FOREIGN KEY 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Chave estrangeira (deve ter valor correspondente na tabela mãe)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CHECK </a:t>
            </a: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 Define uma condição de valor para a coluna</a:t>
            </a:r>
            <a:endParaRPr lang="pt-BR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218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25311-B713-74A1-E531-9DA0A4973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121920" tIns="60960" rIns="121920" bIns="60960" rtlCol="0" anchor="t">
            <a:normAutofit/>
          </a:bodyPr>
          <a:lstStyle/>
          <a:p>
            <a:r>
              <a:rPr lang="pt-BR" dirty="0">
                <a:solidFill>
                  <a:srgbClr val="007639"/>
                </a:solidFill>
              </a:rPr>
              <a:t>A Restrição CHECK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500D8B-08A2-99F8-1D6E-2318513BB87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21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BC53BAB-FF0D-ED4A-2DD8-25868943D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752" y="3165094"/>
            <a:ext cx="8219833" cy="91331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19D7455-AF26-E104-5646-BDC59B8F1280}"/>
              </a:ext>
            </a:extLst>
          </p:cNvPr>
          <p:cNvSpPr txBox="1"/>
          <p:nvPr/>
        </p:nvSpPr>
        <p:spPr>
          <a:xfrm>
            <a:off x="428760" y="1616282"/>
            <a:ext cx="101889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Define uma condição que cada linha deve satisfazer</a:t>
            </a:r>
          </a:p>
        </p:txBody>
      </p:sp>
    </p:spTree>
    <p:extLst>
      <p:ext uri="{BB962C8B-B14F-4D97-AF65-F5344CB8AC3E}">
        <p14:creationId xmlns:p14="http://schemas.microsoft.com/office/powerpoint/2010/main" val="1349647985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040B3-1F00-2F8C-9677-2C256F21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692459"/>
          </a:xfrm>
        </p:spPr>
        <p:txBody>
          <a:bodyPr vert="horz" lIns="121920" tIns="60960" rIns="121920" bIns="60960" rtlCol="0" anchor="t">
            <a:normAutofit fontScale="90000"/>
          </a:bodyPr>
          <a:lstStyle/>
          <a:p>
            <a:r>
              <a:rPr lang="pt-BR" dirty="0">
                <a:solidFill>
                  <a:srgbClr val="007639"/>
                </a:solidFill>
              </a:rPr>
              <a:t>Exemplo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C6E8719-A5D0-48F8-9932-10CA9F18A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302059"/>
            <a:ext cx="10128023" cy="409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92864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040B3-1F00-2F8C-9677-2C256F21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692459"/>
          </a:xfrm>
        </p:spPr>
        <p:txBody>
          <a:bodyPr vert="horz" lIns="121920" tIns="60960" rIns="121920" bIns="60960" rtlCol="0" anchor="t">
            <a:normAutofit fontScale="90000"/>
          </a:bodyPr>
          <a:lstStyle/>
          <a:p>
            <a:pPr algn="ctr"/>
            <a:r>
              <a:rPr lang="pt-BR" dirty="0"/>
              <a:t>A Restrição </a:t>
            </a:r>
            <a:r>
              <a:rPr lang="pt-BR" dirty="0" err="1"/>
              <a:t>Foreign</a:t>
            </a:r>
            <a:r>
              <a:rPr lang="pt-BR" dirty="0"/>
              <a:t> Key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8379D22-9EA6-4A05-BAD3-646F8F35B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5" y="1819895"/>
            <a:ext cx="8419076" cy="357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18110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366487" cy="1320800"/>
          </a:xfrm>
        </p:spPr>
        <p:txBody>
          <a:bodyPr/>
          <a:lstStyle/>
          <a:p>
            <a:r>
              <a:rPr lang="pt-BR" dirty="0"/>
              <a:t>A instrução ALTER TABLE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3D70280-4F71-7369-6DDC-3BB772C1B8E1}"/>
              </a:ext>
            </a:extLst>
          </p:cNvPr>
          <p:cNvSpPr txBox="1"/>
          <p:nvPr/>
        </p:nvSpPr>
        <p:spPr>
          <a:xfrm>
            <a:off x="693562" y="1751860"/>
            <a:ext cx="1018893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0990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Use a instrução ALTER TABLE para:</a:t>
            </a:r>
          </a:p>
          <a:p>
            <a:pPr marL="990575" lvl="1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Adicionar uma nova coluna</a:t>
            </a:r>
          </a:p>
          <a:p>
            <a:pPr marL="990575" lvl="1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Modificar uma coluna existente</a:t>
            </a:r>
          </a:p>
          <a:p>
            <a:pPr marL="990575" lvl="1" indent="-38099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Definir um valor default para a nova coluna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37A9FCE-5053-5963-3706-398D1D804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412" y="4142996"/>
            <a:ext cx="7209499" cy="231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955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366487" cy="1320800"/>
          </a:xfrm>
        </p:spPr>
        <p:txBody>
          <a:bodyPr/>
          <a:lstStyle/>
          <a:p>
            <a:r>
              <a:rPr lang="pt-BR" dirty="0"/>
              <a:t>Exemplos de ALTER TABLE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16DE569-B4EE-E4EF-8109-63C77E77C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5" y="1691527"/>
            <a:ext cx="7052817" cy="490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75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366487" cy="1320800"/>
          </a:xfrm>
        </p:spPr>
        <p:txBody>
          <a:bodyPr/>
          <a:lstStyle/>
          <a:p>
            <a:r>
              <a:rPr lang="pt-BR" dirty="0"/>
              <a:t>Adicionando </a:t>
            </a:r>
            <a:r>
              <a:rPr lang="pt-BR" dirty="0" err="1"/>
              <a:t>constraint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7FAE460-C54C-4C89-C6E3-7FB7A3BDF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50" y="2199872"/>
            <a:ext cx="7393101" cy="151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626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18CBB-87B7-39DE-17D0-B97C6B01C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10366487" cy="1320800"/>
          </a:xfrm>
        </p:spPr>
        <p:txBody>
          <a:bodyPr/>
          <a:lstStyle/>
          <a:p>
            <a:r>
              <a:rPr lang="pt-BR" dirty="0"/>
              <a:t>Exclusão de coluna e de tabela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C2E42B3-1622-F297-B7DE-58BDC73CA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09" y="2121296"/>
            <a:ext cx="7557763" cy="261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916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5040B3-1F00-2F8C-9677-2C256F212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692459"/>
          </a:xfrm>
        </p:spPr>
        <p:txBody>
          <a:bodyPr vert="horz" lIns="121920" tIns="60960" rIns="121920" bIns="60960" rtlCol="0" anchor="t">
            <a:normAutofit fontScale="90000"/>
          </a:bodyPr>
          <a:lstStyle/>
          <a:p>
            <a:r>
              <a:rPr lang="pt-BR" dirty="0">
                <a:solidFill>
                  <a:srgbClr val="007639"/>
                </a:solidFill>
              </a:rPr>
              <a:t>Exclusão de coluna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ECBAF77-255D-40EB-6AA5-CFB4186C6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166" y="2697800"/>
            <a:ext cx="5031569" cy="1717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48316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2F83D-8FD1-07E9-33FB-B5524C6E9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Inserindo registro nas tabelas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6CBC91B-AE20-FD93-02CC-FEBC5CD57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42" y="2130002"/>
            <a:ext cx="11481625" cy="292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3152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"/>
          <p:cNvSpPr/>
          <p:nvPr/>
        </p:nvSpPr>
        <p:spPr>
          <a:xfrm>
            <a:off x="153739" y="1141815"/>
            <a:ext cx="6599082" cy="2346609"/>
          </a:xfrm>
          <a:custGeom>
            <a:avLst/>
            <a:gdLst/>
            <a:ahLst/>
            <a:cxnLst/>
            <a:rect l="l" t="t" r="r" b="b"/>
            <a:pathLst>
              <a:path w="8786660" h="3373021" extrusionOk="0">
                <a:moveTo>
                  <a:pt x="0" y="0"/>
                </a:moveTo>
                <a:lnTo>
                  <a:pt x="8786660" y="0"/>
                </a:lnTo>
                <a:lnTo>
                  <a:pt x="8786660" y="3373021"/>
                </a:lnTo>
                <a:lnTo>
                  <a:pt x="0" y="3373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455381" y="3865651"/>
            <a:ext cx="4672961" cy="2359845"/>
          </a:xfrm>
          <a:custGeom>
            <a:avLst/>
            <a:gdLst/>
            <a:ahLst/>
            <a:cxnLst/>
            <a:rect l="l" t="t" r="r" b="b"/>
            <a:pathLst>
              <a:path w="7009441" h="3539768" extrusionOk="0">
                <a:moveTo>
                  <a:pt x="0" y="0"/>
                </a:moveTo>
                <a:lnTo>
                  <a:pt x="7009441" y="0"/>
                </a:lnTo>
                <a:lnTo>
                  <a:pt x="7009441" y="3539767"/>
                </a:lnTo>
                <a:lnTo>
                  <a:pt x="0" y="35397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6922933" y="1069654"/>
            <a:ext cx="4610630" cy="4718692"/>
          </a:xfrm>
          <a:custGeom>
            <a:avLst/>
            <a:gdLst/>
            <a:ahLst/>
            <a:cxnLst/>
            <a:rect l="l" t="t" r="r" b="b"/>
            <a:pathLst>
              <a:path w="6915945" h="7078038" extrusionOk="0">
                <a:moveTo>
                  <a:pt x="0" y="0"/>
                </a:moveTo>
                <a:lnTo>
                  <a:pt x="6915945" y="0"/>
                </a:lnTo>
                <a:lnTo>
                  <a:pt x="6915945" y="7078038"/>
                </a:lnTo>
                <a:lnTo>
                  <a:pt x="0" y="7078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27181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2F83D-8FD1-07E9-33FB-B5524C6E9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365125"/>
            <a:ext cx="11363325" cy="663575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Exemplo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6A9672D-C7CA-45BB-8F4B-B7B4393CF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412" y="1128712"/>
            <a:ext cx="3948113" cy="560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0431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610</Words>
  <Application>Microsoft Office PowerPoint</Application>
  <PresentationFormat>Widescreen</PresentationFormat>
  <Paragraphs>109</Paragraphs>
  <Slides>31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Tema do Office</vt:lpstr>
      <vt:lpstr>Banco de Dados Prof. Perini</vt:lpstr>
      <vt:lpstr>Apresentação do PowerPoint</vt:lpstr>
      <vt:lpstr>Apresentação do PowerPoint</vt:lpstr>
      <vt:lpstr>Exercício 1</vt:lpstr>
      <vt:lpstr>Exercício 1</vt:lpstr>
      <vt:lpstr>Exercício 1</vt:lpstr>
      <vt:lpstr>Exercício 2</vt:lpstr>
      <vt:lpstr>Exercício 2</vt:lpstr>
      <vt:lpstr>Exercício 2</vt:lpstr>
      <vt:lpstr>Linguagem SQL</vt:lpstr>
      <vt:lpstr>Categorias de Comandos da Linguagem SQL</vt:lpstr>
      <vt:lpstr>Apresentação do PowerPoint</vt:lpstr>
      <vt:lpstr>Instruções SQL</vt:lpstr>
      <vt:lpstr>Criação de tabelas – Regras de Nomenclatura</vt:lpstr>
      <vt:lpstr>A instrução CREATE TABLE</vt:lpstr>
      <vt:lpstr>Tipos de dados</vt:lpstr>
      <vt:lpstr>Apresentação do PowerPoint</vt:lpstr>
      <vt:lpstr>Apresentação do PowerPoint</vt:lpstr>
      <vt:lpstr>Criando uma tabela</vt:lpstr>
      <vt:lpstr>Restrições (constraints)</vt:lpstr>
      <vt:lpstr>A Restrição CHECK</vt:lpstr>
      <vt:lpstr>Exemplo</vt:lpstr>
      <vt:lpstr>A Restrição Foreign Key</vt:lpstr>
      <vt:lpstr>A instrução ALTER TABLE</vt:lpstr>
      <vt:lpstr>Exemplos de ALTER TABLE</vt:lpstr>
      <vt:lpstr>Adicionando constraint</vt:lpstr>
      <vt:lpstr>Exclusão de coluna e de tabela</vt:lpstr>
      <vt:lpstr>Exclusão de coluna</vt:lpstr>
      <vt:lpstr>Inserindo registro nas tabelas </vt:lpstr>
      <vt:lpstr>Apresentação do PowerPoint</vt:lpstr>
      <vt:lpstr>Exemplo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 Prof. Perini</dc:title>
  <dc:creator>User</dc:creator>
  <cp:lastModifiedBy>José Carlos Perini</cp:lastModifiedBy>
  <cp:revision>69</cp:revision>
  <cp:lastPrinted>2025-08-19T18:54:46Z</cp:lastPrinted>
  <dcterms:created xsi:type="dcterms:W3CDTF">2024-02-07T18:08:06Z</dcterms:created>
  <dcterms:modified xsi:type="dcterms:W3CDTF">2026-03-19T15:19:16Z</dcterms:modified>
</cp:coreProperties>
</file>