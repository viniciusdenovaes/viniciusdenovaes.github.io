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828" r:id="rId4"/>
    <p:sldId id="258" r:id="rId5"/>
    <p:sldId id="294" r:id="rId6"/>
    <p:sldId id="293" r:id="rId7"/>
    <p:sldId id="295" r:id="rId8"/>
    <p:sldId id="296" r:id="rId9"/>
    <p:sldId id="297" r:id="rId10"/>
    <p:sldId id="298" r:id="rId11"/>
    <p:sldId id="299" r:id="rId12"/>
    <p:sldId id="285" r:id="rId13"/>
    <p:sldId id="260" r:id="rId14"/>
    <p:sldId id="261" r:id="rId15"/>
    <p:sldId id="262" r:id="rId16"/>
    <p:sldId id="263" r:id="rId17"/>
    <p:sldId id="264" r:id="rId18"/>
    <p:sldId id="829" r:id="rId19"/>
    <p:sldId id="287" r:id="rId20"/>
    <p:sldId id="288" r:id="rId21"/>
    <p:sldId id="289" r:id="rId22"/>
    <p:sldId id="290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91" r:id="rId31"/>
    <p:sldId id="272" r:id="rId32"/>
    <p:sldId id="29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6:notes"/>
          <p:cNvSpPr txBox="1">
            <a:spLocks noGrp="1"/>
          </p:cNvSpPr>
          <p:nvPr>
            <p:ph type="body" idx="1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02" name="Google Shape;102;p16:notes"/>
          <p:cNvSpPr txBox="1">
            <a:spLocks noGrp="1"/>
          </p:cNvSpPr>
          <p:nvPr>
            <p:ph type="sldNum" idx="12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>
              <a:buSzPts val="1400"/>
            </a:pPr>
            <a:fld id="{00000000-1234-1234-1234-123412341234}" type="slidenum">
              <a:rPr lang="pt-BR"/>
              <a:pPr>
                <a:buSzPts val="1400"/>
              </a:p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1985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74364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1_Slide de Títul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75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kcdKf4L5CHn_5-o5Z5Ree9Gcy4kz-or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grada.minhabiblioteca.com.br/books/9788577804528" TargetMode="External"/><Relationship Id="rId2" Type="http://schemas.openxmlformats.org/officeDocument/2006/relationships/hyperlink" Target="https://integrada.minhabiblioteca.com.br/#/books/9788595154322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tegrada.minhabiblioteca.com.br/#/books/9788595157552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aforma.bvirtual.com.br/Leitor/Publicacao/168492/pdf/0" TargetMode="External"/><Relationship Id="rId2" Type="http://schemas.openxmlformats.org/officeDocument/2006/relationships/hyperlink" Target="https://integrada.minhabiblioteca.com.br/#/books/9788595157552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1 - Conceitos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F54D7-1629-47C9-8C81-3F226982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853" y="175850"/>
            <a:ext cx="9316948" cy="1143001"/>
          </a:xfrm>
        </p:spPr>
        <p:txBody>
          <a:bodyPr/>
          <a:lstStyle/>
          <a:p>
            <a:r>
              <a:rPr lang="pt-BR" b="1" dirty="0"/>
              <a:t>Prof. José Carlos </a:t>
            </a:r>
            <a:r>
              <a:rPr lang="pt-BR" b="1" u="sng" dirty="0"/>
              <a:t>Perini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862DC9-1C0E-4649-B3C8-1D6BD5CA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4183" y="1053597"/>
            <a:ext cx="7753165" cy="5391443"/>
          </a:xfrm>
        </p:spPr>
        <p:txBody>
          <a:bodyPr>
            <a:normAutofit fontScale="85000" lnSpcReduction="20000"/>
          </a:bodyPr>
          <a:lstStyle/>
          <a:p>
            <a:pPr marL="800069" lvl="1" indent="-342891" defTabSz="914354">
              <a:lnSpc>
                <a:spcPct val="70000"/>
              </a:lnSpc>
              <a:spcBef>
                <a:spcPts val="451"/>
              </a:spcBef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Formação em  Análise de Sistemas – Univ. S. Francisco</a:t>
            </a:r>
          </a:p>
          <a:p>
            <a:pPr marL="800069" lvl="1" indent="-342891" defTabSz="914354">
              <a:lnSpc>
                <a:spcPct val="70000"/>
              </a:lnSpc>
              <a:spcBef>
                <a:spcPts val="451"/>
              </a:spcBef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Mestrado em Ciência da Computação – UNIMEP</a:t>
            </a:r>
          </a:p>
          <a:p>
            <a:pPr marL="800069" lvl="1" indent="-342891" defTabSz="914354">
              <a:lnSpc>
                <a:spcPct val="70000"/>
              </a:lnSpc>
              <a:spcBef>
                <a:spcPts val="451"/>
              </a:spcBef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Oracle </a:t>
            </a:r>
            <a:r>
              <a:rPr lang="pt-BR" sz="1733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Certified</a:t>
            </a: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Professional, Java SE 6 </a:t>
            </a:r>
            <a:r>
              <a:rPr lang="pt-BR" sz="1733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Programmer</a:t>
            </a:r>
            <a:endParaRPr lang="pt-BR" sz="17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00069" lvl="1" indent="-342891" defTabSz="914354">
              <a:lnSpc>
                <a:spcPct val="70000"/>
              </a:lnSpc>
              <a:spcBef>
                <a:spcPts val="451"/>
              </a:spcBef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Pós-graduado em Data Science - Descomplica</a:t>
            </a:r>
          </a:p>
          <a:p>
            <a:pPr marL="800069" lvl="1" indent="-342891" defTabSz="914354">
              <a:lnSpc>
                <a:spcPct val="70000"/>
              </a:lnSpc>
              <a:spcBef>
                <a:spcPts val="451"/>
              </a:spcBef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Professor desde 1996</a:t>
            </a:r>
          </a:p>
          <a:p>
            <a:pPr marL="800069" lvl="1" indent="-342891" defTabSz="914354">
              <a:lnSpc>
                <a:spcPct val="70000"/>
              </a:lnSpc>
              <a:spcBef>
                <a:spcPts val="451"/>
              </a:spcBef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endParaRPr lang="pt-BR" sz="186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64692" lvl="1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UniMetrocamp</a:t>
            </a: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- de  2003 a 2019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Algoritmos Computacionais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Estruturas de Dados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Programação Orientada a Objetos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endParaRPr lang="pt-BR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03734" lvl="1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Universidade São Francisco – desde 2023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Lógica de Programação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Banco de Dados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endParaRPr lang="pt-BR" sz="17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03734" lvl="1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Saint Leo </a:t>
            </a:r>
            <a:r>
              <a:rPr lang="pt-BR" sz="1733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University</a:t>
            </a: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desde 2023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Sistemas Computacionais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Programação em C/C++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Programação em Java</a:t>
            </a:r>
            <a:endParaRPr lang="pt-BR" sz="17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487096" lvl="3" indent="0" defTabSz="914354">
              <a:lnSpc>
                <a:spcPct val="70000"/>
              </a:lnSpc>
              <a:buNone/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endParaRPr lang="pt-BR" sz="17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64692" lvl="1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Descomplica  - de  2021 a 2023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Desenvolvendo Soluções Web Responsivas com UX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Programação Extrema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Criação de Aplicações e Sistemas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Estruturas de Dados para Sistemas Inteligentes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endParaRPr lang="pt-BR" sz="133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64692" lvl="1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UNIP  - desde 2024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Banco de Dados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Linguagem de Programação Orientada a Objetos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Introdução a Programação Estruturada</a:t>
            </a:r>
          </a:p>
          <a:p>
            <a:pPr marL="1139142" lvl="2" indent="-342891" defTabSz="914354">
              <a:lnSpc>
                <a:spcPct val="70000"/>
              </a:lnSpc>
              <a:tabLst>
                <a:tab pos="338122" algn="l"/>
                <a:tab pos="442892" algn="l"/>
                <a:tab pos="892130" algn="l"/>
                <a:tab pos="1341372" algn="l"/>
                <a:tab pos="1790610" algn="l"/>
                <a:tab pos="2239851" algn="l"/>
                <a:tab pos="2689091" algn="l"/>
                <a:tab pos="3138332" algn="l"/>
                <a:tab pos="3587572" algn="l"/>
                <a:tab pos="4036811" algn="l"/>
                <a:tab pos="4486051" algn="l"/>
                <a:tab pos="4935291" algn="l"/>
                <a:tab pos="5384531" algn="l"/>
                <a:tab pos="5833771" algn="l"/>
                <a:tab pos="6283011" algn="l"/>
                <a:tab pos="6732252" algn="l"/>
                <a:tab pos="7181491" algn="l"/>
                <a:tab pos="7630732" algn="l"/>
                <a:tab pos="8079971" algn="l"/>
                <a:tab pos="8529212" algn="l"/>
                <a:tab pos="8978452" algn="l"/>
              </a:tabLst>
              <a:defRPr/>
            </a:pPr>
            <a:r>
              <a:rPr lang="pt-BR" sz="13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Tópicos Especiais de Programação Orientada a Objetos</a:t>
            </a:r>
          </a:p>
          <a:p>
            <a:pPr lvl="1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pt-BR" sz="186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  <a:p>
            <a:pPr lvl="1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pt-BR" sz="1733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Canal: www.youtube.com/profperini</a:t>
            </a:r>
            <a:endParaRPr lang="pt-BR" sz="186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Imagem 5" descr="Homem de camisa branca&#10;&#10;Descrição gerada automaticamente">
            <a:extLst>
              <a:ext uri="{FF2B5EF4-FFF2-40B4-BE49-F238E27FC236}">
                <a16:creationId xmlns:a16="http://schemas.microsoft.com/office/drawing/2014/main" id="{57B5805A-F9D2-4F68-952C-C7AD66F5F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6196" y="1330688"/>
            <a:ext cx="6190076" cy="464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2244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14057"/>
            <a:ext cx="8229600" cy="695180"/>
          </a:xfrm>
        </p:spPr>
        <p:txBody>
          <a:bodyPr>
            <a:noAutofit/>
          </a:bodyPr>
          <a:lstStyle/>
          <a:p>
            <a:r>
              <a:rPr lang="pt-BR" sz="4267" dirty="0"/>
              <a:t>www.youtube.com/profperini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50" y="1028323"/>
            <a:ext cx="927735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6715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AA4B6-9FE1-0783-2574-4823E790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da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C3ABF-90FD-EA68-BEF1-B52E4F3B7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90"/>
            <a:ext cx="10912983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hlinkClick r:id="rId2"/>
              </a:rPr>
              <a:t>https://drive.google.com/drive/folders/1kcdKf4L5CHn_5-o5Z5Ree9Gcy4kz-orE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403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I – EMENTA</a:t>
            </a:r>
            <a:endParaRPr lang="pt-BR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Evolução dos </a:t>
            </a:r>
            <a:r>
              <a:rPr lang="pt-BR" dirty="0" err="1"/>
              <a:t>SGBDs</a:t>
            </a:r>
            <a:r>
              <a:rPr lang="pt-BR" dirty="0"/>
              <a:t>. Arquitetura geral dos </a:t>
            </a:r>
            <a:r>
              <a:rPr lang="pt-BR" dirty="0" err="1"/>
              <a:t>SGBDs</a:t>
            </a:r>
            <a:r>
              <a:rPr lang="pt-BR" dirty="0"/>
              <a:t>. Modelagem de dados. Modelo ER. Modelo Relacional. As formas normais. Normalização. Linguagens de definição e manipulação de dados. Álgebra e cálculo relacional. Operações com relações e mapeamento para SQL.</a:t>
            </a:r>
          </a:p>
          <a:p>
            <a:br>
              <a:rPr lang="pt-BR" dirty="0"/>
            </a:br>
            <a:br>
              <a:rPr lang="pt-BR" dirty="0"/>
            </a:br>
            <a:r>
              <a:rPr lang="pt-BR" b="1" dirty="0"/>
              <a:t>II – OBJETIVOS GERAIS</a:t>
            </a:r>
            <a:endParaRPr lang="pt-BR" dirty="0"/>
          </a:p>
          <a:p>
            <a:br>
              <a:rPr lang="pt-BR" dirty="0"/>
            </a:br>
            <a:r>
              <a:rPr lang="pt-BR" dirty="0"/>
              <a:t>Familiarizar o aluno com as tecnologias e metodologias para desenvolvimento de aplicações de maior grau de complexidade.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188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br>
              <a:rPr lang="pt-BR" dirty="0"/>
            </a:br>
            <a:r>
              <a:rPr lang="pt-BR" b="1" dirty="0"/>
              <a:t>III – OBJETIVOS ESPECÍFICOS</a:t>
            </a:r>
            <a:endParaRPr lang="pt-BR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Capacitar o aluno a implementar soluções utilizando bancos de dados apresentando as diversas tecnologias da área.</a:t>
            </a:r>
          </a:p>
          <a:p>
            <a:pPr marL="0" indent="0">
              <a:buNone/>
            </a:pPr>
            <a:br>
              <a:rPr lang="pt-BR" dirty="0"/>
            </a:br>
            <a:br>
              <a:rPr lang="pt-BR" dirty="0"/>
            </a:br>
            <a:r>
              <a:rPr lang="pt-BR" b="1" dirty="0"/>
              <a:t>IV – COMPETÊNCIAS</a:t>
            </a:r>
            <a:endParaRPr lang="pt-BR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Compreender a forma como dados são armazenados em um computador. Entender as estruturas dos processos de armazenamento dos dados e como projetá-las. Apropriar-se da técnica para inter-relacionar dados de forma lógica e estruturada.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254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45837" y="1437697"/>
            <a:ext cx="10515600" cy="51016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b="1" dirty="0"/>
              <a:t>V – CONTEÚDO PROGRAMÁTICO</a:t>
            </a:r>
            <a:endParaRPr lang="pt-BR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pt-BR" sz="1600" dirty="0"/>
            </a:br>
            <a:r>
              <a:rPr lang="pt-BR" sz="1600" dirty="0"/>
              <a:t>Sistemas de Gerência de Bancos de Dados (</a:t>
            </a:r>
            <a:r>
              <a:rPr lang="pt-BR" sz="1600" dirty="0" err="1"/>
              <a:t>SGBDs</a:t>
            </a:r>
            <a:r>
              <a:rPr lang="pt-BR" sz="1600" dirty="0"/>
              <a:t>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Definições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Funções básicas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Arquitetura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Dicionário de dados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Módulos principais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pt-BR" sz="1600" dirty="0"/>
            </a:br>
            <a:r>
              <a:rPr lang="pt-BR" sz="1600" dirty="0"/>
              <a:t>Modelos de Bancos de Dados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Modelos hierárquicos, rede e relacional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Modelo relacional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Fundamentação teórica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Estrutura relacional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Restrições de integridade básicas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Manipulação e álgebra relacional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Integridade semântica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Visões</a:t>
            </a:r>
          </a:p>
        </p:txBody>
      </p:sp>
    </p:spTree>
    <p:extLst>
      <p:ext uri="{BB962C8B-B14F-4D97-AF65-F5344CB8AC3E}">
        <p14:creationId xmlns:p14="http://schemas.microsoft.com/office/powerpoint/2010/main" val="269828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45837" y="1437698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b="1" dirty="0"/>
              <a:t>V – CONTEÚDO PROGRAMÁTICO (continuação)</a:t>
            </a:r>
            <a:endParaRPr lang="pt-BR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pt-BR" sz="1800" dirty="0"/>
            </a:br>
            <a:r>
              <a:rPr lang="pt-BR" sz="1800" dirty="0"/>
              <a:t>Projeto de Bancos de Dados Relacionais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dirty="0"/>
              <a:t>Etapas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dirty="0"/>
              <a:t>Modelo conceitual: diagrama entidade-relacionamento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dirty="0"/>
              <a:t>Modelo lógico: mapeamento do modelo conceitual para o modelo relacional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800" dirty="0"/>
              <a:t>Normalização</a:t>
            </a:r>
          </a:p>
        </p:txBody>
      </p:sp>
    </p:spTree>
    <p:extLst>
      <p:ext uri="{BB962C8B-B14F-4D97-AF65-F5344CB8AC3E}">
        <p14:creationId xmlns:p14="http://schemas.microsoft.com/office/powerpoint/2010/main" val="3214912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455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/>
              <a:t>VI – ESTRATÉGIA DE TRABALHO</a:t>
            </a:r>
            <a:endParaRPr lang="pt-BR" sz="2000" dirty="0"/>
          </a:p>
          <a:p>
            <a:pPr marL="0" indent="0" algn="just">
              <a:buNone/>
            </a:pPr>
            <a:br>
              <a:rPr lang="pt-BR" sz="2000" dirty="0"/>
            </a:br>
            <a:r>
              <a:rPr lang="pt-BR" sz="2000" dirty="0"/>
              <a:t>As disciplinas são ministradas preferencialmente por meio de aulas expositivas, metodologias ativas e diversificadas apoiadas nos planos de ensino. O desenvolvimento dos conceitos e conteúdos ocorre com apoio de propostas de leituras de livros e artigos científicos básicos e complementares, exercícios, discussões em fórum/chats ou presenciais - quando for o caso, sugestões de filmes, vídeos e demais recursos audiovisuais. Com o objetivo de aprofundar e enriquecer o domínio dos conhecimentos e incentivar a pesquisa, o docente pode propor trabalhos individuais ou em grupo, palestras, atividades complementares e práticas em diferentes cenários, que permitam aos alunos assimilarem os conhecimentos essenciais para sua formação.</a:t>
            </a:r>
          </a:p>
          <a:p>
            <a:pPr marL="0" indent="0" algn="just">
              <a:buNone/>
            </a:pPr>
            <a:br>
              <a:rPr lang="pt-BR" sz="2000" dirty="0"/>
            </a:br>
            <a:r>
              <a:rPr lang="pt-BR" sz="2000" b="1" dirty="0"/>
              <a:t>VII – AVALIAÇÃO</a:t>
            </a:r>
            <a:endParaRPr lang="pt-BR" sz="2000" dirty="0"/>
          </a:p>
          <a:p>
            <a:pPr marL="0" indent="0" algn="just">
              <a:buNone/>
            </a:pPr>
            <a:br>
              <a:rPr lang="pt-BR" sz="2000" dirty="0"/>
            </a:br>
            <a:r>
              <a:rPr lang="pt-BR" sz="2000" dirty="0"/>
              <a:t>A média do semestre será calculada de acordo com o Regimento da IES. As avaliações e o critério de aprovação seguem o determinado pela instituição, conforme divulgação feita no manual do aluno.</a:t>
            </a:r>
          </a:p>
        </p:txBody>
      </p:sp>
    </p:spTree>
    <p:extLst>
      <p:ext uri="{BB962C8B-B14F-4D97-AF65-F5344CB8AC3E}">
        <p14:creationId xmlns:p14="http://schemas.microsoft.com/office/powerpoint/2010/main" val="2203882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45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/>
              <a:t>VIII – BIBLIOGRAFIA</a:t>
            </a: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2000" b="1" dirty="0"/>
              <a:t>Básica</a:t>
            </a:r>
            <a:endParaRPr lang="pt-BR" sz="1600" dirty="0"/>
          </a:p>
          <a:p>
            <a:pPr marL="0" indent="0">
              <a:buNone/>
            </a:pPr>
            <a:br>
              <a:rPr lang="pt-BR" sz="1600" dirty="0"/>
            </a:br>
            <a:r>
              <a:rPr lang="pt-BR" sz="2000" dirty="0"/>
              <a:t>DATE, C. </a:t>
            </a:r>
            <a:r>
              <a:rPr lang="pt-BR" sz="2000" b="1" dirty="0"/>
              <a:t>Introdução a sistemas de bancos de dados</a:t>
            </a:r>
            <a:r>
              <a:rPr lang="pt-BR" sz="2000" dirty="0"/>
              <a:t>. Rio de Janeiro: </a:t>
            </a:r>
            <a:r>
              <a:rPr lang="pt-BR" sz="2000" dirty="0" err="1"/>
              <a:t>Elsevier</a:t>
            </a:r>
            <a:r>
              <a:rPr lang="pt-BR" sz="2000" dirty="0"/>
              <a:t>, 2003.</a:t>
            </a:r>
            <a:endParaRPr lang="pt-BR" sz="1600" dirty="0"/>
          </a:p>
          <a:p>
            <a:pPr marL="0" indent="0">
              <a:buNone/>
            </a:pPr>
            <a:r>
              <a:rPr lang="pt-BR" sz="2000" u="sng" dirty="0">
                <a:hlinkClick r:id="rId2"/>
              </a:rPr>
              <a:t>https://integrada.minhabiblioteca.com.br/#/books/9788595154322/</a:t>
            </a:r>
            <a:r>
              <a:rPr lang="pt-BR" sz="2000" dirty="0"/>
              <a:t>. Acesso em: 11 nov. 2022. </a:t>
            </a:r>
            <a:endParaRPr lang="pt-BR" sz="1600" dirty="0"/>
          </a:p>
          <a:p>
            <a:pPr marL="0" indent="0">
              <a:buNone/>
            </a:pPr>
            <a:br>
              <a:rPr lang="pt-BR" sz="1600" dirty="0"/>
            </a:br>
            <a:r>
              <a:rPr lang="pt-BR" sz="2000" dirty="0"/>
              <a:t>HEUSER, C. A. </a:t>
            </a:r>
            <a:r>
              <a:rPr lang="pt-BR" sz="2000" b="1" dirty="0"/>
              <a:t>Projeto de bancos de dados</a:t>
            </a:r>
            <a:r>
              <a:rPr lang="pt-BR" sz="2000" dirty="0"/>
              <a:t>. 6.ed. Porto Alegre: </a:t>
            </a:r>
            <a:r>
              <a:rPr lang="pt-BR" sz="2000" dirty="0" err="1"/>
              <a:t>Bookman</a:t>
            </a:r>
            <a:r>
              <a:rPr lang="pt-BR" sz="2000" dirty="0"/>
              <a:t>, 2009.</a:t>
            </a:r>
            <a:endParaRPr lang="pt-BR" sz="1600" dirty="0"/>
          </a:p>
          <a:p>
            <a:pPr marL="0" indent="0">
              <a:buNone/>
            </a:pPr>
            <a:r>
              <a:rPr lang="pt-BR" sz="2000" u="sng" dirty="0">
                <a:hlinkClick r:id="rId3"/>
              </a:rPr>
              <a:t>https://integrada.minhabiblioteca.com.br/books/9788577804528</a:t>
            </a:r>
            <a:r>
              <a:rPr lang="pt-BR" sz="2000" dirty="0"/>
              <a:t>. Acesso em: 11 nov. 2022</a:t>
            </a:r>
            <a:endParaRPr lang="pt-BR" sz="1600" dirty="0"/>
          </a:p>
          <a:p>
            <a:pPr marL="0" indent="0">
              <a:buNone/>
            </a:pPr>
            <a:br>
              <a:rPr lang="pt-BR" sz="1600" dirty="0"/>
            </a:br>
            <a:r>
              <a:rPr lang="pt-BR" sz="2000" dirty="0"/>
              <a:t>SILBERSCHATZ, A.; KORTH, H.; SUDARSHAN, S. </a:t>
            </a:r>
            <a:r>
              <a:rPr lang="pt-BR" sz="2000" b="1" dirty="0"/>
              <a:t>Sistemas de bancos de dados</a:t>
            </a:r>
            <a:r>
              <a:rPr lang="pt-BR" sz="2000" dirty="0"/>
              <a:t>. 7. ed. Rio de Janeiro: LTC, 2020. </a:t>
            </a:r>
            <a:endParaRPr lang="pt-BR" sz="1600" dirty="0"/>
          </a:p>
          <a:p>
            <a:pPr marL="0" indent="0">
              <a:buNone/>
            </a:pPr>
            <a:r>
              <a:rPr lang="pt-BR" sz="2000" dirty="0"/>
              <a:t>Disponível em: </a:t>
            </a:r>
            <a:r>
              <a:rPr lang="pt-BR" sz="2000" u="sng" dirty="0">
                <a:hlinkClick r:id="rId4"/>
              </a:rPr>
              <a:t>https://integrada.minhabiblioteca.com.br/#/books/9788595157552/</a:t>
            </a:r>
            <a:r>
              <a:rPr lang="pt-BR" sz="2000" dirty="0"/>
              <a:t>. Acesso em: 11 nov. 2022.</a:t>
            </a:r>
            <a:endParaRPr lang="pt-BR" sz="1600" dirty="0"/>
          </a:p>
          <a:p>
            <a:pPr marL="0" indent="0">
              <a:buNone/>
            </a:pPr>
            <a:br>
              <a:rPr lang="pt-BR" sz="1600" dirty="0"/>
            </a:b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9046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016721"/>
            <a:ext cx="10515600" cy="5476154"/>
          </a:xfrm>
        </p:spPr>
        <p:txBody>
          <a:bodyPr>
            <a:noAutofit/>
          </a:bodyPr>
          <a:lstStyle/>
          <a:p>
            <a:r>
              <a:rPr lang="pt-BR" sz="1800" b="1" dirty="0"/>
              <a:t>VIII – BIBLIOGRAFIA</a:t>
            </a:r>
            <a:endParaRPr lang="pt-BR" sz="1400" dirty="0"/>
          </a:p>
          <a:p>
            <a:br>
              <a:rPr lang="pt-BR" sz="1400" dirty="0"/>
            </a:br>
            <a:r>
              <a:rPr lang="pt-BR" sz="1800" b="1" dirty="0"/>
              <a:t>Complementar</a:t>
            </a:r>
            <a:endParaRPr lang="pt-BR" sz="1400" dirty="0"/>
          </a:p>
          <a:p>
            <a:br>
              <a:rPr lang="pt-BR" sz="1400" dirty="0"/>
            </a:br>
            <a:r>
              <a:rPr lang="pt-BR" sz="1800" dirty="0"/>
              <a:t>BATINI, C.; CERI, S.; NAVATHE, S. B. Conceptual </a:t>
            </a:r>
            <a:r>
              <a:rPr lang="pt-BR" sz="1800" dirty="0" err="1"/>
              <a:t>database</a:t>
            </a:r>
            <a:r>
              <a:rPr lang="pt-BR" sz="1800" dirty="0"/>
              <a:t> design: </a:t>
            </a:r>
            <a:r>
              <a:rPr lang="pt-BR" sz="1800" dirty="0" err="1"/>
              <a:t>an</a:t>
            </a:r>
            <a:r>
              <a:rPr lang="pt-BR" sz="1800" dirty="0"/>
              <a:t> </a:t>
            </a:r>
            <a:r>
              <a:rPr lang="pt-BR" sz="1800" dirty="0" err="1"/>
              <a:t>entity-relationship</a:t>
            </a:r>
            <a:r>
              <a:rPr lang="pt-BR" sz="1800" dirty="0"/>
              <a:t> approach. </a:t>
            </a:r>
            <a:r>
              <a:rPr lang="pt-BR" sz="1800" dirty="0" err="1"/>
              <a:t>Redwood</a:t>
            </a:r>
            <a:r>
              <a:rPr lang="pt-BR" sz="1800" dirty="0"/>
              <a:t> City, </a:t>
            </a:r>
            <a:r>
              <a:rPr lang="pt-BR" sz="1800" dirty="0" err="1"/>
              <a:t>Calif</a:t>
            </a:r>
            <a:r>
              <a:rPr lang="pt-BR" sz="1800" dirty="0"/>
              <a:t>.: Benjamin/</a:t>
            </a:r>
            <a:r>
              <a:rPr lang="pt-BR" sz="1800" dirty="0" err="1"/>
              <a:t>Cummings</a:t>
            </a:r>
            <a:r>
              <a:rPr lang="pt-BR" sz="1800" dirty="0"/>
              <a:t> Pub. </a:t>
            </a:r>
            <a:r>
              <a:rPr lang="pt-BR" sz="1800" dirty="0" err="1"/>
              <a:t>Co</a:t>
            </a:r>
            <a:r>
              <a:rPr lang="pt-BR" sz="1800" dirty="0"/>
              <a:t>., 1992.</a:t>
            </a:r>
            <a:endParaRPr lang="pt-BR" sz="1400" dirty="0"/>
          </a:p>
          <a:p>
            <a:br>
              <a:rPr lang="pt-BR" sz="1400" dirty="0"/>
            </a:br>
            <a:r>
              <a:rPr lang="pt-BR" sz="1800" dirty="0"/>
              <a:t>ELMASRI, R.; NAVATHE, S. B. Fundamentals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database</a:t>
            </a:r>
            <a:r>
              <a:rPr lang="pt-BR" sz="1800" dirty="0"/>
              <a:t> systems. Reading, Mass.: </a:t>
            </a:r>
            <a:r>
              <a:rPr lang="pt-BR" sz="1800" dirty="0" err="1"/>
              <a:t>Addison</a:t>
            </a:r>
            <a:r>
              <a:rPr lang="pt-BR" sz="1800" dirty="0"/>
              <a:t>-Wesley, 2002. </a:t>
            </a:r>
            <a:endParaRPr lang="pt-BR" sz="1400" dirty="0"/>
          </a:p>
          <a:p>
            <a:br>
              <a:rPr lang="pt-BR" sz="1400" dirty="0"/>
            </a:br>
            <a:r>
              <a:rPr lang="pt-BR" sz="1800" dirty="0"/>
              <a:t>SILBERSCHATZ, A.; KORTH, H.; SUDARSHAN, S. </a:t>
            </a:r>
            <a:r>
              <a:rPr lang="pt-BR" sz="1800" b="1" dirty="0"/>
              <a:t>Sistemas de bancos de dados</a:t>
            </a:r>
            <a:r>
              <a:rPr lang="pt-BR" sz="1800" dirty="0"/>
              <a:t>. 7. ed. Rio de Janeiro: LTC, 2020. </a:t>
            </a:r>
            <a:endParaRPr lang="pt-BR" sz="1400" dirty="0"/>
          </a:p>
          <a:p>
            <a:r>
              <a:rPr lang="pt-BR" sz="1800" dirty="0"/>
              <a:t>Disponível em: </a:t>
            </a:r>
            <a:r>
              <a:rPr lang="pt-BR" sz="1800" u="sng" dirty="0">
                <a:hlinkClick r:id="rId2"/>
              </a:rPr>
              <a:t>https://integrada.minhabiblioteca.com.br/#/books/9788595157552/</a:t>
            </a:r>
            <a:r>
              <a:rPr lang="pt-BR" sz="1800" dirty="0"/>
              <a:t>. Acesso em: 11 nov. 2022.</a:t>
            </a:r>
            <a:endParaRPr lang="pt-BR" sz="1400" dirty="0"/>
          </a:p>
          <a:p>
            <a:br>
              <a:rPr lang="pt-BR" sz="1400" dirty="0"/>
            </a:br>
            <a:r>
              <a:rPr lang="pt-BR" sz="1800" dirty="0"/>
              <a:t>ELMASRI, Ramez. Sistema de Banco de Dados - Fundamentos e Aplicações – 7. ed. São Paulo: Pearson, 2018. </a:t>
            </a:r>
            <a:endParaRPr lang="pt-BR" sz="1400" dirty="0"/>
          </a:p>
          <a:p>
            <a:r>
              <a:rPr lang="pt-BR" sz="1800" u="sng" dirty="0">
                <a:hlinkClick r:id="rId3"/>
              </a:rPr>
              <a:t>https://plataforma.bvirtual.com.br/Leitor/Publicacao/168492/pdf/0</a:t>
            </a:r>
            <a:r>
              <a:rPr lang="pt-BR" sz="1800" dirty="0"/>
              <a:t>. Acesso em: 11 nov. 2022</a:t>
            </a:r>
            <a:endParaRPr lang="pt-BR" sz="1400" dirty="0"/>
          </a:p>
          <a:p>
            <a:br>
              <a:rPr lang="pt-BR" sz="1400" dirty="0"/>
            </a:br>
            <a:r>
              <a:rPr lang="pt-BR" sz="1800" dirty="0"/>
              <a:t>GUIMARÃES, Célio Cardoso; Fundamentos de Bancos de Dados - Modelagem , Projeto e Linguagem </a:t>
            </a:r>
            <a:r>
              <a:rPr lang="pt-BR" sz="1800" dirty="0" err="1"/>
              <a:t>Sql</a:t>
            </a:r>
            <a:r>
              <a:rPr lang="pt-BR" sz="1800" dirty="0"/>
              <a:t>; Unicamp.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80768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e Informações</a:t>
            </a:r>
          </a:p>
        </p:txBody>
      </p:sp>
      <p:sp>
        <p:nvSpPr>
          <p:cNvPr id="4" name="Google Shape;146;p2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 gestão do conhecimento trabalha com dois importantes conceitos (muitas vezes utilizados como sinônimos):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2400" b="1" i="0" u="none" strike="noStrike" cap="none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Dados</a:t>
            </a:r>
            <a:r>
              <a:rPr lang="pt-BR" sz="2400" b="0" i="0" u="none" strike="noStrike" cap="none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 registro de todas as transações realizadas. A administração correta deles é essencial para gerar informações relevantes para a empresa.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 b="0" i="0" u="none" strike="noStrike" cap="none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2400" b="1" i="0" u="none" strike="noStrike" cap="none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Informações</a:t>
            </a:r>
            <a:r>
              <a:rPr lang="pt-BR" sz="2400" b="0" i="0" u="none" strike="noStrike" cap="none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 mensagem cujo objetivo é mudar a forma como o destinatário vê algo. São, portanto, dados aos quais foram associados algum significado.</a:t>
            </a:r>
            <a:endParaRPr sz="2400" b="0" i="0" u="none" strike="noStrike" cap="none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9383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>
            <a:normAutofit fontScale="90000"/>
          </a:bodyPr>
          <a:lstStyle/>
          <a:p>
            <a:r>
              <a:rPr lang="pt-BR" dirty="0"/>
              <a:t>Dado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C13ACFA-2504-6767-21AF-117BC93D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054" y="2851388"/>
            <a:ext cx="6971949" cy="313949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291DC29-9391-B7EA-4FD2-71E4D0B0DC50}"/>
              </a:ext>
            </a:extLst>
          </p:cNvPr>
          <p:cNvSpPr txBox="1"/>
          <p:nvPr/>
        </p:nvSpPr>
        <p:spPr>
          <a:xfrm>
            <a:off x="693562" y="1751861"/>
            <a:ext cx="10188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É algo que precisa de processamento. Quando olhamos um dado sozinho, não faz sentido. É a menor unidade de processamento.</a:t>
            </a:r>
          </a:p>
        </p:txBody>
      </p:sp>
    </p:spTree>
    <p:extLst>
      <p:ext uri="{BB962C8B-B14F-4D97-AF65-F5344CB8AC3E}">
        <p14:creationId xmlns:p14="http://schemas.microsoft.com/office/powerpoint/2010/main" val="6658081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2438B-6C50-80CA-FB99-A97ED2AC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Informação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35354D04-BCC9-11A7-F358-E24702359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061" y="2208484"/>
            <a:ext cx="9209912" cy="2719117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0CBE9C6-3D28-51A4-1B00-5A8AC29F5FC3}"/>
              </a:ext>
            </a:extLst>
          </p:cNvPr>
          <p:cNvSpPr txBox="1"/>
          <p:nvPr/>
        </p:nvSpPr>
        <p:spPr>
          <a:xfrm>
            <a:off x="1001534" y="1396754"/>
            <a:ext cx="10188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É o resultado da operação com o dado.</a:t>
            </a:r>
          </a:p>
        </p:txBody>
      </p:sp>
    </p:spTree>
    <p:extLst>
      <p:ext uri="{BB962C8B-B14F-4D97-AF65-F5344CB8AC3E}">
        <p14:creationId xmlns:p14="http://schemas.microsoft.com/office/powerpoint/2010/main" val="408320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2438B-6C50-80CA-FB99-A97ED2AC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Conhecimento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794162-56C2-7A89-8AE9-EECEE528E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9727295" cy="3880773"/>
          </a:xfrm>
        </p:spPr>
        <p:txBody>
          <a:bodyPr>
            <a:normAutofit/>
          </a:bodyPr>
          <a:lstStyle/>
          <a:p>
            <a:r>
              <a:rPr lang="pt-BR" sz="2667" dirty="0"/>
              <a:t>São análises, geralmente estatísticas, que são realizadas nas informações.</a:t>
            </a:r>
          </a:p>
          <a:p>
            <a:endParaRPr lang="pt-BR" sz="2667" dirty="0"/>
          </a:p>
          <a:p>
            <a:r>
              <a:rPr lang="pt-BR" sz="2667" dirty="0"/>
              <a:t>Ocorre quando utilizamos a informação para chegar a alguma </a:t>
            </a:r>
            <a:r>
              <a:rPr lang="pt-BR" sz="2667" b="1" dirty="0"/>
              <a:t>conclusão</a:t>
            </a:r>
            <a:r>
              <a:rPr lang="pt-BR" sz="2667" dirty="0"/>
              <a:t>, ou até mesmo, reconhecer algum tipo de </a:t>
            </a:r>
            <a:r>
              <a:rPr lang="pt-BR" sz="2667" b="1" dirty="0"/>
              <a:t>comportamento/padrão</a:t>
            </a:r>
            <a:r>
              <a:rPr lang="pt-BR" sz="2667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293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2438B-6C50-80CA-FB99-A97ED2AC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Conhecimento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794162-56C2-7A89-8AE9-EECEE528E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90"/>
            <a:ext cx="10141585" cy="3880773"/>
          </a:xfrm>
        </p:spPr>
        <p:txBody>
          <a:bodyPr>
            <a:normAutofit/>
          </a:bodyPr>
          <a:lstStyle/>
          <a:p>
            <a:r>
              <a:rPr lang="pt-BR" sz="2667" dirty="0"/>
              <a:t>Exemplo: Como o dia está quente e a probabilidade de chover é baixa, irei à praia.</a:t>
            </a:r>
          </a:p>
          <a:p>
            <a:endParaRPr lang="pt-BR" sz="2667" dirty="0"/>
          </a:p>
          <a:p>
            <a:r>
              <a:rPr lang="pt-BR" sz="2667" dirty="0"/>
              <a:t>Com esse conhecimento, uma loja de roupas de praias pode reforçar seu estoque ou enviar comunicações de promoções, ou ainda criar ações de marketing.</a:t>
            </a:r>
          </a:p>
        </p:txBody>
      </p:sp>
    </p:spTree>
    <p:extLst>
      <p:ext uri="{BB962C8B-B14F-4D97-AF65-F5344CB8AC3E}">
        <p14:creationId xmlns:p14="http://schemas.microsoft.com/office/powerpoint/2010/main" val="13533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441" y="904062"/>
            <a:ext cx="10309040" cy="5604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389443" y="257771"/>
            <a:ext cx="1077303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3600"/>
            </a:pPr>
            <a:r>
              <a:rPr lang="pt-BR" sz="3600" b="1" dirty="0">
                <a:solidFill>
                  <a:srgbClr val="305574"/>
                </a:solidFill>
                <a:latin typeface="Calibri"/>
                <a:ea typeface="Calibri"/>
                <a:cs typeface="Calibri"/>
                <a:sym typeface="Calibri"/>
              </a:rPr>
              <a:t>Relação entre Dados e Informação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6029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090FD9-B2BA-4781-ACCF-D5F25E53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809625"/>
            <a:ext cx="11410950" cy="59817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21C37BE-2FCB-483B-ADF8-5574B5CD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10" y="57150"/>
            <a:ext cx="10650572" cy="752475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Exemplo de Análise de Dados no Power BI</a:t>
            </a:r>
          </a:p>
        </p:txBody>
      </p:sp>
    </p:spTree>
    <p:extLst>
      <p:ext uri="{BB962C8B-B14F-4D97-AF65-F5344CB8AC3E}">
        <p14:creationId xmlns:p14="http://schemas.microsoft.com/office/powerpoint/2010/main" val="3533048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</a:t>
            </a:r>
          </a:p>
        </p:txBody>
      </p:sp>
      <p:pic>
        <p:nvPicPr>
          <p:cNvPr id="4" name="Google Shape;153;p23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931141" y="1414246"/>
            <a:ext cx="7815695" cy="43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/>
          <p:cNvSpPr txBox="1"/>
          <p:nvPr/>
        </p:nvSpPr>
        <p:spPr>
          <a:xfrm>
            <a:off x="1154545" y="5726546"/>
            <a:ext cx="2327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Data Science </a:t>
            </a:r>
            <a:r>
              <a:rPr lang="pt-BR" sz="1400" dirty="0" err="1"/>
              <a:t>Academy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68051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</a:t>
            </a:r>
          </a:p>
        </p:txBody>
      </p:sp>
      <p:pic>
        <p:nvPicPr>
          <p:cNvPr id="5" name="Google Shape;16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6600" y="1258374"/>
            <a:ext cx="7550726" cy="51623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ixaDeTexto 5"/>
          <p:cNvSpPr txBox="1"/>
          <p:nvPr/>
        </p:nvSpPr>
        <p:spPr>
          <a:xfrm>
            <a:off x="1089891" y="6420732"/>
            <a:ext cx="2327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Data Science </a:t>
            </a:r>
            <a:r>
              <a:rPr lang="pt-BR" sz="1400" dirty="0" err="1"/>
              <a:t>Academy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517310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Enquete</a:t>
            </a:r>
          </a:p>
        </p:txBody>
      </p:sp>
      <p:sp>
        <p:nvSpPr>
          <p:cNvPr id="4" name="Google Shape;292;p1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84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400" b="1" i="0" u="none" strike="noStrike" cap="none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 relação ao formato dos dados, qual dado abaixo é estruturado?</a:t>
            </a:r>
            <a:endParaRPr sz="24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Conteúdo publicado no Facebook</a:t>
            </a:r>
            <a:endParaRPr lang="pt-BR" sz="2400" b="0" i="0" u="none" strike="noStrike" cap="none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Registros de vendas</a:t>
            </a:r>
            <a:endParaRPr sz="24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E-mails</a:t>
            </a:r>
            <a:endParaRPr sz="24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Comentários dos clientes</a:t>
            </a:r>
            <a:endParaRPr sz="2400" b="0" i="0" u="none" strike="noStrike" cap="none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Cartas</a:t>
            </a:r>
            <a:endParaRPr sz="24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942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Enquete</a:t>
            </a:r>
          </a:p>
        </p:txBody>
      </p:sp>
      <p:sp>
        <p:nvSpPr>
          <p:cNvPr id="4" name="Google Shape;292;p1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84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400" b="1" i="0" u="none" strike="noStrike" cap="none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 relação ao formato dos dados, qual dado abaixo é estruturado?</a:t>
            </a:r>
            <a:endParaRPr sz="24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Conteúdo publicado no Facebook</a:t>
            </a:r>
            <a:endParaRPr lang="pt-BR" sz="2400" b="0" i="0" u="none" strike="noStrike" cap="none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Registros de vendas</a:t>
            </a:r>
            <a:endParaRPr sz="2400" b="0" i="0" u="none" strike="noStrike" cap="none" dirty="0">
              <a:solidFill>
                <a:srgbClr val="FF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E-mails</a:t>
            </a:r>
            <a:endParaRPr sz="24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Comentários dos clientes</a:t>
            </a:r>
            <a:endParaRPr sz="2400" b="0" i="0" u="none" strike="noStrike" cap="none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1165225" marR="0" lvl="0" indent="-5143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23857"/>
              </a:buClr>
              <a:buSzPts val="2800"/>
              <a:buFont typeface="Arial"/>
              <a:buAutoNum type="alphaLcParenR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Cartas</a:t>
            </a:r>
            <a:endParaRPr sz="2400" b="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8009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Arquivos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90"/>
            <a:ext cx="9750968" cy="3319892"/>
          </a:xfrm>
        </p:spPr>
        <p:txBody>
          <a:bodyPr>
            <a:normAutofit/>
          </a:bodyPr>
          <a:lstStyle/>
          <a:p>
            <a:r>
              <a:rPr lang="pt-BR" sz="2400" dirty="0"/>
              <a:t>É uma estrutura que indica como os arquivos devem ser gravados e guardados em mídias.</a:t>
            </a:r>
          </a:p>
          <a:p>
            <a:r>
              <a:rPr lang="pt-BR" sz="2400" dirty="0"/>
              <a:t>O Sistema de arquivos é quem determina como os arquivos podem ser gravados, copiados, alterados, nomeados e excluídos.</a:t>
            </a:r>
          </a:p>
          <a:p>
            <a:r>
              <a:rPr lang="pt-BR" sz="2400" dirty="0"/>
              <a:t>Toda e qualquer manipulação de dados numa mídia, necessita de um sistema de arquivos.</a:t>
            </a:r>
          </a:p>
        </p:txBody>
      </p:sp>
    </p:spTree>
    <p:extLst>
      <p:ext uri="{BB962C8B-B14F-4D97-AF65-F5344CB8AC3E}">
        <p14:creationId xmlns:p14="http://schemas.microsoft.com/office/powerpoint/2010/main" val="4013701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dos Sistemas de Arquivos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90"/>
            <a:ext cx="10011380" cy="3880773"/>
          </a:xfrm>
        </p:spPr>
        <p:txBody>
          <a:bodyPr>
            <a:normAutofit/>
          </a:bodyPr>
          <a:lstStyle/>
          <a:p>
            <a:r>
              <a:rPr lang="pt-BR" sz="2400" dirty="0"/>
              <a:t>Fornecer os mecanismos para usuários manipularem arquivos e diretórios;</a:t>
            </a:r>
          </a:p>
          <a:p>
            <a:endParaRPr lang="pt-BR" sz="2400" dirty="0"/>
          </a:p>
          <a:p>
            <a:r>
              <a:rPr lang="pt-BR" sz="2400" dirty="0"/>
              <a:t>Garantir a validade e coerência dos dados;</a:t>
            </a:r>
          </a:p>
          <a:p>
            <a:endParaRPr lang="pt-BR" sz="2400" dirty="0"/>
          </a:p>
          <a:p>
            <a:r>
              <a:rPr lang="pt-BR" sz="2400" dirty="0"/>
              <a:t>Otimizar o acesso aos dados.</a:t>
            </a:r>
          </a:p>
        </p:txBody>
      </p:sp>
    </p:spTree>
    <p:extLst>
      <p:ext uri="{BB962C8B-B14F-4D97-AF65-F5344CB8AC3E}">
        <p14:creationId xmlns:p14="http://schemas.microsoft.com/office/powerpoint/2010/main" val="3906013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9"/>
            <a:ext cx="9289329" cy="3450100"/>
          </a:xfrm>
        </p:spPr>
        <p:txBody>
          <a:bodyPr>
            <a:normAutofit/>
          </a:bodyPr>
          <a:lstStyle/>
          <a:p>
            <a:r>
              <a:rPr lang="pt-BR" sz="2133" dirty="0"/>
              <a:t>Coleção de dados relacionados;</a:t>
            </a:r>
          </a:p>
          <a:p>
            <a:r>
              <a:rPr lang="pt-BR" sz="2133" dirty="0"/>
              <a:t>Coleção logicamente coerente de dados com algum significado inerente;</a:t>
            </a:r>
          </a:p>
          <a:p>
            <a:r>
              <a:rPr lang="pt-BR" sz="2133" dirty="0"/>
              <a:t>Um Banco de Dados está sempre associado a aplicações e a usuários que têm interesse nele;</a:t>
            </a:r>
          </a:p>
          <a:p>
            <a:r>
              <a:rPr lang="pt-BR" sz="2133" dirty="0"/>
              <a:t>Qualquer sistema que reúna e mantenha organizada uma série de dados relacionados a um determinado assunto, em uma determinada ordem.</a:t>
            </a:r>
          </a:p>
          <a:p>
            <a:endParaRPr lang="pt-BR" sz="2133" dirty="0"/>
          </a:p>
        </p:txBody>
      </p:sp>
    </p:spTree>
    <p:extLst>
      <p:ext uri="{BB962C8B-B14F-4D97-AF65-F5344CB8AC3E}">
        <p14:creationId xmlns:p14="http://schemas.microsoft.com/office/powerpoint/2010/main" val="4234417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de Gerenciamento de Banco de Dados (SGBD)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9"/>
            <a:ext cx="9289329" cy="3450100"/>
          </a:xfrm>
        </p:spPr>
        <p:txBody>
          <a:bodyPr>
            <a:normAutofit/>
          </a:bodyPr>
          <a:lstStyle/>
          <a:p>
            <a:r>
              <a:rPr lang="pt-BR" sz="2133" dirty="0"/>
              <a:t>Conjunto de programas que permite a criação e a manutenção de um Banco de Dados;</a:t>
            </a:r>
          </a:p>
          <a:p>
            <a:r>
              <a:rPr lang="pt-BR" sz="2133" dirty="0"/>
              <a:t>A construção de um Banco de Dados consiste em um processo de armazenar os dados em um meio controlado pelo SGBD;</a:t>
            </a:r>
          </a:p>
          <a:p>
            <a:r>
              <a:rPr lang="pt-BR" sz="2133" dirty="0"/>
              <a:t>A manipulação de Banco de Dados inclui funções como consultas para recuperação de dados, atualização do Banco de Dados e a geração de relatórios.</a:t>
            </a:r>
          </a:p>
        </p:txBody>
      </p:sp>
    </p:spTree>
    <p:extLst>
      <p:ext uri="{BB962C8B-B14F-4D97-AF65-F5344CB8AC3E}">
        <p14:creationId xmlns:p14="http://schemas.microsoft.com/office/powerpoint/2010/main" val="3537278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A075F-C0ED-B87D-052F-02788B55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um SGBD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A0FC96-6719-91A8-9DA2-011ACBEC0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706" y="1679668"/>
            <a:ext cx="7121828" cy="388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17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Características do Sistema de Gerenciamento de Banco de Dados (SGBD)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9"/>
            <a:ext cx="9289329" cy="3450100"/>
          </a:xfrm>
        </p:spPr>
        <p:txBody>
          <a:bodyPr>
            <a:normAutofit/>
          </a:bodyPr>
          <a:lstStyle/>
          <a:p>
            <a:r>
              <a:rPr lang="pt-BR" sz="2400" dirty="0"/>
              <a:t>Isolamento da aplicação e dos dados</a:t>
            </a:r>
          </a:p>
          <a:p>
            <a:r>
              <a:rPr lang="pt-BR" sz="2400" dirty="0"/>
              <a:t>Uso de abstração de dados</a:t>
            </a:r>
          </a:p>
          <a:p>
            <a:r>
              <a:rPr lang="pt-BR" sz="2400" dirty="0"/>
              <a:t>Múltiplas visões</a:t>
            </a:r>
          </a:p>
          <a:p>
            <a:r>
              <a:rPr lang="pt-BR" sz="2400" dirty="0"/>
              <a:t>Padronização</a:t>
            </a:r>
          </a:p>
        </p:txBody>
      </p:sp>
    </p:spTree>
    <p:extLst>
      <p:ext uri="{BB962C8B-B14F-4D97-AF65-F5344CB8AC3E}">
        <p14:creationId xmlns:p14="http://schemas.microsoft.com/office/powerpoint/2010/main" val="1261480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Vantagens do Sistema de Gerenciamento de Banco de Dados (SGBD)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8"/>
            <a:ext cx="9289329" cy="3118667"/>
          </a:xfrm>
        </p:spPr>
        <p:txBody>
          <a:bodyPr>
            <a:normAutofit/>
          </a:bodyPr>
          <a:lstStyle/>
          <a:p>
            <a:r>
              <a:rPr lang="pt-BR" sz="2400" dirty="0"/>
              <a:t>Redução da redundância</a:t>
            </a:r>
          </a:p>
          <a:p>
            <a:r>
              <a:rPr lang="pt-BR" sz="2400" dirty="0"/>
              <a:t>Controle de acesso</a:t>
            </a:r>
          </a:p>
          <a:p>
            <a:r>
              <a:rPr lang="pt-BR" sz="2400" dirty="0"/>
              <a:t>Estruturas eficientes de armazenamento e consulta</a:t>
            </a:r>
          </a:p>
          <a:p>
            <a:r>
              <a:rPr lang="pt-BR" sz="2400" dirty="0"/>
              <a:t>Representação de estruturas complexas</a:t>
            </a:r>
          </a:p>
          <a:p>
            <a:r>
              <a:rPr lang="pt-BR" sz="2400" dirty="0"/>
              <a:t>Manutenção da integridade</a:t>
            </a:r>
          </a:p>
        </p:txBody>
      </p:sp>
    </p:spTree>
    <p:extLst>
      <p:ext uri="{BB962C8B-B14F-4D97-AF65-F5344CB8AC3E}">
        <p14:creationId xmlns:p14="http://schemas.microsoft.com/office/powerpoint/2010/main" val="269349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 do SGBD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Usuários</a:t>
            </a:r>
          </a:p>
          <a:p>
            <a:pPr lvl="1"/>
            <a:r>
              <a:rPr lang="pt-BR" dirty="0"/>
              <a:t>Manipulam os dados através de consultas a dados armazenados, inclusão, alteração e exclusão de dados.</a:t>
            </a:r>
          </a:p>
          <a:p>
            <a:r>
              <a:rPr lang="pt-BR" dirty="0"/>
              <a:t>Administradores de Dados (DA)</a:t>
            </a:r>
          </a:p>
          <a:p>
            <a:pPr lvl="1"/>
            <a:r>
              <a:rPr lang="pt-BR" dirty="0"/>
              <a:t>Modelam (desenham) os bancos de dados criando a estrutura na qual se apresentam os dados.</a:t>
            </a:r>
          </a:p>
          <a:p>
            <a:r>
              <a:rPr lang="pt-BR" dirty="0"/>
              <a:t>Administradores de Banco de Dados (DBA)</a:t>
            </a:r>
          </a:p>
          <a:p>
            <a:pPr lvl="1"/>
            <a:r>
              <a:rPr lang="pt-BR" dirty="0"/>
              <a:t>Administram o Sistema Gerenciador de Banco de Dados fazendo com que o SGBD funcione adequadamente.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1596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Sistemas de Gerenciamento de Banco de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966D202-A110-6A6F-065B-9B7E58E95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156" y="1590495"/>
            <a:ext cx="7354555" cy="352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67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Pesquisar sobre os tipos de sistemas de gerenciamento de banco de dados.</a:t>
            </a:r>
          </a:p>
          <a:p>
            <a:pPr lvl="1"/>
            <a:r>
              <a:rPr lang="pt-BR" dirty="0"/>
              <a:t>Anotar quais as principais diferenças entre bancos de dados relacionais e não-relacionais.</a:t>
            </a:r>
          </a:p>
        </p:txBody>
      </p:sp>
    </p:spTree>
    <p:extLst>
      <p:ext uri="{BB962C8B-B14F-4D97-AF65-F5344CB8AC3E}">
        <p14:creationId xmlns:p14="http://schemas.microsoft.com/office/powerpoint/2010/main" val="720092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Banco de Dados Relacional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75E60F-2F32-37A4-5524-AAEC0B0A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41" y="1784144"/>
            <a:ext cx="4783912" cy="404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84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Projeto de Banco de Dados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97789F-68C6-A816-E0B5-C6289E42C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297" y="1527281"/>
            <a:ext cx="6466179" cy="441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5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Projeto de 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947BD6-4A01-1850-4A27-FB739108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23" y="2020081"/>
            <a:ext cx="7952011" cy="28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65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 Levantamento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Levantamento de dados: dele depende o sucesso no desenvolvimento de um projeto ou software.</a:t>
            </a:r>
          </a:p>
          <a:p>
            <a:endParaRPr lang="pt-BR" dirty="0"/>
          </a:p>
          <a:p>
            <a:r>
              <a:rPr lang="pt-BR" dirty="0"/>
              <a:t>É a base do desenvolvimento, onde são tiradas conclusões de:</a:t>
            </a:r>
          </a:p>
          <a:p>
            <a:pPr lvl="1"/>
            <a:r>
              <a:rPr lang="pt-BR" dirty="0"/>
              <a:t>Situações</a:t>
            </a:r>
          </a:p>
          <a:p>
            <a:pPr lvl="1"/>
            <a:r>
              <a:rPr lang="pt-BR" dirty="0"/>
              <a:t>Problemas</a:t>
            </a:r>
          </a:p>
          <a:p>
            <a:pPr lvl="1"/>
            <a:r>
              <a:rPr lang="pt-BR" dirty="0"/>
              <a:t>Sugestão de propostas que contribuam para a 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4135333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condição ou capacidade que um sistema deve apresentar:</a:t>
            </a:r>
          </a:p>
          <a:p>
            <a:pPr lvl="1"/>
            <a:r>
              <a:rPr lang="pt-BR" dirty="0"/>
              <a:t>Funcionalidades</a:t>
            </a:r>
          </a:p>
          <a:p>
            <a:pPr lvl="1"/>
            <a:r>
              <a:rPr lang="pt-BR" dirty="0"/>
              <a:t>Qualidades</a:t>
            </a:r>
          </a:p>
          <a:p>
            <a:pPr lvl="1"/>
            <a:r>
              <a:rPr lang="pt-BR" dirty="0"/>
              <a:t>Necessária ao usuário, para resolver um problema e alcançar um objetivo</a:t>
            </a:r>
          </a:p>
          <a:p>
            <a:pPr lvl="1"/>
            <a:r>
              <a:rPr lang="pt-BR" dirty="0"/>
              <a:t>Deve ser definido antes de começar a construir um sistema.</a:t>
            </a:r>
          </a:p>
        </p:txBody>
      </p:sp>
    </p:spTree>
    <p:extLst>
      <p:ext uri="{BB962C8B-B14F-4D97-AF65-F5344CB8AC3E}">
        <p14:creationId xmlns:p14="http://schemas.microsoft.com/office/powerpoint/2010/main" val="2833613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Requisitos Funcionais (RF)</a:t>
            </a:r>
          </a:p>
          <a:p>
            <a:r>
              <a:rPr lang="pt-BR" dirty="0"/>
              <a:t>Requisitos não Funcionais (RNF)</a:t>
            </a:r>
          </a:p>
          <a:p>
            <a:r>
              <a:rPr lang="pt-BR" dirty="0"/>
              <a:t>Requisitos Inversos (RI) ou Escopo Negativo</a:t>
            </a:r>
          </a:p>
        </p:txBody>
      </p:sp>
    </p:spTree>
    <p:extLst>
      <p:ext uri="{BB962C8B-B14F-4D97-AF65-F5344CB8AC3E}">
        <p14:creationId xmlns:p14="http://schemas.microsoft.com/office/powerpoint/2010/main" val="1972104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Descreve funcionalidade e serviços do sistema</a:t>
            </a:r>
          </a:p>
          <a:p>
            <a:r>
              <a:rPr lang="pt-BR" dirty="0"/>
              <a:t>Depende do:</a:t>
            </a:r>
          </a:p>
          <a:p>
            <a:pPr lvl="1"/>
            <a:r>
              <a:rPr lang="pt-BR" dirty="0"/>
              <a:t>Tipo de software</a:t>
            </a:r>
          </a:p>
          <a:p>
            <a:pPr lvl="1"/>
            <a:r>
              <a:rPr lang="pt-BR" dirty="0"/>
              <a:t>Usuários esperados</a:t>
            </a:r>
          </a:p>
          <a:p>
            <a:pPr lvl="1"/>
            <a:r>
              <a:rPr lang="pt-BR" dirty="0"/>
              <a:t>Onde o software é usado</a:t>
            </a:r>
          </a:p>
          <a:p>
            <a:pPr lvl="1"/>
            <a:r>
              <a:rPr lang="pt-BR" dirty="0"/>
              <a:t>Cuidado com a redação dos requisitos.</a:t>
            </a:r>
          </a:p>
        </p:txBody>
      </p:sp>
    </p:spTree>
    <p:extLst>
      <p:ext uri="{BB962C8B-B14F-4D97-AF65-F5344CB8AC3E}">
        <p14:creationId xmlns:p14="http://schemas.microsoft.com/office/powerpoint/2010/main" val="3007976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 Escola – Requisitos Funcionais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RF01 – Manter dados do professor:</a:t>
            </a:r>
          </a:p>
          <a:p>
            <a:pPr lvl="1"/>
            <a:r>
              <a:rPr lang="pt-BR" dirty="0"/>
              <a:t>O sistema deve permitir a inclusão, alteração, exclusão e consulta dos dados dos professores. Sendo que estas operações serão realizadas pela secretaria.</a:t>
            </a:r>
          </a:p>
          <a:p>
            <a:pPr lvl="1"/>
            <a:endParaRPr lang="pt-BR" dirty="0"/>
          </a:p>
          <a:p>
            <a:r>
              <a:rPr lang="pt-BR" dirty="0"/>
              <a:t>RF02 – Manter dados do aluno:</a:t>
            </a:r>
          </a:p>
          <a:p>
            <a:pPr lvl="1"/>
            <a:r>
              <a:rPr lang="pt-BR" dirty="0"/>
              <a:t>O sistema deve permitir a inclusão, alteração, exclusão e consulta dos dados dos alunos. Sendo que estas operações serão realizadas pela secretaria.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1872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 Escola – Requisitos Funcionais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RF03 – Manter dados do curso:</a:t>
            </a:r>
          </a:p>
          <a:p>
            <a:pPr lvl="1"/>
            <a:r>
              <a:rPr lang="pt-BR" dirty="0"/>
              <a:t>O sistema deve permitir a inclusão, alteração, exclusão e consulta dos dados dos cursos. Sendo que estas operações serão realizadas pela secretaria.</a:t>
            </a:r>
          </a:p>
          <a:p>
            <a:pPr lvl="1"/>
            <a:endParaRPr lang="pt-BR" dirty="0"/>
          </a:p>
          <a:p>
            <a:r>
              <a:rPr lang="pt-BR" dirty="0"/>
              <a:t>RF04 – Manter dados da matrícula:</a:t>
            </a:r>
          </a:p>
          <a:p>
            <a:pPr lvl="1"/>
            <a:r>
              <a:rPr lang="pt-BR" dirty="0"/>
              <a:t>O sistema deve permitir a inclusão, alteração, exclusão e consulta dos dados das matrículas.</a:t>
            </a:r>
          </a:p>
          <a:p>
            <a:pPr lvl="1"/>
            <a:endParaRPr lang="pt-BR" dirty="0"/>
          </a:p>
          <a:p>
            <a:r>
              <a:rPr lang="pt-BR" dirty="0"/>
              <a:t>RF05 – Manter dados da disciplina:</a:t>
            </a:r>
          </a:p>
          <a:p>
            <a:pPr lvl="1"/>
            <a:r>
              <a:rPr lang="pt-BR" dirty="0"/>
              <a:t>O sistema deve permitir a inclusão, alteração, exclusão e consulta dos dados das disciplinas. Sendo que estas operações serão realizadas pela secretaria.</a:t>
            </a:r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6844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1898</Words>
  <Application>Microsoft Office PowerPoint</Application>
  <PresentationFormat>Widescreen</PresentationFormat>
  <Paragraphs>222</Paragraphs>
  <Slides>41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Roboto</vt:lpstr>
      <vt:lpstr>Tema do Office</vt:lpstr>
      <vt:lpstr>Banco de Dados Prof. José Carlos Perini</vt:lpstr>
      <vt:lpstr>Prof. José Carlos Perini</vt:lpstr>
      <vt:lpstr>www.youtube.com/profperini</vt:lpstr>
      <vt:lpstr>Link da Apresentação</vt:lpstr>
      <vt:lpstr>Plano de Ensino</vt:lpstr>
      <vt:lpstr>Plano de Ensino</vt:lpstr>
      <vt:lpstr>Plano de Ensino</vt:lpstr>
      <vt:lpstr>Plano de Ensino</vt:lpstr>
      <vt:lpstr>Plano de Ensino</vt:lpstr>
      <vt:lpstr>Plano de Ensino</vt:lpstr>
      <vt:lpstr>Plano de Ensino</vt:lpstr>
      <vt:lpstr>Dados e Informações</vt:lpstr>
      <vt:lpstr>Dado</vt:lpstr>
      <vt:lpstr>Informação</vt:lpstr>
      <vt:lpstr>Conhecimento</vt:lpstr>
      <vt:lpstr>Conhecimento</vt:lpstr>
      <vt:lpstr>Apresentação do PowerPoint</vt:lpstr>
      <vt:lpstr>Exemplo de Análise de Dados no Power BI</vt:lpstr>
      <vt:lpstr>Dados</vt:lpstr>
      <vt:lpstr>Dados</vt:lpstr>
      <vt:lpstr>Enquete</vt:lpstr>
      <vt:lpstr>Enquete</vt:lpstr>
      <vt:lpstr>Sistemas de Arquivos</vt:lpstr>
      <vt:lpstr>Objetivo dos Sistemas de Arquivos</vt:lpstr>
      <vt:lpstr>Definição de Banco de Dados</vt:lpstr>
      <vt:lpstr>Sistema de Gerenciamento de Banco de Dados (SGBD)</vt:lpstr>
      <vt:lpstr>Estrutura de um SGBD</vt:lpstr>
      <vt:lpstr>Características do Sistema de Gerenciamento de Banco de Dados (SGBD)</vt:lpstr>
      <vt:lpstr>Vantagens do Sistema de Gerenciamento de Banco de Dados (SGBD)</vt:lpstr>
      <vt:lpstr>Atores do SGBD</vt:lpstr>
      <vt:lpstr>Sistemas de Gerenciamento de Banco de Dados</vt:lpstr>
      <vt:lpstr>Atividade</vt:lpstr>
      <vt:lpstr>Banco de Dados Relacional</vt:lpstr>
      <vt:lpstr>Projeto de Banco de Dados</vt:lpstr>
      <vt:lpstr>Projeto de Banco de Dados</vt:lpstr>
      <vt:lpstr>Importância do Levantamento de Dados</vt:lpstr>
      <vt:lpstr>Requisito</vt:lpstr>
      <vt:lpstr>Tipos de Requisito</vt:lpstr>
      <vt:lpstr>Requisitos Funcionais</vt:lpstr>
      <vt:lpstr>Estudo de Caso Escola – Requisitos Funcionais</vt:lpstr>
      <vt:lpstr>Estudo de Caso Escola – Requisitos Funcionais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33</cp:revision>
  <cp:lastPrinted>2025-02-05T14:57:57Z</cp:lastPrinted>
  <dcterms:created xsi:type="dcterms:W3CDTF">2024-02-07T18:08:06Z</dcterms:created>
  <dcterms:modified xsi:type="dcterms:W3CDTF">2026-02-04T13:22:53Z</dcterms:modified>
</cp:coreProperties>
</file>