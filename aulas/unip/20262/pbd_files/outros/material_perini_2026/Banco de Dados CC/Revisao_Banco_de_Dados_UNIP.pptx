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9" r:id="rId3"/>
    <p:sldId id="274" r:id="rId4"/>
    <p:sldId id="275" r:id="rId5"/>
    <p:sldId id="280" r:id="rId6"/>
    <p:sldId id="288" r:id="rId7"/>
    <p:sldId id="304" r:id="rId8"/>
    <p:sldId id="326" r:id="rId9"/>
    <p:sldId id="327" r:id="rId10"/>
    <p:sldId id="2737" r:id="rId11"/>
    <p:sldId id="2750" r:id="rId12"/>
    <p:sldId id="332" r:id="rId13"/>
    <p:sldId id="333" r:id="rId14"/>
    <p:sldId id="335" r:id="rId15"/>
    <p:sldId id="259" r:id="rId16"/>
    <p:sldId id="260" r:id="rId17"/>
    <p:sldId id="336" r:id="rId18"/>
    <p:sldId id="337" r:id="rId19"/>
    <p:sldId id="338" r:id="rId20"/>
    <p:sldId id="339" r:id="rId21"/>
    <p:sldId id="341" r:id="rId22"/>
    <p:sldId id="342" r:id="rId23"/>
    <p:sldId id="343" r:id="rId24"/>
    <p:sldId id="344" r:id="rId25"/>
    <p:sldId id="345" r:id="rId26"/>
    <p:sldId id="320" r:id="rId27"/>
    <p:sldId id="356" r:id="rId28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>
              <a:buSzPts val="1200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37" name="Google Shape;237;p12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0" name="Google Shape;240;p12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41" name="Google Shape;241;p12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700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253812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>
            <a:normAutofit/>
          </a:bodyPr>
          <a:lstStyle/>
          <a:p>
            <a:r>
              <a:rPr lang="pt-BR" sz="5400" dirty="0"/>
              <a:t>Banco de Dados</a:t>
            </a:r>
            <a:br>
              <a:rPr lang="pt-BR" sz="5400" dirty="0"/>
            </a:br>
            <a:r>
              <a:rPr lang="pt-BR" sz="2800" dirty="0"/>
              <a:t>Prof.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4174115"/>
            <a:ext cx="9144000" cy="1655762"/>
          </a:xfrm>
        </p:spPr>
        <p:txBody>
          <a:bodyPr/>
          <a:lstStyle/>
          <a:p>
            <a:r>
              <a:rPr lang="pt-BR" dirty="0"/>
              <a:t>Revisão para Prova NP1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A075F-C0ED-B87D-052F-02788B55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um SGBD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A0FC96-6719-91A8-9DA2-011ACBEC0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706" y="1679668"/>
            <a:ext cx="7121828" cy="388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1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65722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Projeto de Banco de 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97789F-68C6-A816-E0B5-C6289E42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297" y="1527281"/>
            <a:ext cx="6466179" cy="44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79057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Projeto de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947BD6-4A01-1850-4A27-FB739108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23" y="2020081"/>
            <a:ext cx="7952011" cy="28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 Escola – Requisitos Funcionais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RF01 – Manter dados do professor:</a:t>
            </a:r>
          </a:p>
          <a:p>
            <a:pPr lvl="1"/>
            <a:r>
              <a:rPr lang="pt-BR" dirty="0"/>
              <a:t>O sistema deve permitir a inclusão, alteração, exclusão e consulta dos dados dos professores. Sendo que estas operações serão realizadas pela secretaria.</a:t>
            </a:r>
          </a:p>
          <a:p>
            <a:pPr lvl="1"/>
            <a:endParaRPr lang="pt-BR" dirty="0"/>
          </a:p>
          <a:p>
            <a:r>
              <a:rPr lang="pt-BR" dirty="0"/>
              <a:t>RF02 – Manter dados do aluno:</a:t>
            </a:r>
          </a:p>
          <a:p>
            <a:pPr lvl="1"/>
            <a:r>
              <a:rPr lang="pt-BR" dirty="0"/>
              <a:t>O sistema deve permitir a inclusão, alteração, exclusão e consulta dos dados dos alunos. Sendo que estas operações serão realizadas pela secretaria.</a:t>
            </a:r>
          </a:p>
          <a:p>
            <a:pPr lvl="1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565" y="4590472"/>
            <a:ext cx="4583820" cy="217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7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Modelo Conceitual – Pequeno 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CCAE27-C91B-DBD5-156C-AB45203D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50" y="2121024"/>
            <a:ext cx="8510345" cy="261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0588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461221"/>
            <a:ext cx="10772775" cy="277177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09612" y="4682761"/>
            <a:ext cx="606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Um aluno faz no mínimo 1 matrícula e no máximo n matrículas.</a:t>
            </a:r>
          </a:p>
          <a:p>
            <a:r>
              <a:rPr lang="pt-BR" dirty="0"/>
              <a:t>Uma matrícula é de no mínimo 1 aluno e no máximo 1 aluno.</a:t>
            </a:r>
          </a:p>
        </p:txBody>
      </p:sp>
    </p:spTree>
    <p:extLst>
      <p:ext uri="{BB962C8B-B14F-4D97-AF65-F5344CB8AC3E}">
        <p14:creationId xmlns:p14="http://schemas.microsoft.com/office/powerpoint/2010/main" val="256157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Entidade Associativa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Note que o relacionamento entre as entidades DISCIPLINA e PROFESSOR é do tipo N:N, isso significa, que será necessário fazer um ajuste no modelo conceitual com a criação da entidade associativa.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44" y="123495"/>
            <a:ext cx="5326373" cy="1567193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1634"/>
            <a:ext cx="10288732" cy="364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59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Possível solução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1361205"/>
            <a:ext cx="8922761" cy="526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91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Formas Normais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06746C-5FDC-4F1D-820E-AF8742EF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840"/>
            <a:ext cx="12192000" cy="373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2661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2772514" y="966669"/>
            <a:ext cx="7190636" cy="4481631"/>
          </a:xfrm>
          <a:custGeom>
            <a:avLst/>
            <a:gdLst/>
            <a:ahLst/>
            <a:cxnLst/>
            <a:rect l="l" t="t" r="r" b="b"/>
            <a:pathLst>
              <a:path w="8957154" h="5027203" extrusionOk="0">
                <a:moveTo>
                  <a:pt x="0" y="0"/>
                </a:moveTo>
                <a:lnTo>
                  <a:pt x="8957154" y="0"/>
                </a:lnTo>
                <a:lnTo>
                  <a:pt x="8957154" y="5027202"/>
                </a:lnTo>
                <a:lnTo>
                  <a:pt x="0" y="5027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Instruções SQL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8"/>
            <a:ext cx="10572555" cy="4000067"/>
          </a:xfrm>
        </p:spPr>
        <p:txBody>
          <a:bodyPr>
            <a:normAutofit/>
          </a:bodyPr>
          <a:lstStyle/>
          <a:p>
            <a:r>
              <a:rPr lang="pt-BR" dirty="0"/>
              <a:t>Instruções SQL não têm distinção entre maiúsculas e minúsculas.</a:t>
            </a:r>
          </a:p>
          <a:p>
            <a:r>
              <a:rPr lang="pt-BR" dirty="0"/>
              <a:t>Instruções SQL podem estar em uma ou mais linhas.</a:t>
            </a:r>
          </a:p>
          <a:p>
            <a:r>
              <a:rPr lang="pt-BR" dirty="0"/>
              <a:t>Palavras-chave não podem ser abreviadas ou divididas entre as linhas.</a:t>
            </a:r>
          </a:p>
          <a:p>
            <a:r>
              <a:rPr lang="pt-BR" dirty="0"/>
              <a:t>Normalmente, as cláusulas são colocadas em linhas separadas.</a:t>
            </a:r>
          </a:p>
          <a:p>
            <a:r>
              <a:rPr lang="pt-BR" dirty="0"/>
              <a:t>Guias e </a:t>
            </a:r>
            <a:r>
              <a:rPr lang="pt-BR" dirty="0" err="1"/>
              <a:t>indentações</a:t>
            </a:r>
            <a:r>
              <a:rPr lang="pt-BR" dirty="0"/>
              <a:t> são usadas para aperfeiçoar a legibilidade.</a:t>
            </a:r>
          </a:p>
        </p:txBody>
      </p:sp>
    </p:spTree>
    <p:extLst>
      <p:ext uri="{BB962C8B-B14F-4D97-AF65-F5344CB8AC3E}">
        <p14:creationId xmlns:p14="http://schemas.microsoft.com/office/powerpoint/2010/main" val="1779355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Criação de tabelas – Regras de Nomenclatura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0"/>
            <a:ext cx="101889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 começar com uma letra;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Pode ter de 1 a 128 caracteres;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 conter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somante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A-Z,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a-z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_, $ e #;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 deve duplicar o nome de outro objeto de propriedade do mesmo usuário;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 deve ser uma palavra reservada.</a:t>
            </a:r>
          </a:p>
        </p:txBody>
      </p:sp>
    </p:spTree>
    <p:extLst>
      <p:ext uri="{BB962C8B-B14F-4D97-AF65-F5344CB8AC3E}">
        <p14:creationId xmlns:p14="http://schemas.microsoft.com/office/powerpoint/2010/main" val="86716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9428690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pPr algn="ctr"/>
            <a:r>
              <a:rPr lang="pt-BR" dirty="0"/>
              <a:t>Tipos de dados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3798AC-07D3-2542-8419-63CF8C010FCB}"/>
              </a:ext>
            </a:extLst>
          </p:cNvPr>
          <p:cNvSpPr txBox="1"/>
          <p:nvPr/>
        </p:nvSpPr>
        <p:spPr>
          <a:xfrm>
            <a:off x="797641" y="5262893"/>
            <a:ext cx="7865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Para SGBD Oracle:</a:t>
            </a:r>
          </a:p>
          <a:p>
            <a:r>
              <a:rPr lang="pt-BR" sz="2400" dirty="0" err="1"/>
              <a:t>Varchar</a:t>
            </a:r>
            <a:r>
              <a:rPr lang="pt-BR" sz="2400" dirty="0"/>
              <a:t>: armazena até 2000 caracteres.</a:t>
            </a:r>
          </a:p>
          <a:p>
            <a:r>
              <a:rPr lang="pt-BR" sz="2400" dirty="0"/>
              <a:t>Varchar2: dobra a capacidade (armazena até 4000 caracteres)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97E988-6830-4D43-A3E4-E622DD86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688792"/>
            <a:ext cx="10467975" cy="328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390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1065159" y="1697329"/>
            <a:ext cx="8939791" cy="43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  <a:buClr>
                <a:srgbClr val="000000"/>
              </a:buClr>
              <a:buSzPts val="3900"/>
            </a:pPr>
            <a:r>
              <a:rPr lang="en-US" sz="2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(CRIAR)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CREATE é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utilizado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banco de dados,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Bancos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dados,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Tabelas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(views),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Procedimentos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armazenados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entre outros.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fundação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definimos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serão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guardados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 que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será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armazenado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quem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poderá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interagir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essas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CREATE DATABASE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DATABASE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banco de dados que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deverá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criado</a:t>
            </a:r>
            <a:r>
              <a:rPr lang="en-US" sz="1867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123387" y="5675885"/>
            <a:ext cx="6304330" cy="886848"/>
          </a:xfrm>
          <a:custGeom>
            <a:avLst/>
            <a:gdLst/>
            <a:ahLst/>
            <a:cxnLst/>
            <a:rect l="l" t="t" r="r" b="b"/>
            <a:pathLst>
              <a:path w="9456495" h="1330272" extrusionOk="0">
                <a:moveTo>
                  <a:pt x="0" y="0"/>
                </a:moveTo>
                <a:lnTo>
                  <a:pt x="9456495" y="0"/>
                </a:lnTo>
                <a:lnTo>
                  <a:pt x="9456495" y="1330272"/>
                </a:lnTo>
                <a:lnTo>
                  <a:pt x="0" y="1330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65159" y="893845"/>
            <a:ext cx="9021816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6395"/>
              </a:lnSpc>
              <a:buClr>
                <a:srgbClr val="000000"/>
              </a:buClr>
              <a:buSzPts val="5599"/>
            </a:pP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Comandos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Iniciais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SQL</a:t>
            </a:r>
            <a:endParaRPr sz="933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 rot="-7649932" flipH="1">
            <a:off x="2325020" y="5411080"/>
            <a:ext cx="1445968" cy="914575"/>
          </a:xfrm>
          <a:custGeom>
            <a:avLst/>
            <a:gdLst/>
            <a:ahLst/>
            <a:cxnLst/>
            <a:rect l="l" t="t" r="r" b="b"/>
            <a:pathLst>
              <a:path w="2164492" h="1369041" extrusionOk="0">
                <a:moveTo>
                  <a:pt x="0" y="1369041"/>
                </a:moveTo>
                <a:lnTo>
                  <a:pt x="2164491" y="1369041"/>
                </a:lnTo>
                <a:lnTo>
                  <a:pt x="2164491" y="0"/>
                </a:lnTo>
                <a:lnTo>
                  <a:pt x="0" y="0"/>
                </a:lnTo>
                <a:lnTo>
                  <a:pt x="0" y="136904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1065159" y="1735429"/>
            <a:ext cx="8939791" cy="413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CREATE TABLE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nome_da_tabela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nome_coluna1 tipo_dado1 [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restrições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],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nome_coluna2 tipo_dado2 [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restrições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],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...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[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restrições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tabela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04258" y="4303694"/>
            <a:ext cx="6696890" cy="1954500"/>
          </a:xfrm>
          <a:custGeom>
            <a:avLst/>
            <a:gdLst/>
            <a:ahLst/>
            <a:cxnLst/>
            <a:rect l="l" t="t" r="r" b="b"/>
            <a:pathLst>
              <a:path w="10045335" h="2931750" extrusionOk="0">
                <a:moveTo>
                  <a:pt x="0" y="0"/>
                </a:moveTo>
                <a:lnTo>
                  <a:pt x="10045335" y="0"/>
                </a:lnTo>
                <a:lnTo>
                  <a:pt x="10045335" y="2931750"/>
                </a:lnTo>
                <a:lnTo>
                  <a:pt x="0" y="293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092059" y="3758916"/>
            <a:ext cx="1442995" cy="912694"/>
          </a:xfrm>
          <a:custGeom>
            <a:avLst/>
            <a:gdLst/>
            <a:ahLst/>
            <a:cxnLst/>
            <a:rect l="l" t="t" r="r" b="b"/>
            <a:pathLst>
              <a:path w="2164492" h="1369041" extrusionOk="0">
                <a:moveTo>
                  <a:pt x="0" y="0"/>
                </a:moveTo>
                <a:lnTo>
                  <a:pt x="2164492" y="0"/>
                </a:lnTo>
                <a:lnTo>
                  <a:pt x="2164492" y="1369041"/>
                </a:lnTo>
                <a:lnTo>
                  <a:pt x="0" y="13690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740190" y="1520517"/>
            <a:ext cx="4061887" cy="1736129"/>
          </a:xfrm>
          <a:custGeom>
            <a:avLst/>
            <a:gdLst/>
            <a:ahLst/>
            <a:cxnLst/>
            <a:rect l="l" t="t" r="r" b="b"/>
            <a:pathLst>
              <a:path w="6092830" h="2604194" extrusionOk="0">
                <a:moveTo>
                  <a:pt x="0" y="0"/>
                </a:moveTo>
                <a:lnTo>
                  <a:pt x="6092830" y="0"/>
                </a:lnTo>
                <a:lnTo>
                  <a:pt x="6092830" y="2604194"/>
                </a:lnTo>
                <a:lnTo>
                  <a:pt x="0" y="2604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455684" y="545569"/>
            <a:ext cx="10079091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6395"/>
              </a:lnSpc>
              <a:buClr>
                <a:srgbClr val="000000"/>
              </a:buClr>
              <a:buSzPts val="5599"/>
            </a:pP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Comandos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Iniciais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SQL</a:t>
            </a:r>
            <a:endParaRPr sz="933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 rot="10800000" flipH="1">
            <a:off x="5179503" y="2258614"/>
            <a:ext cx="1442995" cy="912694"/>
          </a:xfrm>
          <a:custGeom>
            <a:avLst/>
            <a:gdLst/>
            <a:ahLst/>
            <a:cxnLst/>
            <a:rect l="l" t="t" r="r" b="b"/>
            <a:pathLst>
              <a:path w="2164492" h="1369041" extrusionOk="0">
                <a:moveTo>
                  <a:pt x="0" y="1369041"/>
                </a:moveTo>
                <a:lnTo>
                  <a:pt x="2164491" y="1369041"/>
                </a:lnTo>
                <a:lnTo>
                  <a:pt x="2164491" y="0"/>
                </a:lnTo>
                <a:lnTo>
                  <a:pt x="0" y="0"/>
                </a:lnTo>
                <a:lnTo>
                  <a:pt x="0" y="136904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Criando uma tabela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17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A2A338-AD78-E781-C0C1-B145E908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9" y="1213131"/>
            <a:ext cx="5814984" cy="50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5798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Restrições (</a:t>
            </a:r>
            <a:r>
              <a:rPr lang="pt-BR" dirty="0" err="1"/>
              <a:t>constraints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1"/>
            <a:ext cx="101889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Impõem regras que podem ser no nível da coluna ou no nível da tabela: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NULL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Não aceita valor nulo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UNIQUE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Valor deve ser único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KEY 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primária (não nulo e único)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FOREIGN KEY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estrangeira (deve ter valor correspondente na tabela mãe)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Define uma condição de valor para a coluna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21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A Restrição CHECK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19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BC53BAB-FF0D-ED4A-2DD8-25868943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2" y="3165094"/>
            <a:ext cx="8219833" cy="91331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9D7455-AF26-E104-5646-BDC59B8F1280}"/>
              </a:ext>
            </a:extLst>
          </p:cNvPr>
          <p:cNvSpPr txBox="1"/>
          <p:nvPr/>
        </p:nvSpPr>
        <p:spPr>
          <a:xfrm>
            <a:off x="428760" y="1616282"/>
            <a:ext cx="10188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Define uma condição que cada linha deve satisfazer</a:t>
            </a:r>
          </a:p>
        </p:txBody>
      </p:sp>
    </p:spTree>
    <p:extLst>
      <p:ext uri="{BB962C8B-B14F-4D97-AF65-F5344CB8AC3E}">
        <p14:creationId xmlns:p14="http://schemas.microsoft.com/office/powerpoint/2010/main" val="134964798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dirty="0">
                <a:solidFill>
                  <a:srgbClr val="007639"/>
                </a:solidFill>
              </a:rPr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6E8719-A5D0-48F8-9932-10CA9F18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02059"/>
            <a:ext cx="10128023" cy="409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2864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 instrução ALTER TABLE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0"/>
            <a:ext cx="10188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a instrução ALTER TABLE para: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Adicionar uma nova coluna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Modificar uma coluna existente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Definir um valor default para a nova coluna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7A9FCE-5053-5963-3706-398D1D80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12" y="4142996"/>
            <a:ext cx="7209499" cy="231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95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Exemplos de ALTER TABLE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6DE569-B4EE-E4EF-8109-63C77E77C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691527"/>
            <a:ext cx="7052817" cy="490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75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constraint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FAE460-C54C-4C89-C6E3-7FB7A3BD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50" y="2199872"/>
            <a:ext cx="7393101" cy="151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62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Exclusão de coluna e de tabela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2E42B3-1622-F297-B7DE-58BDC73C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09" y="2121296"/>
            <a:ext cx="7557763" cy="26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dirty="0">
                <a:solidFill>
                  <a:srgbClr val="007639"/>
                </a:solidFill>
              </a:rPr>
              <a:t>Exclusão de coluna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CBAF77-255D-40EB-6AA5-CFB4186C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166" y="2697800"/>
            <a:ext cx="5031569" cy="17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8316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153739" y="1141815"/>
            <a:ext cx="6599082" cy="2346609"/>
          </a:xfrm>
          <a:custGeom>
            <a:avLst/>
            <a:gdLst/>
            <a:ahLst/>
            <a:cxnLst/>
            <a:rect l="l" t="t" r="r" b="b"/>
            <a:pathLst>
              <a:path w="8786660" h="3373021" extrusionOk="0">
                <a:moveTo>
                  <a:pt x="0" y="0"/>
                </a:moveTo>
                <a:lnTo>
                  <a:pt x="8786660" y="0"/>
                </a:lnTo>
                <a:lnTo>
                  <a:pt x="8786660" y="3373021"/>
                </a:lnTo>
                <a:lnTo>
                  <a:pt x="0" y="3373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55381" y="3865651"/>
            <a:ext cx="4672961" cy="2359845"/>
          </a:xfrm>
          <a:custGeom>
            <a:avLst/>
            <a:gdLst/>
            <a:ahLst/>
            <a:cxnLst/>
            <a:rect l="l" t="t" r="r" b="b"/>
            <a:pathLst>
              <a:path w="7009441" h="3539768" extrusionOk="0">
                <a:moveTo>
                  <a:pt x="0" y="0"/>
                </a:moveTo>
                <a:lnTo>
                  <a:pt x="7009441" y="0"/>
                </a:lnTo>
                <a:lnTo>
                  <a:pt x="7009441" y="3539767"/>
                </a:lnTo>
                <a:lnTo>
                  <a:pt x="0" y="3539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922933" y="1069654"/>
            <a:ext cx="4610630" cy="4718692"/>
          </a:xfrm>
          <a:custGeom>
            <a:avLst/>
            <a:gdLst/>
            <a:ahLst/>
            <a:cxnLst/>
            <a:rect l="l" t="t" r="r" b="b"/>
            <a:pathLst>
              <a:path w="6915945" h="7078038" extrusionOk="0">
                <a:moveTo>
                  <a:pt x="0" y="0"/>
                </a:moveTo>
                <a:lnTo>
                  <a:pt x="6915945" y="0"/>
                </a:lnTo>
                <a:lnTo>
                  <a:pt x="6915945" y="7078038"/>
                </a:lnTo>
                <a:lnTo>
                  <a:pt x="0" y="7078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2718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Criar as tabelas a seguir e incluir alguns registros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31334"/>
            <a:ext cx="114681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82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580</Words>
  <Application>Microsoft Office PowerPoint</Application>
  <PresentationFormat>Widescreen</PresentationFormat>
  <Paragraphs>83</Paragraphs>
  <Slides>27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Tema do Office</vt:lpstr>
      <vt:lpstr>Banco de Dados Prof. Perini</vt:lpstr>
      <vt:lpstr>Estrutura de um SGBD</vt:lpstr>
      <vt:lpstr>Projeto de Banco de Dados</vt:lpstr>
      <vt:lpstr>Projeto de Banco de Dados</vt:lpstr>
      <vt:lpstr>Estudo de Caso Escola – Requisitos Funcionais</vt:lpstr>
      <vt:lpstr>Modelo Conceitual – Pequeno exemplo</vt:lpstr>
      <vt:lpstr>Exemplo</vt:lpstr>
      <vt:lpstr>Entidade Associativa</vt:lpstr>
      <vt:lpstr>Possível solução</vt:lpstr>
      <vt:lpstr>Formas Normais</vt:lpstr>
      <vt:lpstr>Apresentação do PowerPoint</vt:lpstr>
      <vt:lpstr>Instruções SQL</vt:lpstr>
      <vt:lpstr>Criação de tabelas – Regras de Nomenclatura</vt:lpstr>
      <vt:lpstr>Tipos de dados</vt:lpstr>
      <vt:lpstr>Apresentação do PowerPoint</vt:lpstr>
      <vt:lpstr>Apresentação do PowerPoint</vt:lpstr>
      <vt:lpstr>Criando uma tabela</vt:lpstr>
      <vt:lpstr>Restrições (constraints)</vt:lpstr>
      <vt:lpstr>A Restrição CHECK</vt:lpstr>
      <vt:lpstr>Exemplo</vt:lpstr>
      <vt:lpstr>A instrução ALTER TABLE</vt:lpstr>
      <vt:lpstr>Exemplos de ALTER TABLE</vt:lpstr>
      <vt:lpstr>Adicionando constraint</vt:lpstr>
      <vt:lpstr>Exclusão de coluna e de tabela</vt:lpstr>
      <vt:lpstr>Exclusão de coluna</vt:lpstr>
      <vt:lpstr>Apresentação do PowerPoint</vt:lpstr>
      <vt:lpstr>Criar as tabelas a seguir e incluir alguns registros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Prof. Perini</dc:title>
  <dc:creator>User</dc:creator>
  <cp:lastModifiedBy>José Carlos Perini</cp:lastModifiedBy>
  <cp:revision>73</cp:revision>
  <cp:lastPrinted>2025-08-19T18:54:46Z</cp:lastPrinted>
  <dcterms:created xsi:type="dcterms:W3CDTF">2024-02-07T18:08:06Z</dcterms:created>
  <dcterms:modified xsi:type="dcterms:W3CDTF">2026-04-01T21:32:12Z</dcterms:modified>
</cp:coreProperties>
</file>