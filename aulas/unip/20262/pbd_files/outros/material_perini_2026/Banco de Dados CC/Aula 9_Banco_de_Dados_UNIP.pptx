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437" r:id="rId3"/>
    <p:sldId id="388" r:id="rId4"/>
    <p:sldId id="416" r:id="rId5"/>
    <p:sldId id="438" r:id="rId6"/>
    <p:sldId id="432" r:id="rId7"/>
    <p:sldId id="419" r:id="rId8"/>
    <p:sldId id="436" r:id="rId9"/>
    <p:sldId id="433" r:id="rId10"/>
    <p:sldId id="418" r:id="rId11"/>
    <p:sldId id="420" r:id="rId12"/>
    <p:sldId id="421" r:id="rId13"/>
    <p:sldId id="422" r:id="rId14"/>
    <p:sldId id="423" r:id="rId15"/>
    <p:sldId id="424" r:id="rId16"/>
    <p:sldId id="425" r:id="rId17"/>
    <p:sldId id="434" r:id="rId18"/>
    <p:sldId id="435" r:id="rId19"/>
    <p:sldId id="431" r:id="rId20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04/05/2026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9 – </a:t>
            </a:r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Join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nome, salário e nome do departamento dos funcionários com salário maior que 2500,00.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 do funcionário, salário, nome do departamento e o salário com aumento de 10%.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 do funcionário, nome do departamento e o salário dos funcionários que ganham entre 1000,00 e 5000,00.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Mostrar o nome do funcionário e o salário, por ordem de nome.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921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37" y="1683038"/>
            <a:ext cx="2905125" cy="15335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786" y="1683038"/>
            <a:ext cx="41529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1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77" y="2040662"/>
            <a:ext cx="5957460" cy="4299732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3" y="1"/>
            <a:ext cx="7636026" cy="204066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FDE2660-5C74-4CA3-A4A9-A95EA0CEF907}"/>
              </a:ext>
            </a:extLst>
          </p:cNvPr>
          <p:cNvSpPr txBox="1"/>
          <p:nvPr/>
        </p:nvSpPr>
        <p:spPr>
          <a:xfrm>
            <a:off x="10448925" y="6063395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SQL File 12</a:t>
            </a:r>
          </a:p>
        </p:txBody>
      </p:sp>
    </p:spTree>
    <p:extLst>
      <p:ext uri="{BB962C8B-B14F-4D97-AF65-F5344CB8AC3E}">
        <p14:creationId xmlns:p14="http://schemas.microsoft.com/office/powerpoint/2010/main" val="60909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19002E-97AE-4637-843F-CBACC2665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519112"/>
            <a:ext cx="1067752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51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Obtendo dados de várias tabelas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54" y="1791854"/>
            <a:ext cx="6802583" cy="45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9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Join</a:t>
            </a:r>
            <a:r>
              <a:rPr lang="pt-BR" b="1" dirty="0"/>
              <a:t> (junção)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69" y="3746789"/>
            <a:ext cx="7439025" cy="158115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25" y="1724458"/>
            <a:ext cx="98107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79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Criando uma tabela a partir de outra</a:t>
            </a:r>
            <a:br>
              <a:rPr lang="pt-BR" b="1" dirty="0"/>
            </a:br>
            <a:r>
              <a:rPr lang="pt-BR" b="1" dirty="0"/>
              <a:t>(fazendo uma cópia)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14" y="1974416"/>
            <a:ext cx="9359463" cy="191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3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B869D-AF04-388A-F281-DDB1781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 de duas tabelas (cláusula JOIN)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97F03D-847A-CE55-0C9D-C23B0E25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446593"/>
            <a:ext cx="9954491" cy="467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0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Usando apelidos nas tabelas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79" y="2510848"/>
            <a:ext cx="63055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1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Usando apelidos de tabela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255" y="2260311"/>
            <a:ext cx="74676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10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Junções Idênticas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58" y="1385454"/>
            <a:ext cx="9968312" cy="44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06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Junções não-idênticas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982" y="1501737"/>
            <a:ext cx="5495635" cy="511430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12" y="1586491"/>
            <a:ext cx="4904457" cy="19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5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Criando junções tridimensionais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48" y="1339706"/>
            <a:ext cx="9951106" cy="537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77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Junção Externa à Esquerda (</a:t>
            </a:r>
            <a:r>
              <a:rPr lang="pt-BR" b="1" dirty="0" err="1"/>
              <a:t>left</a:t>
            </a:r>
            <a:r>
              <a:rPr lang="pt-BR" b="1" dirty="0"/>
              <a:t> </a:t>
            </a:r>
            <a:r>
              <a:rPr lang="pt-BR" b="1" dirty="0" err="1"/>
              <a:t>join</a:t>
            </a:r>
            <a:r>
              <a:rPr lang="pt-BR" b="1" dirty="0"/>
              <a:t>)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74" y="1437698"/>
            <a:ext cx="9474017" cy="50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85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Junção Externa à Direita (</a:t>
            </a:r>
            <a:r>
              <a:rPr lang="pt-BR" b="1" dirty="0" err="1"/>
              <a:t>right</a:t>
            </a:r>
            <a:r>
              <a:rPr lang="pt-BR" b="1" dirty="0"/>
              <a:t> </a:t>
            </a:r>
            <a:r>
              <a:rPr lang="pt-BR" b="1" dirty="0" err="1"/>
              <a:t>join</a:t>
            </a:r>
            <a:r>
              <a:rPr lang="pt-BR" b="1" dirty="0"/>
              <a:t>)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5870"/>
            <a:ext cx="8989291" cy="472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70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Operações Aritméticas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9655" y="1437698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É possível realizar operações aritméticas entre os campos de uma tabela dentro do comando </a:t>
            </a:r>
            <a:r>
              <a:rPr lang="pt-BR" sz="2400" dirty="0" err="1"/>
              <a:t>Select</a:t>
            </a:r>
            <a:r>
              <a:rPr lang="pt-BR" sz="2400" dirty="0"/>
              <a:t>. </a:t>
            </a:r>
          </a:p>
          <a:p>
            <a:r>
              <a:rPr lang="pt-BR" sz="2400" dirty="0"/>
              <a:t>Entenda que trata-se apenas de uma consulta, nenhum dado está sendo alterado. </a:t>
            </a:r>
          </a:p>
        </p:txBody>
      </p:sp>
      <p:pic>
        <p:nvPicPr>
          <p:cNvPr id="4" name="Imagem 3" descr="Figura 1- Consultas com Operações entre Campos - Fonte: Autor, 2023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128" y="2650261"/>
            <a:ext cx="7749309" cy="3889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3696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Operações Aritméticas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9655" y="1437698"/>
            <a:ext cx="10515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Exemplo: Nessa consulta, é feito o cálculo do salário anual, o valor do bônus anual que corresponde a 40% do salário anual e o valor total com a soma do salário anual e o bônus.</a:t>
            </a:r>
          </a:p>
          <a:p>
            <a:endParaRPr lang="pt-BR" sz="2000" dirty="0"/>
          </a:p>
        </p:txBody>
      </p:sp>
      <p:pic>
        <p:nvPicPr>
          <p:cNvPr id="5" name="Imagem 4" descr="Figura 2 - Consultas com Expressões - Fonte: Autor, 2023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397" y="2576369"/>
            <a:ext cx="8689801" cy="39260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4174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5691" y="324643"/>
            <a:ext cx="10515600" cy="1325563"/>
          </a:xfrm>
        </p:spPr>
        <p:txBody>
          <a:bodyPr/>
          <a:lstStyle/>
          <a:p>
            <a:r>
              <a:rPr lang="pt-BR" b="1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218" y="1406525"/>
            <a:ext cx="11517746" cy="4351338"/>
          </a:xfrm>
        </p:spPr>
        <p:txBody>
          <a:bodyPr/>
          <a:lstStyle/>
          <a:p>
            <a:r>
              <a:rPr lang="pt-BR" dirty="0"/>
              <a:t>Entrar no Oracle Live</a:t>
            </a:r>
          </a:p>
          <a:p>
            <a:r>
              <a:rPr lang="pt-BR" dirty="0"/>
              <a:t>Fazer algumas consultas nas tabelas dos </a:t>
            </a:r>
            <a:r>
              <a:rPr lang="pt-BR" dirty="0" err="1"/>
              <a:t>schemas</a:t>
            </a:r>
            <a:r>
              <a:rPr lang="pt-BR" dirty="0"/>
              <a:t> </a:t>
            </a:r>
            <a:r>
              <a:rPr lang="pt-BR" dirty="0" err="1"/>
              <a:t>scott</a:t>
            </a:r>
            <a:r>
              <a:rPr lang="pt-BR" dirty="0"/>
              <a:t> e </a:t>
            </a:r>
            <a:r>
              <a:rPr lang="pt-BR" dirty="0" err="1"/>
              <a:t>hr</a:t>
            </a:r>
            <a:r>
              <a:rPr lang="pt-BR" dirty="0"/>
              <a:t> utilizando </a:t>
            </a:r>
            <a:r>
              <a:rPr lang="pt-BR" dirty="0" err="1"/>
              <a:t>join</a:t>
            </a:r>
            <a:r>
              <a:rPr lang="pt-BR" dirty="0"/>
              <a:t>.</a:t>
            </a:r>
          </a:p>
          <a:p>
            <a:r>
              <a:rPr lang="pt-BR" dirty="0"/>
              <a:t>Fazer todos os exemplos da aula e os exemplos abaixo.</a:t>
            </a:r>
          </a:p>
          <a:p>
            <a:endParaRPr lang="pt-BR" dirty="0"/>
          </a:p>
          <a:p>
            <a:endParaRPr lang="en-US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557" y="3153569"/>
            <a:ext cx="5591175" cy="85725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557" y="4242666"/>
            <a:ext cx="7172325" cy="8382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557" y="5338763"/>
            <a:ext cx="439102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534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3417</TotalTime>
  <Words>253</Words>
  <Application>Microsoft Office PowerPoint</Application>
  <PresentationFormat>Widescreen</PresentationFormat>
  <Paragraphs>34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do Office</vt:lpstr>
      <vt:lpstr>Banco de Dados Prof. José Carlos Perini</vt:lpstr>
      <vt:lpstr>Prática</vt:lpstr>
      <vt:lpstr>Apresentação do PowerPoint</vt:lpstr>
      <vt:lpstr>Apresentação do PowerPoint</vt:lpstr>
      <vt:lpstr>Apresentação do PowerPoint</vt:lpstr>
      <vt:lpstr>Obtendo dados de várias tabelas</vt:lpstr>
      <vt:lpstr>Join (junção)</vt:lpstr>
      <vt:lpstr>Criando uma tabela a partir de outra (fazendo uma cópia)</vt:lpstr>
      <vt:lpstr>Seleção de duas tabelas (cláusula JOIN)</vt:lpstr>
      <vt:lpstr>Usando apelidos nas tabelas</vt:lpstr>
      <vt:lpstr>Usando apelidos de tabela</vt:lpstr>
      <vt:lpstr>Junções Idênticas</vt:lpstr>
      <vt:lpstr>Junções não-idênticas</vt:lpstr>
      <vt:lpstr>Criando junções tridimensionais</vt:lpstr>
      <vt:lpstr>Junção Externa à Esquerda (left join)</vt:lpstr>
      <vt:lpstr>Junção Externa à Direita (right join)</vt:lpstr>
      <vt:lpstr>Operações Aritméticas</vt:lpstr>
      <vt:lpstr>Operações Aritméticas</vt:lpstr>
      <vt:lpstr>Prática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142</cp:revision>
  <cp:lastPrinted>2024-03-20T00:15:49Z</cp:lastPrinted>
  <dcterms:created xsi:type="dcterms:W3CDTF">2024-02-07T18:08:06Z</dcterms:created>
  <dcterms:modified xsi:type="dcterms:W3CDTF">2026-05-05T02:09:25Z</dcterms:modified>
</cp:coreProperties>
</file>