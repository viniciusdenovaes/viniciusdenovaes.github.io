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30" r:id="rId3"/>
    <p:sldId id="2736" r:id="rId4"/>
    <p:sldId id="2737" r:id="rId5"/>
    <p:sldId id="2738" r:id="rId6"/>
    <p:sldId id="2739" r:id="rId7"/>
    <p:sldId id="2740" r:id="rId8"/>
    <p:sldId id="2741" r:id="rId9"/>
    <p:sldId id="2742" r:id="rId10"/>
    <p:sldId id="356" r:id="rId11"/>
    <p:sldId id="2689" r:id="rId12"/>
    <p:sldId id="2743" r:id="rId13"/>
    <p:sldId id="378" r:id="rId14"/>
    <p:sldId id="379" r:id="rId15"/>
    <p:sldId id="2746" r:id="rId16"/>
    <p:sldId id="2744" r:id="rId17"/>
    <p:sldId id="2745" r:id="rId18"/>
    <p:sldId id="2747" r:id="rId19"/>
    <p:sldId id="2749" r:id="rId20"/>
    <p:sldId id="2748" r:id="rId21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61356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4 – Normalização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Normalização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78EE78-F020-4732-A4DF-69A39630B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352"/>
            <a:ext cx="12192000" cy="374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0710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Por que normalizar?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3C1BE20-D066-4DC8-916B-6487AFF5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9078"/>
            <a:ext cx="3905947" cy="585892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14711FA-BB2B-445A-A769-BFFA30116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947" y="1026336"/>
            <a:ext cx="8214336" cy="575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2785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Formas Normais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06746C-5FDC-4F1D-820E-AF8742EF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840"/>
            <a:ext cx="12192000" cy="373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2661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Exemplo: Tabela de aluguel de filmes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5D8AB03-208C-41D4-801B-88AA6AD0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4898"/>
            <a:ext cx="12192000" cy="382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742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Primeira Forma Normal (1FN)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1F93EB-EA5C-4239-A2EE-827BFDCC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196"/>
            <a:ext cx="12192000" cy="361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4718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Segunda Forma Normal (2FN)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A7F5D85-AA8B-4030-BBE8-5F718F7A3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248" y="1026338"/>
            <a:ext cx="8073353" cy="576498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F16EE68-4EDD-4C0A-8D1D-A6456C48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6338"/>
            <a:ext cx="3893247" cy="583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1655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Terceira Forma Normal (3FN)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37DB2E-167F-4A9F-99D1-94C1216ACC1B}"/>
              </a:ext>
            </a:extLst>
          </p:cNvPr>
          <p:cNvSpPr txBox="1"/>
          <p:nvPr/>
        </p:nvSpPr>
        <p:spPr>
          <a:xfrm>
            <a:off x="1" y="1112754"/>
            <a:ext cx="11925620" cy="176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33"/>
              </a:lnSpc>
            </a:pPr>
            <a:r>
              <a:rPr lang="en-US" sz="2133" dirty="0">
                <a:solidFill>
                  <a:srgbClr val="16161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3NF vai além: exige que a tabela esteja em 2NF e que nenhum </a:t>
            </a:r>
            <a:r>
              <a:rPr lang="pt-BR" sz="2133" dirty="0">
                <a:solidFill>
                  <a:srgbClr val="16161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atributo</a:t>
            </a:r>
            <a:r>
              <a:rPr lang="en-US" sz="2133" dirty="0">
                <a:solidFill>
                  <a:srgbClr val="16161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pt-BR" sz="2133" dirty="0">
                <a:solidFill>
                  <a:srgbClr val="16161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não-chave</a:t>
            </a:r>
            <a:r>
              <a:rPr lang="en-US" sz="2133" dirty="0">
                <a:solidFill>
                  <a:srgbClr val="16161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depende de outro atributo não-chave. Eliminamos as dependências transitivas.</a:t>
            </a:r>
          </a:p>
          <a:p>
            <a:pPr>
              <a:lnSpc>
                <a:spcPts val="2133"/>
              </a:lnSpc>
            </a:pPr>
            <a:endParaRPr lang="en-US" sz="2133" dirty="0">
              <a:solidFill>
                <a:srgbClr val="161613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>
              <a:lnSpc>
                <a:spcPts val="2133"/>
              </a:lnSpc>
            </a:pPr>
            <a:r>
              <a:rPr lang="en-US" sz="2133" dirty="0">
                <a:solidFill>
                  <a:srgbClr val="16161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Em nosso exemplo, percebemos que informações sobre os filmes (como descrição, gênero, diretor) podem ser repetidas. Criamos então uma terceira tabela:</a:t>
            </a:r>
            <a:endParaRPr lang="en-US" sz="2133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ED6CBC7-9CFD-434D-9261-06700233F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940" y="2686155"/>
            <a:ext cx="5026585" cy="305909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51AACB-9427-4396-B256-693163E9525C}"/>
              </a:ext>
            </a:extLst>
          </p:cNvPr>
          <p:cNvSpPr txBox="1"/>
          <p:nvPr/>
        </p:nvSpPr>
        <p:spPr>
          <a:xfrm>
            <a:off x="48664" y="5740975"/>
            <a:ext cx="12092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 temos uma estrutura completamente normalizada em 3NF, onde cada informação aparece apenas uma vez e todas as dependências são diretas e claras.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8327167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84432"/>
            <a:ext cx="10650572" cy="855489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Benefícios da Normalização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E906F7-43BA-4006-B946-CC20ABF9E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1800"/>
            <a:ext cx="12192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730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72" y="67934"/>
            <a:ext cx="11905129" cy="83366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Como ficaram as tabelas do Exemplo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68254D-B4EE-4557-AAAE-8EEBA104C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32" y="1314076"/>
            <a:ext cx="7059067" cy="4020185"/>
          </a:xfrm>
          <a:prstGeom prst="rect">
            <a:avLst/>
          </a:prstGeom>
        </p:spPr>
      </p:pic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C77C69C-1D2A-43E3-A56E-6724766E0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26338"/>
            <a:ext cx="3893244" cy="583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0647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46"/>
            <a:ext cx="11688837" cy="83366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Modelagem de Dados - Conceitual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5AE9F57-47EB-415B-A12B-F53017FC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337"/>
            <a:ext cx="3887776" cy="583166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3C5523-974B-4555-8960-D43C56C53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776" y="2065652"/>
            <a:ext cx="8181280" cy="195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601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346"/>
            <a:ext cx="11688837" cy="833660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Modelagem de Dados - Lógico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7AF208B-C6CD-4F19-8815-57034987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85" y="1837825"/>
            <a:ext cx="11389336" cy="173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151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524001" y="1481118"/>
          <a:ext cx="9144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3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pt-BR" noProof="0" dirty="0"/>
                        <a:t>UNIP</a:t>
                      </a:r>
                      <a:r>
                        <a:rPr lang="pt-BR" baseline="0" noProof="0" dirty="0"/>
                        <a:t> LIMEIRA</a:t>
                      </a:r>
                      <a:endParaRPr lang="pt-BR" noProof="0" dirty="0"/>
                    </a:p>
                    <a:p>
                      <a:pPr algn="l"/>
                      <a:r>
                        <a:rPr lang="pt-BR" noProof="0" dirty="0"/>
                        <a:t>Curso: Ciências da Computação                              Código do</a:t>
                      </a:r>
                      <a:r>
                        <a:rPr lang="pt-BR" baseline="0" noProof="0" dirty="0"/>
                        <a:t> Curso: CC14</a:t>
                      </a:r>
                    </a:p>
                    <a:p>
                      <a:pPr algn="l"/>
                      <a:r>
                        <a:rPr lang="pt-BR" baseline="0" noProof="0" dirty="0"/>
                        <a:t>Aluno: James Hetfield               RA: U14123            Status: Regular</a:t>
                      </a:r>
                      <a:endParaRPr lang="pt-BR" b="1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noProof="0"/>
                        <a:t>Disciplina</a:t>
                      </a:r>
                    </a:p>
                    <a:p>
                      <a:pPr algn="ctr"/>
                      <a:r>
                        <a:rPr lang="pt-BR" noProof="0"/>
                        <a:t> (codigo)</a:t>
                      </a:r>
                      <a:endParaRPr lang="pt-BR" b="1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/>
                        <a:t>Professor (código)</a:t>
                      </a:r>
                      <a:endParaRPr lang="pt-BR" b="1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/>
                        <a:t>Nota</a:t>
                      </a:r>
                      <a:endParaRPr lang="pt-BR" b="1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/>
                        <a:t>Faltas</a:t>
                      </a:r>
                      <a:endParaRPr lang="pt-BR" b="1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/>
                        <a:t>Situação</a:t>
                      </a:r>
                      <a:endParaRPr lang="pt-BR" b="1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Banco de dados (BD</a:t>
                      </a:r>
                      <a:r>
                        <a:rPr lang="pt-BR" baseline="0" noProof="0" dirty="0"/>
                        <a:t>14</a:t>
                      </a:r>
                      <a:r>
                        <a:rPr lang="pt-BR" noProof="0" dirty="0"/>
                        <a:t>)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Sergio Nunes – SN14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7.5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7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Aprovado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/>
                        <a:t>Redes (RE14)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Johnny</a:t>
                      </a:r>
                      <a:r>
                        <a:rPr lang="pt-BR" baseline="0" noProof="0" dirty="0"/>
                        <a:t> Silva - </a:t>
                      </a:r>
                      <a:r>
                        <a:rPr lang="pt-BR" noProof="0" dirty="0"/>
                        <a:t>JS14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8.0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4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Aprovado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Algoritmo (ALG14)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Mary Tunes - MJ14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4.5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0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Reprovado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ixaDeTexto 5"/>
          <p:cNvSpPr txBox="1">
            <a:spLocks noChangeArrowheads="1"/>
          </p:cNvSpPr>
          <p:nvPr/>
        </p:nvSpPr>
        <p:spPr bwMode="auto">
          <a:xfrm>
            <a:off x="1774825" y="642918"/>
            <a:ext cx="864235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1) Aplicar as 3 Formas Normais e modelar no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brModelo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4"/>
          <p:cNvSpPr txBox="1">
            <a:spLocks noChangeArrowheads="1"/>
          </p:cNvSpPr>
          <p:nvPr/>
        </p:nvSpPr>
        <p:spPr bwMode="auto">
          <a:xfrm>
            <a:off x="1847850" y="642918"/>
            <a:ext cx="859155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2) Coloque o formulário nas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FNs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e faça o DER no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brModelo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     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l="33968" t="29167" r="29723" b="19792"/>
          <a:stretch>
            <a:fillRect/>
          </a:stretch>
        </p:blipFill>
        <p:spPr bwMode="auto">
          <a:xfrm>
            <a:off x="1991544" y="1484784"/>
            <a:ext cx="5976664" cy="472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375"/>
            <a:ext cx="1051560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Exercício 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CF28AE-6F7E-4F73-88FC-7164C661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889000"/>
            <a:ext cx="4533900" cy="54006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58C4B63-38F1-4DA1-8964-722551025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938212"/>
            <a:ext cx="25717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10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32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9D225C-5CF2-466F-BF9B-136DCF1E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625" y="1179053"/>
            <a:ext cx="6444850" cy="531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34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94932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36494D-308E-4742-B825-13615C9B5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353" y="899188"/>
            <a:ext cx="6282972" cy="580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17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375"/>
            <a:ext cx="1051560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Exercício 2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2CABE4-52D2-4140-8D43-A5C53AA32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1" y="1172089"/>
            <a:ext cx="6334124" cy="476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6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94932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2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E7C95A-B0C3-46C7-96B5-230710699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45" y="975310"/>
            <a:ext cx="9885406" cy="559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24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677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2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14F29A-E52F-4139-8395-E1B071F0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685485"/>
            <a:ext cx="10515600" cy="592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04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252</Words>
  <Application>Microsoft Office PowerPoint</Application>
  <PresentationFormat>Widescreen</PresentationFormat>
  <Paragraphs>49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Inter</vt:lpstr>
      <vt:lpstr>Tema do Office</vt:lpstr>
      <vt:lpstr>Banco de Dados Prof. José Carlos Perini</vt:lpstr>
      <vt:lpstr>Normalização</vt:lpstr>
      <vt:lpstr>Por que normalizar?</vt:lpstr>
      <vt:lpstr>Formas Normais</vt:lpstr>
      <vt:lpstr>Exemplo: Tabela de aluguel de filmes</vt:lpstr>
      <vt:lpstr>Primeira Forma Normal (1FN)</vt:lpstr>
      <vt:lpstr>Segunda Forma Normal (2FN)</vt:lpstr>
      <vt:lpstr>Terceira Forma Normal (3FN)</vt:lpstr>
      <vt:lpstr>Benefícios da Normalização</vt:lpstr>
      <vt:lpstr>Como ficaram as tabelas do Exemplo</vt:lpstr>
      <vt:lpstr>Modelagem de Dados - Conceitual</vt:lpstr>
      <vt:lpstr>Modelagem de Dados - Lógico</vt:lpstr>
      <vt:lpstr>Apresentação do PowerPoint</vt:lpstr>
      <vt:lpstr>Apresentação do PowerPoint</vt:lpstr>
      <vt:lpstr>Exercício 1</vt:lpstr>
      <vt:lpstr>Exercício 1</vt:lpstr>
      <vt:lpstr>Exercício 1</vt:lpstr>
      <vt:lpstr>Exercício 2</vt:lpstr>
      <vt:lpstr>Exercício 2</vt:lpstr>
      <vt:lpstr>Exercício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67</cp:revision>
  <cp:lastPrinted>2024-03-20T00:15:49Z</cp:lastPrinted>
  <dcterms:created xsi:type="dcterms:W3CDTF">2024-02-07T18:08:06Z</dcterms:created>
  <dcterms:modified xsi:type="dcterms:W3CDTF">2026-03-18T19:48:44Z</dcterms:modified>
</cp:coreProperties>
</file>